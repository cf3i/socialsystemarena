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97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1"/>
    <p:restoredTop sz="71055"/>
  </p:normalViewPr>
  <p:slideViewPr>
    <p:cSldViewPr snapToGrid="0" snapToObjects="1">
      <p:cViewPr varScale="1">
        <p:scale>
          <a:sx n="151" d="100"/>
          <a:sy n="151" d="100"/>
        </p:scale>
        <p:origin x="1448" y="17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校正均分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8AC-B242-B9D8-5970DBB412E1}"/>
              </c:ext>
            </c:extLst>
          </c:dPt>
          <c:dPt>
            <c:idx val="1"/>
            <c:invertIfNegative val="0"/>
            <c:bubble3D val="0"/>
            <c:spPr>
              <a:solidFill>
                <a:srgbClr val="1E2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8AC-B242-B9D8-5970DBB412E1}"/>
              </c:ext>
            </c:extLst>
          </c:dPt>
          <c:dPt>
            <c:idx val="2"/>
            <c:invertIfNegative val="0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8AC-B242-B9D8-5970DBB412E1}"/>
              </c:ext>
            </c:extLst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8AC-B242-B9D8-5970DBB412E1}"/>
              </c:ext>
            </c:extLst>
          </c:dPt>
          <c:dPt>
            <c:idx val="4"/>
            <c:invertIfNegative val="0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8AC-B242-B9D8-5970DBB412E1}"/>
              </c:ext>
            </c:extLst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8AC-B242-B9D8-5970DBB412E1}"/>
              </c:ext>
            </c:extLst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8AC-B242-B9D8-5970DBB412E1}"/>
              </c:ext>
            </c:extLst>
          </c:dPt>
          <c:dPt>
            <c:idx val="7"/>
            <c:invertIfNegative val="0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8AC-B242-B9D8-5970DBB412E1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蒙古帝国</c:v>
                </c:pt>
                <c:pt idx="1">
                  <c:v>江户幕府</c:v>
                </c:pt>
                <c:pt idx="2">
                  <c:v>唐三省六部</c:v>
                </c:pt>
                <c:pt idx="3">
                  <c:v>苏联党国</c:v>
                </c:pt>
                <c:pt idx="4">
                  <c:v>秦汉郡县</c:v>
                </c:pt>
                <c:pt idx="5">
                  <c:v>雅典民主</c:v>
                </c:pt>
                <c:pt idx="6">
                  <c:v>美国联邦</c:v>
                </c:pt>
                <c:pt idx="7">
                  <c:v>GA(单Agent)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97.8</c:v>
                </c:pt>
                <c:pt idx="1">
                  <c:v>85.4</c:v>
                </c:pt>
                <c:pt idx="2">
                  <c:v>82</c:v>
                </c:pt>
                <c:pt idx="3">
                  <c:v>78.900000000000006</c:v>
                </c:pt>
                <c:pt idx="4">
                  <c:v>69.400000000000006</c:v>
                </c:pt>
                <c:pt idx="5">
                  <c:v>68.400000000000006</c:v>
                </c:pt>
                <c:pt idx="6">
                  <c:v>64.400000000000006</c:v>
                </c:pt>
                <c:pt idx="7">
                  <c:v>55.2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8AC-B242-B9D8-5970DBB412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45"/>
        </c:scaling>
        <c:delete val="0"/>
        <c:axPos val="l"/>
        <c:majorGridlines>
          <c:spPr>
            <a:ln w="6350" cap="flat">
              <a:solidFill>
                <a:srgbClr val="EAE5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33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大家好，我是费超，</a:t>
            </a:r>
            <a:r>
              <a:rPr lang="en-US" dirty="0"/>
              <a:t>KAUST</a:t>
            </a:r>
            <a:r>
              <a:rPr lang="zh-CN" altLang="en-US" dirty="0"/>
              <a:t>博士一年级学生。我的指导老师是郭宏成教授。</a:t>
            </a:r>
            <a:endParaRPr lang="en-US" altLang="zh-CN" dirty="0"/>
          </a:p>
          <a:p>
            <a:r>
              <a:rPr lang="zh-CN" altLang="en-US" dirty="0"/>
              <a:t>今天很荣幸能在这里和大家分享我们最近基于</a:t>
            </a:r>
            <a:r>
              <a:rPr lang="en-US" altLang="zh-CN" dirty="0" err="1"/>
              <a:t>GenericAgent</a:t>
            </a:r>
            <a:r>
              <a:rPr lang="zh-CN" altLang="en-US" dirty="0"/>
              <a:t>一个项目</a:t>
            </a:r>
            <a:r>
              <a:rPr lang="en-US" altLang="zh-CN" dirty="0"/>
              <a:t>——</a:t>
            </a:r>
            <a:r>
              <a:rPr lang="en-US" dirty="0" err="1"/>
              <a:t>SocialSystemArena</a:t>
            </a:r>
            <a:r>
              <a:rPr lang="en-US" dirty="0"/>
              <a:t>，</a:t>
            </a:r>
            <a:r>
              <a:rPr lang="zh-CN" altLang="en-US" dirty="0"/>
              <a:t>也叫</a:t>
            </a:r>
            <a:r>
              <a:rPr lang="en-US" altLang="zh-CN" dirty="0"/>
              <a:t>"</a:t>
            </a:r>
            <a:r>
              <a:rPr lang="zh-CN" altLang="en-US" dirty="0"/>
              <a:t>王朝大乱斗</a:t>
            </a:r>
            <a:r>
              <a:rPr lang="en-US" altLang="zh-CN" dirty="0"/>
              <a:t>"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这个项目的核心问题是：如果把历史上不同的王朝制度用来管理</a:t>
            </a:r>
            <a:r>
              <a:rPr lang="en-US" dirty="0"/>
              <a:t>AI</a:t>
            </a:r>
            <a:r>
              <a:rPr lang="zh-CN" altLang="en-US" dirty="0"/>
              <a:t>多智能体系统，哪种制度最高效？接下来我会带大家一探究竟。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首先介绍一下</a:t>
            </a:r>
            <a:r>
              <a:rPr lang="en-US" dirty="0" err="1"/>
              <a:t>SocialSystemArena</a:t>
            </a:r>
            <a:r>
              <a:rPr lang="zh-CN" altLang="en-US" dirty="0"/>
              <a:t>是怎么工作的。</a:t>
            </a:r>
            <a:endParaRPr lang="en-US" altLang="zh-CN" dirty="0"/>
          </a:p>
          <a:p>
            <a:r>
              <a:rPr lang="zh-CN" altLang="en-US" dirty="0"/>
              <a:t>整个系统分成三层。最上层是制度层，我们用配置文件来定义历史制度</a:t>
            </a:r>
            <a:r>
              <a:rPr lang="en-US" altLang="zh-CN" dirty="0"/>
              <a:t>——</a:t>
            </a:r>
            <a:r>
              <a:rPr lang="zh-CN" altLang="en-US" dirty="0"/>
              <a:t>包括有哪些角色、每个阶段做什么、规则是什么，最终生成一个</a:t>
            </a:r>
            <a:r>
              <a:rPr lang="en-US" dirty="0"/>
              <a:t>stage prompt。</a:t>
            </a:r>
          </a:p>
          <a:p>
            <a:r>
              <a:rPr lang="zh-CN" altLang="en-US" dirty="0"/>
              <a:t>中间是</a:t>
            </a:r>
            <a:r>
              <a:rPr lang="en-US" dirty="0" err="1"/>
              <a:t>GenericAgent</a:t>
            </a:r>
            <a:r>
              <a:rPr lang="en-US" dirty="0"/>
              <a:t> Adapter，</a:t>
            </a:r>
            <a:r>
              <a:rPr lang="zh-CN" altLang="en-US" dirty="0"/>
              <a:t>它的作用是一个</a:t>
            </a:r>
            <a:r>
              <a:rPr lang="en-US" altLang="zh-CN" dirty="0"/>
              <a:t>"</a:t>
            </a:r>
            <a:r>
              <a:rPr lang="zh-CN" altLang="en-US" dirty="0"/>
              <a:t>翻译桥梁</a:t>
            </a:r>
            <a:r>
              <a:rPr lang="en-US" altLang="zh-CN" dirty="0"/>
              <a:t>"</a:t>
            </a:r>
            <a:r>
              <a:rPr lang="zh-CN" altLang="en-US" dirty="0"/>
              <a:t>，把制度指令格式化之后，调度</a:t>
            </a:r>
            <a:r>
              <a:rPr lang="en-US" dirty="0"/>
              <a:t>Agent</a:t>
            </a:r>
            <a:r>
              <a:rPr lang="zh-CN" altLang="en-US" dirty="0"/>
              <a:t>的执行顺序，再把结果收集回来。</a:t>
            </a:r>
            <a:endParaRPr lang="en-US" altLang="zh-CN" dirty="0"/>
          </a:p>
          <a:p>
            <a:r>
              <a:rPr lang="zh-CN" altLang="en-US" dirty="0"/>
              <a:t>最底层是</a:t>
            </a:r>
            <a:r>
              <a:rPr lang="en-US" dirty="0" err="1"/>
              <a:t>GenericAgent</a:t>
            </a:r>
            <a:r>
              <a:rPr lang="zh-CN" altLang="en-US" dirty="0"/>
              <a:t>本身，它负责真正的执行。</a:t>
            </a:r>
            <a:endParaRPr lang="en-US" altLang="zh-CN" dirty="0"/>
          </a:p>
          <a:p>
            <a:r>
              <a:rPr lang="zh-CN" altLang="en-US" dirty="0"/>
              <a:t>这种前后端分离的设计意味着制度本身不含执行逻辑，我们可以很方便地替换不同的历史制度来做对比实验。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在介绍我们的方案之前，先看一下我们要解决的问题是什么。</a:t>
            </a:r>
            <a:endParaRPr lang="en-US" altLang="zh-CN" dirty="0"/>
          </a:p>
          <a:p>
            <a:r>
              <a:rPr lang="zh-CN" altLang="en-US" dirty="0"/>
              <a:t>当多个</a:t>
            </a:r>
            <a:r>
              <a:rPr lang="en-US" dirty="0"/>
              <a:t>AI Agent</a:t>
            </a:r>
            <a:r>
              <a:rPr lang="zh-CN" altLang="en-US" dirty="0"/>
              <a:t>协同工作的时候，会出现三个核心困境：</a:t>
            </a:r>
            <a:endParaRPr lang="en-US" altLang="zh-CN" dirty="0"/>
          </a:p>
          <a:p>
            <a:r>
              <a:rPr lang="zh-CN" altLang="en-US" dirty="0"/>
              <a:t>第一，没有中心协调，多个</a:t>
            </a:r>
            <a:r>
              <a:rPr lang="en-US" dirty="0"/>
              <a:t>Agent</a:t>
            </a:r>
            <a:r>
              <a:rPr lang="zh-CN" altLang="en-US" dirty="0"/>
              <a:t>并发执行，容易产生冲突和重复工作；</a:t>
            </a:r>
            <a:endParaRPr lang="en-US" altLang="zh-CN" dirty="0"/>
          </a:p>
          <a:p>
            <a:r>
              <a:rPr lang="zh-CN" altLang="en-US" dirty="0"/>
              <a:t>第二，权责不清，谁有权做什么决定没有明确划分，系统行为变得不可预期；</a:t>
            </a:r>
            <a:endParaRPr lang="en-US" altLang="zh-CN" dirty="0"/>
          </a:p>
          <a:p>
            <a:r>
              <a:rPr lang="zh-CN" altLang="en-US" dirty="0"/>
              <a:t>第三，协作失效，信息传递断链，任务在中间环节丢失。这就是无序</a:t>
            </a:r>
            <a:r>
              <a:rPr lang="en-US" dirty="0"/>
              <a:t>MAS</a:t>
            </a:r>
            <a:r>
              <a:rPr lang="zh-CN" altLang="en-US" dirty="0"/>
              <a:t>的痛点。</a:t>
            </a:r>
            <a:endParaRPr lang="en-US" altLang="zh-CN" dirty="0"/>
          </a:p>
          <a:p>
            <a:r>
              <a:rPr lang="zh-CN" altLang="en-US" dirty="0"/>
              <a:t>那我们怎么解决呢？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我们的核心思想是：从人类社会中找答案。</a:t>
            </a:r>
            <a:endParaRPr lang="en-US" altLang="zh-CN" dirty="0"/>
          </a:p>
          <a:p>
            <a:r>
              <a:rPr lang="zh-CN" altLang="en-US" dirty="0"/>
              <a:t>我们认为制度就是</a:t>
            </a:r>
            <a:r>
              <a:rPr lang="en-US" dirty="0"/>
              <a:t>MAS</a:t>
            </a:r>
            <a:r>
              <a:rPr lang="zh-CN" altLang="en-US" dirty="0"/>
              <a:t>的</a:t>
            </a:r>
            <a:r>
              <a:rPr lang="en-US" altLang="zh-CN" dirty="0"/>
              <a:t>"</a:t>
            </a:r>
            <a:r>
              <a:rPr lang="zh-CN" altLang="en-US" dirty="0"/>
              <a:t>操作系统</a:t>
            </a:r>
            <a:r>
              <a:rPr lang="en-US" altLang="zh-CN" dirty="0"/>
              <a:t>"——</a:t>
            </a:r>
            <a:r>
              <a:rPr lang="zh-CN" altLang="en-US" dirty="0"/>
              <a:t>它定义了谁能做什么、消息如何流转、决策如何产生。</a:t>
            </a:r>
            <a:endParaRPr lang="en-US" altLang="zh-CN" dirty="0"/>
          </a:p>
          <a:p>
            <a:r>
              <a:rPr lang="en-US" dirty="0"/>
              <a:t>MAS</a:t>
            </a:r>
            <a:r>
              <a:rPr lang="zh-CN" altLang="en-US" dirty="0"/>
              <a:t>的混乱，本质上是制度的缺陷。</a:t>
            </a:r>
            <a:endParaRPr lang="en-US" altLang="zh-CN" dirty="0"/>
          </a:p>
          <a:p>
            <a:r>
              <a:rPr lang="zh-CN" altLang="en-US" dirty="0"/>
              <a:t>人类花了几千年迭代出各种多主体协作方案</a:t>
            </a:r>
            <a:r>
              <a:rPr lang="en-US" altLang="zh-CN" dirty="0"/>
              <a:t>,</a:t>
            </a:r>
            <a:r>
              <a:rPr lang="zh-CN" altLang="en-US" dirty="0"/>
              <a:t> 这些历史制度可以指导我们设计</a:t>
            </a:r>
            <a:r>
              <a:rPr lang="en-US" altLang="zh-CN" dirty="0"/>
              <a:t>MAS</a:t>
            </a:r>
            <a:r>
              <a:rPr lang="zh-CN" altLang="en-US" dirty="0"/>
              <a:t>架构。</a:t>
            </a:r>
            <a:endParaRPr lang="en-US" altLang="zh-CN" dirty="0"/>
          </a:p>
          <a:p>
            <a:r>
              <a:rPr lang="zh-CN" altLang="en-US" dirty="0"/>
              <a:t>我们的实验也给出了明确结论：有序的指挥链，比如蒙古帝国，拿到了</a:t>
            </a:r>
            <a:r>
              <a:rPr lang="en-US" altLang="zh-CN" dirty="0"/>
              <a:t>97.8</a:t>
            </a:r>
            <a:r>
              <a:rPr lang="zh-CN" altLang="en-US" dirty="0"/>
              <a:t>分；而无序的全员共识，比如雅典民主，只有</a:t>
            </a:r>
            <a:r>
              <a:rPr lang="en-US" altLang="zh-CN" dirty="0"/>
              <a:t>68.4</a:t>
            </a:r>
            <a:r>
              <a:rPr lang="zh-CN" altLang="en-US" dirty="0"/>
              <a:t>分。差距非常显著。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为了把历史制度用代码表达出来，我们设计了一套统一抽象。</a:t>
            </a:r>
            <a:endParaRPr lang="en-US" altLang="zh-CN" dirty="0"/>
          </a:p>
          <a:p>
            <a:r>
              <a:rPr lang="zh-CN" altLang="en-US" dirty="0"/>
              <a:t>我们把所有制度分解成两个维度：</a:t>
            </a:r>
            <a:r>
              <a:rPr lang="en-US" dirty="0"/>
              <a:t>Pattern</a:t>
            </a:r>
            <a:r>
              <a:rPr lang="zh-CN" altLang="en-US" dirty="0"/>
              <a:t>和</a:t>
            </a:r>
            <a:r>
              <a:rPr lang="en-US" dirty="0"/>
              <a:t>Feature。</a:t>
            </a:r>
          </a:p>
          <a:p>
            <a:r>
              <a:rPr lang="en-US" dirty="0"/>
              <a:t>Pattern</a:t>
            </a:r>
            <a:r>
              <a:rPr lang="zh-CN" altLang="en-US" dirty="0"/>
              <a:t>是拓扑结构，一共有四种：</a:t>
            </a:r>
            <a:r>
              <a:rPr lang="en-US" dirty="0"/>
              <a:t>Pipeline</a:t>
            </a:r>
            <a:r>
              <a:rPr lang="zh-CN" altLang="en-US" dirty="0"/>
              <a:t>是最简单的链式直传；</a:t>
            </a:r>
            <a:r>
              <a:rPr lang="en-US" dirty="0"/>
              <a:t>Gated Pipeline</a:t>
            </a:r>
            <a:r>
              <a:rPr lang="zh-CN" altLang="en-US" dirty="0"/>
              <a:t>在关键节点加了审批门控；</a:t>
            </a:r>
            <a:r>
              <a:rPr lang="en-US" dirty="0"/>
              <a:t>Autonomous Cluster</a:t>
            </a:r>
            <a:r>
              <a:rPr lang="zh-CN" altLang="en-US" dirty="0"/>
              <a:t>是子系统内部自治闭环；</a:t>
            </a:r>
            <a:r>
              <a:rPr lang="en-US" dirty="0"/>
              <a:t>Consensus</a:t>
            </a:r>
            <a:r>
              <a:rPr lang="zh-CN" altLang="en-US" dirty="0"/>
              <a:t>是全员投票的共识机制。</a:t>
            </a:r>
            <a:endParaRPr lang="en-US" altLang="zh-CN" dirty="0"/>
          </a:p>
          <a:p>
            <a:r>
              <a:rPr lang="en-US" dirty="0"/>
              <a:t>Feature</a:t>
            </a:r>
            <a:r>
              <a:rPr lang="zh-CN" altLang="en-US" dirty="0"/>
              <a:t>是可叠加的能力插件，比如</a:t>
            </a:r>
            <a:r>
              <a:rPr lang="en-US" dirty="0"/>
              <a:t>monitor</a:t>
            </a:r>
            <a:r>
              <a:rPr lang="zh-CN" altLang="en-US" dirty="0"/>
              <a:t>用来监察主链路行为，</a:t>
            </a:r>
            <a:r>
              <a:rPr lang="en-US" dirty="0" err="1"/>
              <a:t>emergency_handler</a:t>
            </a:r>
            <a:r>
              <a:rPr lang="zh-CN" altLang="en-US" dirty="0"/>
              <a:t>处理连续失败的应急情况</a:t>
            </a:r>
            <a:r>
              <a:rPr lang="zh-CN" altLang="en-SA" dirty="0"/>
              <a:t>等等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一个历史制度可以表达为</a:t>
            </a:r>
            <a:r>
              <a:rPr lang="en-US" altLang="zh-CN" dirty="0"/>
              <a:t>"</a:t>
            </a:r>
            <a:r>
              <a:rPr lang="zh-CN" altLang="en-US" dirty="0"/>
              <a:t>一种</a:t>
            </a:r>
            <a:r>
              <a:rPr lang="en-US" dirty="0"/>
              <a:t>Pattern</a:t>
            </a:r>
            <a:r>
              <a:rPr lang="zh-CN" altLang="en-US" dirty="0"/>
              <a:t>加上若干个</a:t>
            </a:r>
            <a:r>
              <a:rPr lang="en-US" dirty="0"/>
              <a:t>Feature</a:t>
            </a:r>
            <a:r>
              <a:rPr lang="zh-CN" altLang="en-US" dirty="0"/>
              <a:t>的组合配置</a:t>
            </a:r>
            <a:r>
              <a:rPr lang="en-US" altLang="zh-CN" dirty="0"/>
              <a:t>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这是系统的整体分层架构。最顶层是</a:t>
            </a:r>
            <a:r>
              <a:rPr lang="en-US" dirty="0"/>
              <a:t>Spec，</a:t>
            </a:r>
            <a:r>
              <a:rPr lang="zh-CN" altLang="en-US" dirty="0"/>
              <a:t>也就是制度文件，支持</a:t>
            </a:r>
            <a:r>
              <a:rPr lang="en-US" dirty="0"/>
              <a:t>YAML、JSON、CUE</a:t>
            </a:r>
            <a:r>
              <a:rPr lang="zh-CN" altLang="en-US" dirty="0"/>
              <a:t>格式，声明式地定义角色、阶段和转移规则。</a:t>
            </a:r>
            <a:endParaRPr lang="en-US" altLang="zh-CN" dirty="0"/>
          </a:p>
          <a:p>
            <a:r>
              <a:rPr lang="zh-CN" altLang="en-US" dirty="0"/>
              <a:t>往下是</a:t>
            </a:r>
            <a:r>
              <a:rPr lang="en-US" dirty="0"/>
              <a:t>Pattern</a:t>
            </a:r>
            <a:r>
              <a:rPr lang="zh-CN" altLang="en-US" dirty="0"/>
              <a:t>层，选择对应的拓扑结构。然后是</a:t>
            </a:r>
            <a:r>
              <a:rPr lang="en-US" dirty="0"/>
              <a:t>Feature</a:t>
            </a:r>
            <a:r>
              <a:rPr lang="zh-CN" altLang="en-US" dirty="0"/>
              <a:t>层，按需叠加能力插件。</a:t>
            </a:r>
            <a:endParaRPr lang="en-US" altLang="zh-CN" dirty="0"/>
          </a:p>
          <a:p>
            <a:r>
              <a:rPr lang="zh-CN" altLang="en-US" dirty="0"/>
              <a:t>最后通过</a:t>
            </a:r>
            <a:r>
              <a:rPr lang="en-US" dirty="0"/>
              <a:t>Adapter</a:t>
            </a:r>
            <a:r>
              <a:rPr lang="zh-CN" altLang="en-US" dirty="0"/>
              <a:t>对接</a:t>
            </a:r>
            <a:r>
              <a:rPr lang="en-US" dirty="0" err="1"/>
              <a:t>GenericAgent</a:t>
            </a:r>
            <a:r>
              <a:rPr lang="zh-CN" altLang="en-US" dirty="0"/>
              <a:t>完成实际执行。整个设计的制度配置和执行引擎完全解耦。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我们来看几个具体的历史制度是怎么建模的</a:t>
            </a:r>
            <a:endParaRPr lang="en-US" altLang="zh-CN" dirty="0"/>
          </a:p>
          <a:p>
            <a:r>
              <a:rPr lang="zh-CN" altLang="en-US" dirty="0"/>
              <a:t>蒙古帝国是</a:t>
            </a:r>
            <a:r>
              <a:rPr lang="en-US" dirty="0" err="1"/>
              <a:t>pipelin结构的</a:t>
            </a:r>
            <a:r>
              <a:rPr lang="en-US" dirty="0"/>
              <a:t>：</a:t>
            </a:r>
            <a:r>
              <a:rPr lang="zh-CN" altLang="en-US" dirty="0"/>
              <a:t>汗令从顶端一路传到十户，扁平指挥链，没有任何审批瓶颈。</a:t>
            </a:r>
            <a:endParaRPr lang="en-US" altLang="zh-CN" dirty="0"/>
          </a:p>
          <a:p>
            <a:r>
              <a:rPr lang="zh-CN" altLang="en-US" dirty="0"/>
              <a:t>唐朝三省六部制度是</a:t>
            </a:r>
            <a:r>
              <a:rPr lang="en-US" dirty="0" err="1"/>
              <a:t>gated_pipeline</a:t>
            </a:r>
            <a:r>
              <a:rPr lang="en-US" dirty="0"/>
              <a:t>：</a:t>
            </a:r>
            <a:r>
              <a:rPr lang="zh-CN" altLang="en-US" dirty="0"/>
              <a:t>中书省起草，门下省审核封驳，尚书省执行，有质量保障但存在延迟风险。</a:t>
            </a:r>
            <a:endParaRPr lang="en-US" altLang="zh-CN" dirty="0"/>
          </a:p>
          <a:p>
            <a:r>
              <a:rPr lang="zh-CN" altLang="en-US" dirty="0"/>
              <a:t>雅典民主是</a:t>
            </a:r>
            <a:r>
              <a:rPr lang="en-US" dirty="0" err="1"/>
              <a:t>consensu机制</a:t>
            </a:r>
            <a:r>
              <a:rPr lang="en-US" dirty="0"/>
              <a:t>：</a:t>
            </a:r>
            <a:r>
              <a:rPr lang="zh-CN" altLang="en-US" dirty="0"/>
              <a:t>公民大会全员投票，民主但执行预算容易耗尽。</a:t>
            </a:r>
            <a:endParaRPr lang="en-US" altLang="zh-CN" dirty="0"/>
          </a:p>
          <a:p>
            <a:r>
              <a:rPr lang="zh-CN" altLang="en-US" dirty="0"/>
              <a:t>美国联邦也是</a:t>
            </a:r>
            <a:r>
              <a:rPr lang="en-US" dirty="0" err="1"/>
              <a:t>gated_pipeline</a:t>
            </a:r>
            <a:r>
              <a:rPr lang="en-US" dirty="0"/>
              <a:t>：</a:t>
            </a:r>
            <a:r>
              <a:rPr lang="zh-CN" altLang="en-US" dirty="0"/>
              <a:t>议员提案要过委员会审查，多层门控严重消耗执行力。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现在我们来看一个具体的执行</a:t>
            </a:r>
            <a:r>
              <a:rPr lang="en-US" dirty="0"/>
              <a:t>Trace。</a:t>
            </a:r>
          </a:p>
          <a:p>
            <a:r>
              <a:rPr lang="zh-CN" altLang="en-US" dirty="0"/>
              <a:t>这是蒙古帝国跑</a:t>
            </a:r>
            <a:r>
              <a:rPr lang="en-US" dirty="0" err="1"/>
              <a:t>一个任务</a:t>
            </a:r>
            <a:r>
              <a:rPr lang="zh-CN" altLang="en-US" dirty="0"/>
              <a:t>的可视化结果，评分</a:t>
            </a:r>
            <a:r>
              <a:rPr lang="en-US" altLang="zh-CN" dirty="0"/>
              <a:t>98/100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可以看到整个执行链非常清晰：汗令下达，帝国秘书处制定计划，万户负责整体调度，千户拆解任务，百户执行，最终十户给出汇报。</a:t>
            </a:r>
            <a:r>
              <a:rPr lang="en-US" altLang="zh-CN" dirty="0"/>
              <a:t>6</a:t>
            </a:r>
            <a:r>
              <a:rPr lang="zh-CN" altLang="en-US" dirty="0"/>
              <a:t>个</a:t>
            </a:r>
            <a:r>
              <a:rPr lang="en-US" dirty="0"/>
              <a:t>stage</a:t>
            </a:r>
            <a:r>
              <a:rPr lang="zh-CN" altLang="en-US" dirty="0"/>
              <a:t>层层递进，整个过程零拒绝、零超时。</a:t>
            </a:r>
            <a:endParaRPr lang="en-US" altLang="zh-CN" dirty="0"/>
          </a:p>
          <a:p>
            <a:r>
              <a:rPr lang="zh-CN" altLang="en-US" dirty="0"/>
              <a:t>这种可视化让我们可以清楚地看到一个任务是如何在</a:t>
            </a:r>
            <a:r>
              <a:rPr lang="en-SA" dirty="0"/>
              <a:t>这个制度下</a:t>
            </a:r>
            <a:r>
              <a:rPr lang="zh-CN" altLang="en-US" dirty="0"/>
              <a:t>一步一步落地执行的。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我们使用了</a:t>
            </a:r>
            <a:r>
              <a:rPr lang="en-US" dirty="0" err="1"/>
              <a:t>PinchBench测试各种制度</a:t>
            </a:r>
            <a:r>
              <a:rPr lang="en-US" altLang="zh-CN" dirty="0"/>
              <a:t>,</a:t>
            </a:r>
            <a:r>
              <a:rPr lang="zh-CN" altLang="en-US" dirty="0"/>
              <a:t> 这个</a:t>
            </a:r>
            <a:r>
              <a:rPr lang="en-US" altLang="zh-CN" dirty="0"/>
              <a:t>benchmark</a:t>
            </a:r>
            <a:r>
              <a:rPr lang="zh-CN" altLang="en-US" dirty="0"/>
              <a:t>是专门面向 </a:t>
            </a:r>
            <a:r>
              <a:rPr lang="en-US" dirty="0" err="1"/>
              <a:t>OpenClaw</a:t>
            </a:r>
            <a:r>
              <a:rPr lang="en-US" dirty="0"/>
              <a:t> </a:t>
            </a:r>
            <a:r>
              <a:rPr lang="zh-CN" altLang="en-US" dirty="0"/>
              <a:t>场景设计的 </a:t>
            </a:r>
            <a:r>
              <a:rPr lang="en-US" dirty="0"/>
              <a:t>benchmark，</a:t>
            </a:r>
            <a:r>
              <a:rPr lang="zh-CN" altLang="en-US" dirty="0"/>
              <a:t>这是</a:t>
            </a:r>
            <a:r>
              <a:rPr lang="en-US" dirty="0" err="1"/>
              <a:t>kilo.ai</a:t>
            </a:r>
            <a:r>
              <a:rPr lang="zh-CN" altLang="en-US" dirty="0"/>
              <a:t>开发的一个开放</a:t>
            </a:r>
            <a:r>
              <a:rPr lang="en-US" dirty="0"/>
              <a:t>benchmark，</a:t>
            </a:r>
            <a:r>
              <a:rPr lang="zh-CN" altLang="en-US" dirty="0"/>
              <a:t>专门评测</a:t>
            </a:r>
            <a:r>
              <a:rPr lang="en-US" dirty="0"/>
              <a:t>LLM</a:t>
            </a:r>
            <a:r>
              <a:rPr lang="zh-CN" altLang="en-US" dirty="0"/>
              <a:t>作为编程</a:t>
            </a:r>
            <a:r>
              <a:rPr lang="en-US" dirty="0"/>
              <a:t>Agent</a:t>
            </a:r>
            <a:r>
              <a:rPr lang="zh-CN" altLang="en-US" dirty="0"/>
              <a:t>的能力，覆盖真实工作流任务，包括日程、编码、邮件、研究、文件处理等类型。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我们的做法是对它的</a:t>
            </a:r>
            <a:r>
              <a:rPr lang="en-US" altLang="zh-CN" dirty="0"/>
              <a:t>22</a:t>
            </a:r>
            <a:r>
              <a:rPr lang="zh-CN" altLang="en-US" dirty="0"/>
              <a:t>个标准任务，使用</a:t>
            </a:r>
            <a:r>
              <a:rPr lang="en-US" dirty="0" err="1"/>
              <a:t>MiniMax</a:t>
            </a:r>
            <a:r>
              <a:rPr lang="en-US" dirty="0"/>
              <a:t> M2.5模型API</a:t>
            </a:r>
            <a:r>
              <a:rPr lang="zh-CN" altLang="en-US" dirty="0"/>
              <a:t>，然后对</a:t>
            </a:r>
            <a:r>
              <a:rPr lang="en-US" altLang="zh-CN" dirty="0"/>
              <a:t>7</a:t>
            </a:r>
            <a:r>
              <a:rPr lang="zh-CN" altLang="en-US" dirty="0"/>
              <a:t>个历史制度各跑一遍。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SA" dirty="0"/>
              <a:t>在我们的实验中</a:t>
            </a:r>
            <a:r>
              <a:rPr lang="zh-CN" altLang="en-US" dirty="0"/>
              <a:t>唯一的变量就是制度设计本身</a:t>
            </a:r>
            <a:r>
              <a:rPr lang="en-US" altLang="zh-CN" dirty="0"/>
              <a:t>,</a:t>
            </a:r>
            <a:r>
              <a:rPr lang="zh-CN" altLang="en-US" dirty="0"/>
              <a:t> 其他条件都是一样的。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结果出来之后</a:t>
            </a:r>
            <a:r>
              <a:rPr lang="en-US" altLang="zh-CN" dirty="0"/>
              <a:t>,</a:t>
            </a:r>
            <a:r>
              <a:rPr lang="zh-CN" altLang="en-US" dirty="0"/>
              <a:t> 差距比我们预想的要大得多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dirty="0"/>
              <a:t>总体来看，越接近军事化集中指挥的制度，分数越高；越接近民主审议、多层审批的制度，分数越低。</a:t>
            </a:r>
            <a:endParaRPr lang="en-US" altLang="zh-CN" dirty="0"/>
          </a:p>
          <a:p>
            <a:r>
              <a:rPr lang="zh-CN" altLang="en-US" dirty="0"/>
              <a:t>排在最后的美国联邦和雅典民主，恰恰是现实中公认治理最</a:t>
            </a:r>
            <a:r>
              <a:rPr lang="en-US" altLang="zh-CN" dirty="0"/>
              <a:t>"</a:t>
            </a:r>
            <a:r>
              <a:rPr lang="zh-CN" altLang="en-US" dirty="0"/>
              <a:t>民主</a:t>
            </a:r>
            <a:r>
              <a:rPr lang="en-US" altLang="zh-CN" dirty="0"/>
              <a:t>"</a:t>
            </a:r>
            <a:r>
              <a:rPr lang="zh-CN" altLang="en-US" dirty="0"/>
              <a:t>的两种制度，但在</a:t>
            </a:r>
            <a:r>
              <a:rPr lang="en-US" dirty="0"/>
              <a:t>Agent</a:t>
            </a:r>
            <a:r>
              <a:rPr lang="zh-CN" altLang="en-US" dirty="0"/>
              <a:t>执行效率上反而垫底。</a:t>
            </a:r>
            <a:endParaRPr lang="en-US" altLang="zh-CN" dirty="0"/>
          </a:p>
          <a:p>
            <a:r>
              <a:rPr lang="zh-CN" altLang="en-US" dirty="0"/>
              <a:t>而什么制度都不用的单</a:t>
            </a:r>
            <a:r>
              <a:rPr lang="en-US" dirty="0"/>
              <a:t>Agent</a:t>
            </a:r>
            <a:r>
              <a:rPr lang="zh-CN" altLang="en-US" dirty="0"/>
              <a:t>基线只有</a:t>
            </a:r>
            <a:r>
              <a:rPr lang="en-US" altLang="zh-CN" dirty="0"/>
              <a:t>55.2</a:t>
            </a:r>
            <a:r>
              <a:rPr lang="zh-CN" altLang="en-US" dirty="0"/>
              <a:t>分，最优制度比它高出了</a:t>
            </a:r>
            <a:r>
              <a:rPr lang="en-US" altLang="zh-CN" dirty="0"/>
              <a:t>42</a:t>
            </a:r>
            <a:r>
              <a:rPr lang="zh-CN" altLang="en-US" dirty="0"/>
              <a:t>分</a:t>
            </a:r>
            <a:r>
              <a:rPr lang="en-US" altLang="zh-CN" dirty="0"/>
              <a:t>——</a:t>
            </a:r>
            <a:r>
              <a:rPr lang="zh-CN" altLang="en-US" dirty="0"/>
              <a:t>这说明多智能体相比于单个智能体</a:t>
            </a:r>
            <a:r>
              <a:rPr lang="en-US" altLang="zh-CN" dirty="0"/>
              <a:t>,</a:t>
            </a:r>
            <a:r>
              <a:rPr lang="zh-CN" altLang="en-US" dirty="0"/>
              <a:t> 提高的增益是真实的、显著的</a:t>
            </a:r>
            <a:r>
              <a:rPr lang="en-US" altLang="zh-CN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我们来看一个最能说明问题的</a:t>
            </a:r>
            <a:r>
              <a:rPr lang="en-US" dirty="0"/>
              <a:t>Case Study。</a:t>
            </a:r>
            <a:r>
              <a:rPr lang="zh-CN" altLang="en-US" dirty="0"/>
              <a:t>同一个任务、同一个模型，唯一的变量就是制度。</a:t>
            </a:r>
            <a:endParaRPr lang="en-US" altLang="zh-CN" dirty="0"/>
          </a:p>
          <a:p>
            <a:r>
              <a:rPr lang="zh-CN" altLang="en-US" dirty="0"/>
              <a:t>蒙古帝国拿了</a:t>
            </a:r>
            <a:r>
              <a:rPr lang="en-US" altLang="zh-CN" dirty="0"/>
              <a:t>98</a:t>
            </a:r>
            <a:r>
              <a:rPr lang="zh-CN" altLang="en-US" dirty="0"/>
              <a:t>分，美国联邦拿了</a:t>
            </a:r>
            <a:r>
              <a:rPr lang="en-US" altLang="zh-CN" dirty="0"/>
              <a:t>0</a:t>
            </a:r>
            <a:r>
              <a:rPr lang="zh-CN" altLang="en-US" dirty="0"/>
              <a:t>分。原因其实很简单：蒙古帝国的</a:t>
            </a:r>
            <a:r>
              <a:rPr lang="en-US" dirty="0"/>
              <a:t>pipeline</a:t>
            </a:r>
            <a:r>
              <a:rPr lang="zh-CN" altLang="en-US" dirty="0"/>
              <a:t>结构让指令从顶端一路贯穿到底，每一步都顺利往下传，没有任何阻断。</a:t>
            </a:r>
            <a:endParaRPr lang="en-US" altLang="zh-CN" dirty="0"/>
          </a:p>
          <a:p>
            <a:r>
              <a:rPr lang="zh-CN" altLang="en-US" dirty="0"/>
              <a:t>而美国联邦在第二步</a:t>
            </a:r>
            <a:r>
              <a:rPr lang="en-US" dirty="0"/>
              <a:t>committee</a:t>
            </a:r>
            <a:r>
              <a:rPr lang="zh-CN" altLang="en-US" dirty="0"/>
              <a:t>审查时，上游</a:t>
            </a:r>
            <a:r>
              <a:rPr lang="en-US" dirty="0"/>
              <a:t>API</a:t>
            </a:r>
            <a:r>
              <a:rPr lang="zh-CN" altLang="en-US" dirty="0"/>
              <a:t>输出了一个轻微的格式异常，</a:t>
            </a:r>
            <a:r>
              <a:rPr lang="en-US" dirty="0"/>
              <a:t>committee agent</a:t>
            </a:r>
            <a:r>
              <a:rPr lang="zh-CN" altLang="en-US" dirty="0"/>
              <a:t>直接判定</a:t>
            </a:r>
            <a:r>
              <a:rPr lang="en-US" dirty="0"/>
              <a:t>REJECT，</a:t>
            </a:r>
            <a:r>
              <a:rPr lang="zh-CN" altLang="en-US" dirty="0"/>
              <a:t>整条链路就在这里断掉了，后面的步骤根本没有机会执行。</a:t>
            </a:r>
            <a:endParaRPr lang="en-US" altLang="zh-CN" dirty="0"/>
          </a:p>
          <a:p>
            <a:r>
              <a:rPr lang="zh-CN" altLang="en-US" dirty="0"/>
              <a:t>一个轻微的格式问题就导致了全链路失败</a:t>
            </a:r>
            <a:r>
              <a:rPr lang="en-US" altLang="zh-CN" dirty="0"/>
              <a:t>——</a:t>
            </a:r>
            <a:r>
              <a:rPr lang="zh-CN" altLang="en-US" dirty="0"/>
              <a:t>这其实是多层审批机制的一个根本性缺陷：它把系统的鲁棒性压在了每一个</a:t>
            </a:r>
            <a:r>
              <a:rPr lang="en-US" dirty="0"/>
              <a:t>gate</a:t>
            </a:r>
            <a:r>
              <a:rPr lang="zh-CN" altLang="en-US" dirty="0"/>
              <a:t>能不能通过上。</a:t>
            </a:r>
            <a:endParaRPr lang="en-US" altLang="zh-CN" dirty="0"/>
          </a:p>
          <a:p>
            <a:r>
              <a:rPr lang="zh-CN" altLang="en-US" dirty="0"/>
              <a:t>更有意思的是，这个结果和真实历史高度吻合：强中央集权在执行效率上确实有优势，而民主审议体制的高成本在这里也得到了量化的体现。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最后做一个总结。我们通过这个实验想说明的是：人类社会的制度是可以被量化、被实验验证的工程设计</a:t>
            </a:r>
            <a:r>
              <a:rPr lang="en-US" altLang="zh-CN" dirty="0"/>
              <a:t>,</a:t>
            </a:r>
            <a:r>
              <a:rPr lang="zh-CN" altLang="en-US" dirty="0"/>
              <a:t> 我们可以使用社会制度来指导多智能体的拓扑结构</a:t>
            </a:r>
            <a:r>
              <a:rPr lang="en-US" altLang="zh-CN" dirty="0"/>
              <a:t>,</a:t>
            </a:r>
            <a:r>
              <a:rPr lang="zh-CN" altLang="en-US" dirty="0"/>
              <a:t> 也可以使用多智能体来引导制度的优化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zh-CN" altLang="en-US" dirty="0"/>
              <a:t>我们发现顺序执行链在标准任务上明显优于多层审批结构，而历史上那些经过几百年迭代的制度设计，在</a:t>
            </a:r>
            <a:r>
              <a:rPr lang="en-US" dirty="0"/>
              <a:t>AI</a:t>
            </a:r>
            <a:r>
              <a:rPr lang="zh-CN" altLang="en-US" dirty="0"/>
              <a:t>多智能体场景里依然有它的适用性和可迁移性。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当然这只是一个开始，后续我们想测试更多类型的</a:t>
            </a:r>
            <a:r>
              <a:rPr lang="en-US" dirty="0"/>
              <a:t>Benchmark</a:t>
            </a:r>
            <a:r>
              <a:rPr lang="zh-CN" altLang="en-US" dirty="0"/>
              <a:t>来看制度排名是否稳定，也想深入分析在哪类任务上哪种制度会崩溃。代码已经开源，欢迎大家扫码。谢谢大家！</a:t>
            </a:r>
            <a:endParaRPr lang="en-US" altLang="zh-CN" dirty="0"/>
          </a:p>
          <a:p>
            <a:endParaRPr lang="en-US" dirty="0"/>
          </a:p>
          <a:p>
            <a:r>
              <a:rPr lang="en-US" dirty="0" err="1"/>
              <a:t>我正在写关于这个工作的论文</a:t>
            </a:r>
            <a:r>
              <a:rPr lang="en-US" altLang="zh-CN" dirty="0"/>
              <a:t>,</a:t>
            </a:r>
            <a:r>
              <a:rPr lang="zh-CN" altLang="en-US" dirty="0"/>
              <a:t> 等写出来后分享给大家</a:t>
            </a:r>
            <a:r>
              <a:rPr lang="en-US" altLang="zh-CN" dirty="0"/>
              <a:t>.</a:t>
            </a:r>
            <a:r>
              <a:rPr lang="zh-CN" altLang="en-US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4114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9102852" y="0"/>
            <a:ext cx="41148" cy="1645920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Shape 2"/>
          <p:cNvSpPr/>
          <p:nvPr/>
        </p:nvSpPr>
        <p:spPr>
          <a:xfrm>
            <a:off x="0" y="5102352"/>
            <a:ext cx="2011680" cy="4114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0" y="3456432"/>
            <a:ext cx="41148" cy="168706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918972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SocialSystemArena</a:t>
            </a:r>
            <a:endParaRPr lang="en-US" sz="5400" b="1" dirty="0">
              <a:solidFill>
                <a:srgbClr val="F1EDE5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n-US" altLang="zh-CN" sz="5400" b="1" dirty="0">
                <a:solidFill>
                  <a:srgbClr val="F1EDE5"/>
                </a:solidFill>
                <a:latin typeface="Cambria" pitchFamily="34" charset="0"/>
              </a:rPr>
              <a:t>(</a:t>
            </a:r>
            <a:r>
              <a:rPr lang="en-US" sz="5400" b="1" dirty="0" err="1">
                <a:solidFill>
                  <a:srgbClr val="F1EDE5"/>
                </a:solidFill>
                <a:latin typeface="Cambria" pitchFamily="34" charset="0"/>
              </a:rPr>
              <a:t>王朝大乱斗</a:t>
            </a:r>
            <a:r>
              <a:rPr lang="en-US" altLang="zh-CN" sz="5400" b="1" dirty="0">
                <a:solidFill>
                  <a:srgbClr val="F1EDE5"/>
                </a:solidFill>
                <a:latin typeface="Cambria" pitchFamily="34" charset="0"/>
              </a:rPr>
              <a:t>)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5303520" cy="4114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594360" y="248716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200" dirty="0">
                <a:solidFill>
                  <a:srgbClr val="C8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用历史制度指导</a:t>
            </a:r>
            <a:r>
              <a:rPr lang="en-US" altLang="zh-CN" sz="2200" dirty="0">
                <a:solidFill>
                  <a:srgbClr val="C8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</a:t>
            </a:r>
            <a:r>
              <a:rPr lang="zh-CN" altLang="en-US" sz="2200" dirty="0">
                <a:solidFill>
                  <a:srgbClr val="C8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</a:t>
            </a:r>
            <a:r>
              <a:rPr lang="en-US" altLang="zh-CN" sz="2200" dirty="0">
                <a:solidFill>
                  <a:srgbClr val="C8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r>
              <a:rPr lang="zh-CN" altLang="en-US" sz="2200" dirty="0">
                <a:solidFill>
                  <a:srgbClr val="C8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哪种王朝最高效？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41605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GenericAgent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构建    ·    2026.03.16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4572000"/>
            <a:ext cx="4114800" cy="411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594360" y="4663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展示人  </a:t>
            </a:r>
            <a:r>
              <a:rPr lang="en-US" sz="1300" b="1" dirty="0" err="1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费超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指导老师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1300" b="1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郭宏成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SocialSystemArena如何使用</a:t>
            </a: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GenericAgent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3716"/>
          </a:xfrm>
          <a:prstGeom prst="rect">
            <a:avLst/>
          </a:prstGeom>
          <a:solidFill>
            <a:srgbClr val="EAE5D8"/>
          </a:solidFill>
          <a:ln w="12700">
            <a:solidFill>
              <a:srgbClr val="EAE5D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457200" y="96012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0" name="Shape 8"/>
          <p:cNvSpPr/>
          <p:nvPr/>
        </p:nvSpPr>
        <p:spPr>
          <a:xfrm>
            <a:off x="457200" y="960120"/>
            <a:ext cx="59436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640080" y="10698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SocialSystemArena 的使用方式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150876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GenericAgent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Adapter 对接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将制度阶段 prompt 转化为实际 Agent 调用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 → 指令的翻译桥梁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层统一接口，制度本身不含执行逻辑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前后端分离</a:t>
            </a:r>
            <a:endParaRPr lang="en-US" sz="13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前端负责MAS拓扑的执行Stage</a:t>
            </a:r>
            <a:r>
              <a:rPr lang="en-US" altLang="zh-CN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zh-CN" alt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后端</a:t>
            </a:r>
            <a:r>
              <a:rPr lang="en-US" altLang="zh-CN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(GA)</a:t>
            </a:r>
            <a:r>
              <a:rPr lang="zh-CN" alt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负责真正的执行</a:t>
            </a:r>
            <a:endParaRPr lang="en-US" sz="1300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442FB131-F88C-682F-B246-5B56673DEE58}"/>
              </a:ext>
            </a:extLst>
          </p:cNvPr>
          <p:cNvSpPr/>
          <p:nvPr/>
        </p:nvSpPr>
        <p:spPr>
          <a:xfrm>
            <a:off x="4572000" y="960120"/>
            <a:ext cx="4377791" cy="1005840"/>
          </a:xfrm>
          <a:prstGeom prst="rect">
            <a:avLst/>
          </a:prstGeom>
          <a:solidFill>
            <a:srgbClr val="3D2B6B"/>
          </a:solidFill>
          <a:ln w="1524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9624EBF1-2402-D6DC-42E2-D31FA190089F}"/>
              </a:ext>
            </a:extLst>
          </p:cNvPr>
          <p:cNvSpPr/>
          <p:nvPr/>
        </p:nvSpPr>
        <p:spPr>
          <a:xfrm>
            <a:off x="4572000" y="960120"/>
            <a:ext cx="64008" cy="1005840"/>
          </a:xfrm>
          <a:prstGeom prst="rect">
            <a:avLst/>
          </a:prstGeom>
          <a:solidFill>
            <a:srgbClr val="9B6FD4"/>
          </a:solidFill>
          <a:ln w="12700">
            <a:solidFill>
              <a:srgbClr val="9B6FD4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19FCC262-46BA-E4DB-DABC-AE4154D16EDB}"/>
              </a:ext>
            </a:extLst>
          </p:cNvPr>
          <p:cNvSpPr/>
          <p:nvPr/>
        </p:nvSpPr>
        <p:spPr>
          <a:xfrm>
            <a:off x="4736592" y="10058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SocialSystemArena</a:t>
            </a:r>
            <a:endParaRPr lang="en-US" sz="18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2C20FDE3-7760-E988-6330-9774A9BA36B5}"/>
              </a:ext>
            </a:extLst>
          </p:cNvPr>
          <p:cNvSpPr/>
          <p:nvPr/>
        </p:nvSpPr>
        <p:spPr>
          <a:xfrm>
            <a:off x="4736592" y="138074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制度层 — 定义阶段、角色、规则，生成 stage prompt</a:t>
            </a:r>
            <a:endParaRPr lang="en-US" sz="12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DCCD2C7-42D6-E831-1792-A10EB35A3F8E}"/>
              </a:ext>
            </a:extLst>
          </p:cNvPr>
          <p:cNvSpPr/>
          <p:nvPr/>
        </p:nvSpPr>
        <p:spPr>
          <a:xfrm>
            <a:off x="6921442" y="2072815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prompt</a:t>
            </a:r>
            <a:endParaRPr lang="en-US" sz="10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5564DB7-4274-9E4A-43BD-31C420077A44}"/>
              </a:ext>
            </a:extLst>
          </p:cNvPr>
          <p:cNvSpPr/>
          <p:nvPr/>
        </p:nvSpPr>
        <p:spPr>
          <a:xfrm>
            <a:off x="4572000" y="2459736"/>
            <a:ext cx="4377791" cy="1005840"/>
          </a:xfrm>
          <a:prstGeom prst="rect">
            <a:avLst/>
          </a:prstGeom>
          <a:solidFill>
            <a:srgbClr val="3D2E0A"/>
          </a:solidFill>
          <a:ln w="1524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8120BDB5-6966-EB38-5573-5B14C4208B92}"/>
              </a:ext>
            </a:extLst>
          </p:cNvPr>
          <p:cNvSpPr/>
          <p:nvPr/>
        </p:nvSpPr>
        <p:spPr>
          <a:xfrm>
            <a:off x="4572000" y="2459736"/>
            <a:ext cx="64008" cy="10058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31964A44-ACAE-C9A2-B095-2CCB78B363A9}"/>
              </a:ext>
            </a:extLst>
          </p:cNvPr>
          <p:cNvSpPr/>
          <p:nvPr/>
        </p:nvSpPr>
        <p:spPr>
          <a:xfrm>
            <a:off x="4736592" y="250545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C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GenericAgent Adapter</a:t>
            </a:r>
            <a:endParaRPr lang="en-US" sz="18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C5F14EB8-C462-04C7-81E4-95D853C5101D}"/>
              </a:ext>
            </a:extLst>
          </p:cNvPr>
          <p:cNvSpPr/>
          <p:nvPr/>
        </p:nvSpPr>
        <p:spPr>
          <a:xfrm>
            <a:off x="4736592" y="28803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将制度指令格式化 → 调度 Agent 执行顺序 → 收集结果回传</a:t>
            </a:r>
            <a:endParaRPr lang="en-US" sz="12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E33CE0A5-24DC-4393-6ECE-6E1191B962D9}"/>
              </a:ext>
            </a:extLst>
          </p:cNvPr>
          <p:cNvSpPr/>
          <p:nvPr/>
        </p:nvSpPr>
        <p:spPr>
          <a:xfrm>
            <a:off x="6921442" y="35661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put_task(prompt)</a:t>
            </a:r>
            <a:endParaRPr lang="en-US" sz="10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D8BAA2D3-1703-3761-08F7-846E6633D662}"/>
              </a:ext>
            </a:extLst>
          </p:cNvPr>
          <p:cNvSpPr/>
          <p:nvPr/>
        </p:nvSpPr>
        <p:spPr>
          <a:xfrm>
            <a:off x="4572000" y="3931920"/>
            <a:ext cx="4377791" cy="1005840"/>
          </a:xfrm>
          <a:prstGeom prst="rect">
            <a:avLst/>
          </a:prstGeom>
          <a:solidFill>
            <a:srgbClr val="0D2E2A"/>
          </a:solidFill>
          <a:ln w="15240">
            <a:solidFill>
              <a:srgbClr val="1E7A6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E9145535-09F4-F3FE-233C-9C5BDA19E6B2}"/>
              </a:ext>
            </a:extLst>
          </p:cNvPr>
          <p:cNvSpPr/>
          <p:nvPr/>
        </p:nvSpPr>
        <p:spPr>
          <a:xfrm>
            <a:off x="4572000" y="3931920"/>
            <a:ext cx="64008" cy="1005840"/>
          </a:xfrm>
          <a:prstGeom prst="rect">
            <a:avLst/>
          </a:prstGeom>
          <a:solidFill>
            <a:srgbClr val="2DC4A8"/>
          </a:solidFill>
          <a:ln w="12700">
            <a:solidFill>
              <a:srgbClr val="2DC4A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A6155BD2-2BA3-A9C6-6102-FD86B3E23B29}"/>
              </a:ext>
            </a:extLst>
          </p:cNvPr>
          <p:cNvSpPr/>
          <p:nvPr/>
        </p:nvSpPr>
        <p:spPr>
          <a:xfrm>
            <a:off x="4736592" y="39776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GenericAgent</a:t>
            </a:r>
            <a:endParaRPr lang="en-US" sz="1800" dirty="0"/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4844DAFD-DA92-B2EA-87DD-61D04D8F0840}"/>
              </a:ext>
            </a:extLst>
          </p:cNvPr>
          <p:cNvSpPr/>
          <p:nvPr/>
        </p:nvSpPr>
        <p:spPr>
          <a:xfrm>
            <a:off x="4736592" y="435254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执行任务，LLM + 工具循环，模拟社会角色行为</a:t>
            </a:r>
            <a:endParaRPr lang="en-US" sz="12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F4E7048-12BD-C017-6015-7C909D5A0926}"/>
              </a:ext>
            </a:extLst>
          </p:cNvPr>
          <p:cNvCxnSpPr/>
          <p:nvPr/>
        </p:nvCxnSpPr>
        <p:spPr>
          <a:xfrm>
            <a:off x="6839712" y="1965960"/>
            <a:ext cx="0" cy="47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1B14623-6232-5177-8B22-E3CB578F20BD}"/>
              </a:ext>
            </a:extLst>
          </p:cNvPr>
          <p:cNvCxnSpPr/>
          <p:nvPr/>
        </p:nvCxnSpPr>
        <p:spPr>
          <a:xfrm>
            <a:off x="6856489" y="3465576"/>
            <a:ext cx="0" cy="47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无序的 </a:t>
            </a: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</a:t>
            </a:r>
            <a:r>
              <a:rPr lang="zh-CN" alt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拓扑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3716"/>
          </a:xfrm>
          <a:prstGeom prst="rect">
            <a:avLst/>
          </a:prstGeom>
          <a:solidFill>
            <a:srgbClr val="EAE5D8"/>
          </a:solidFill>
          <a:ln w="12700">
            <a:solidFill>
              <a:srgbClr val="EAE5D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457200" y="1105776"/>
            <a:ext cx="82296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640080" y="1169784"/>
            <a:ext cx="7863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当多个</a:t>
            </a:r>
            <a:r>
              <a:rPr lang="en-US" sz="1800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 Agent 协同工作时——</a:t>
            </a:r>
            <a:r>
              <a:rPr lang="en-US" sz="18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谁决策？谁执行？谁审批？出错了谁负责？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40216"/>
            <a:ext cx="249631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457200" y="2340216"/>
            <a:ext cx="2560320" cy="594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594360" y="247737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无中心协调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934576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并发执行，缺乏全局视角，容易产生冲突与重复工作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36392" y="2340216"/>
            <a:ext cx="249631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2" name="Shape 10"/>
          <p:cNvSpPr/>
          <p:nvPr/>
        </p:nvSpPr>
        <p:spPr>
          <a:xfrm>
            <a:off x="3136392" y="2340216"/>
            <a:ext cx="2560320" cy="594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3273552" y="247737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决策无序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73552" y="2934576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谁有权做什么决定？没有明确权责划分，系统行为不可预期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15584" y="2340216"/>
            <a:ext cx="249631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6" name="Shape 14"/>
          <p:cNvSpPr/>
          <p:nvPr/>
        </p:nvSpPr>
        <p:spPr>
          <a:xfrm>
            <a:off x="5815584" y="2340216"/>
            <a:ext cx="2560320" cy="594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5952744" y="247737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协作失效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52744" y="2934576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信息传递断链，执行与验证脱节，任务在中间环节丢失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核心思想：从人类社会中学习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75488" cy="47548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07899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与制度的关系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49961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制度是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 的"操作系统"——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它定义谁能做什么、消息如何流转、决策如何产生。MAS的混乱，本质上是制度的缺陷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221992"/>
            <a:ext cx="786384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320040" y="2340864"/>
            <a:ext cx="475488" cy="47548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320040" y="2340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34086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智能体需不需要有序的制度？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76148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实验给出了明确答案：有序指挥链（蒙古帝国 97.8 分）远优于无序共识（雅典民主 68.4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）。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有序的MAS拓扑可以显著提高质量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3483864"/>
            <a:ext cx="786384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Shape 12"/>
          <p:cNvSpPr/>
          <p:nvPr/>
        </p:nvSpPr>
        <p:spPr>
          <a:xfrm>
            <a:off x="320040" y="3602736"/>
            <a:ext cx="475488" cy="47548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320040" y="3602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6027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从历史制度中借鉴答案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40233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军事指挥链、三省六部、三权分立、议会共识……人类花几千年迭代出的多主体协作方案，正是我们需要的答案。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统一抽象：Pattern + Feature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3716"/>
          </a:xfrm>
          <a:prstGeom prst="rect">
            <a:avLst/>
          </a:prstGeom>
          <a:solidFill>
            <a:srgbClr val="EAE5D8"/>
          </a:solidFill>
          <a:ln w="12700">
            <a:solidFill>
              <a:srgbClr val="EAE5D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 ·  4 种拓扑结构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43584"/>
            <a:ext cx="192024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566928" y="133502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流水线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002536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指令链式直传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无门控，直达末端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87168" y="1243584"/>
            <a:ext cx="19202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2596896" y="133502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 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96896" y="170078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门控流水线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96896" y="2002536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关键节点需审批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通过才能继续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17136" y="1243584"/>
            <a:ext cx="192024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4626864" y="133502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Cluster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26864" y="170078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自主集群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6864" y="2002536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子系统内部闭环、自治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47104" y="1243584"/>
            <a:ext cx="1920240" cy="1371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6656832" y="133502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56832" y="170078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共识机制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56832" y="2002536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集体决策具有约束力</a:t>
            </a:r>
            <a:endParaRPr lang="en-US" altLang="zh-CN" sz="11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无单一权威节点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798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 ·  可叠加能力插件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27248"/>
            <a:ext cx="1536192" cy="621792"/>
          </a:xfrm>
          <a:prstGeom prst="rect">
            <a:avLst/>
          </a:prstGeom>
          <a:solidFill>
            <a:srgbClr val="F0DEB4"/>
          </a:solidFill>
          <a:ln w="19050">
            <a:solidFill>
              <a:srgbClr val="C897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530352" y="31821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" y="345643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监察主链路节点行为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30552" y="3127248"/>
            <a:ext cx="1536192" cy="621792"/>
          </a:xfrm>
          <a:prstGeom prst="rect">
            <a:avLst/>
          </a:prstGeom>
          <a:solidFill>
            <a:srgbClr val="F0DEB4"/>
          </a:solidFill>
          <a:ln w="19050">
            <a:solidFill>
              <a:srgbClr val="C897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2203704" y="31821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shared_state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03704" y="345643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全局状态共享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03904" y="3127248"/>
            <a:ext cx="1536192" cy="621792"/>
          </a:xfrm>
          <a:prstGeom prst="rect">
            <a:avLst/>
          </a:prstGeom>
          <a:solidFill>
            <a:srgbClr val="F0DEB4"/>
          </a:solidFill>
          <a:ln w="19050">
            <a:solidFill>
              <a:srgbClr val="C897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3877056" y="31821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emergency_handler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77056" y="345643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连续失败应急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77256" y="3127248"/>
            <a:ext cx="1536192" cy="621792"/>
          </a:xfrm>
          <a:prstGeom prst="rect">
            <a:avLst/>
          </a:prstGeom>
          <a:solidFill>
            <a:srgbClr val="F0DEB4"/>
          </a:solidFill>
          <a:ln w="19050">
            <a:solidFill>
              <a:srgbClr val="C897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5550408" y="31821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human_confirmation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50408" y="345643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人工审批节点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50608" y="3127248"/>
            <a:ext cx="1536192" cy="621792"/>
          </a:xfrm>
          <a:prstGeom prst="rect">
            <a:avLst/>
          </a:prstGeom>
          <a:solidFill>
            <a:srgbClr val="F0DEB4"/>
          </a:solidFill>
          <a:ln w="19050">
            <a:solidFill>
              <a:srgbClr val="C897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7223760" y="31821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consensus_gate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23760" y="345643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</a:t>
            </a:r>
            <a:r>
              <a:rPr lang="zh-CN" alt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内部采用投票机制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931920"/>
            <a:ext cx="8229600" cy="566928"/>
          </a:xfrm>
          <a:prstGeom prst="rect">
            <a:avLst/>
          </a:prstGeom>
          <a:solidFill>
            <a:srgbClr val="F0DEB4"/>
          </a:solidFill>
          <a:ln w="19050">
            <a:solidFill>
              <a:srgbClr val="C897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457200" y="39867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历史制度</a:t>
            </a:r>
            <a:r>
              <a:rPr lang="en-US" altLang="zh-CN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(MAS)</a:t>
            </a: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一种 Pattern  +  N 个 Feature 的组合配置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3716"/>
          </a:xfrm>
          <a:prstGeom prst="rect">
            <a:avLst/>
          </a:prstGeom>
          <a:solidFill>
            <a:srgbClr val="EAE5D8"/>
          </a:solidFill>
          <a:ln w="12700">
            <a:solidFill>
              <a:srgbClr val="EAE5D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457200" y="1120140"/>
            <a:ext cx="82296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12115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5773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声明式规范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229868"/>
            <a:ext cx="1828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2240280" y="1284732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制度文件   YAML  /  JSON  /  CUE  →  定义角色、阶段、转移规则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62272" y="1869948"/>
            <a:ext cx="219456" cy="91440"/>
          </a:xfrm>
          <a:prstGeom prst="rect">
            <a:avLst/>
          </a:prstGeom>
          <a:solidFill>
            <a:srgbClr val="EAE5D8"/>
          </a:solidFill>
          <a:ln w="12700">
            <a:solidFill>
              <a:srgbClr val="EAE5D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457200" y="1943100"/>
            <a:ext cx="82296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594360" y="20345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24003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拓扑结构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2052828"/>
            <a:ext cx="1828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2240280" y="2107692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 ·  gated_pipeline  ·  autonomous_cluster  ·  consensus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62272" y="2692908"/>
            <a:ext cx="219456" cy="91440"/>
          </a:xfrm>
          <a:prstGeom prst="rect">
            <a:avLst/>
          </a:prstGeom>
          <a:solidFill>
            <a:srgbClr val="EAE5D8"/>
          </a:solidFill>
          <a:ln w="12700">
            <a:solidFill>
              <a:srgbClr val="EAE5D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Shape 15"/>
          <p:cNvSpPr/>
          <p:nvPr/>
        </p:nvSpPr>
        <p:spPr>
          <a:xfrm>
            <a:off x="457200" y="2766060"/>
            <a:ext cx="8229600" cy="7498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594360" y="28575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32232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能力插件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0" y="2875788"/>
            <a:ext cx="1828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2240280" y="2930652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 ·  shared_state  ·  emergency_handler  ·  </a:t>
            </a:r>
            <a:r>
              <a:rPr lang="en-US" sz="1300" dirty="0" err="1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human_confirmation</a:t>
            </a:r>
            <a:r>
              <a:rPr lang="zh-CN" altLang="en-US" sz="13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zh-CN" altLang="en-US" sz="13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300" dirty="0" err="1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gated_pipeline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62272" y="3515868"/>
            <a:ext cx="219456" cy="91440"/>
          </a:xfrm>
          <a:prstGeom prst="rect">
            <a:avLst/>
          </a:prstGeom>
          <a:solidFill>
            <a:srgbClr val="EAE5D8"/>
          </a:solidFill>
          <a:ln w="12700">
            <a:solidFill>
              <a:srgbClr val="EAE5D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Shape 21"/>
          <p:cNvSpPr/>
          <p:nvPr/>
        </p:nvSpPr>
        <p:spPr>
          <a:xfrm>
            <a:off x="457200" y="3589020"/>
            <a:ext cx="8229600" cy="74980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594360" y="36804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" y="40462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执行后端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03120" y="3698748"/>
            <a:ext cx="18288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2240280" y="3753612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✦ </a:t>
            </a:r>
            <a:r>
              <a:rPr lang="en-US" sz="13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GenericAgent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历史制度建模示例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3716"/>
          </a:xfrm>
          <a:prstGeom prst="rect">
            <a:avLst/>
          </a:prstGeom>
          <a:solidFill>
            <a:srgbClr val="EAE5D8"/>
          </a:solidFill>
          <a:ln w="12700">
            <a:solidFill>
              <a:srgbClr val="EAE5D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88620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蒙古帝国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1463040"/>
            <a:ext cx="1417320" cy="246888"/>
          </a:xfrm>
          <a:prstGeom prst="rect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E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7830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汗令 → 帝国秘书处 → 万户 → 千户 → 百户 → 十户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2585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D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扁平指挥链，命令直达末端，无任何审批瓶颈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3886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4937760" y="1051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唐三省六部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7760" y="1463040"/>
            <a:ext cx="1417320" cy="246888"/>
          </a:xfrm>
          <a:prstGeom prst="rect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4937760" y="146304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E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gated_pipeline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17830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皇帝 → 中书省（起草）→ 门下省（审核）→ 尚书省 → 六部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2585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D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门控流水线，门下省可封驳，有质量保障但延迟风险高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3886200" cy="1828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5943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雅典民主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" y="3474720"/>
            <a:ext cx="1417320" cy="246888"/>
          </a:xfrm>
          <a:prstGeom prst="rect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594360" y="347472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E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consensus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3794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公民大会（ekklesia）全员投票 → strategos 执行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42702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D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全员共识机制，民主但执行预算易耗尽，失败率高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971800"/>
            <a:ext cx="3886200" cy="1828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49377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美国联邦制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937760" y="3474720"/>
            <a:ext cx="1417320" cy="246888"/>
          </a:xfrm>
          <a:prstGeom prst="rect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4" name="Text 32"/>
          <p:cNvSpPr/>
          <p:nvPr/>
        </p:nvSpPr>
        <p:spPr>
          <a:xfrm>
            <a:off x="4937760" y="347472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E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gated_pipeline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3794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议员提案 → 委员会审查 → 各执行机构（agency）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37760" y="42702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D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多层门控审批，委员会可 reject 提案，严重耗损执行力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Demo：Trace 可视化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0" y="182880"/>
            <a:ext cx="2606040" cy="38404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6217920" y="182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task_10_workflow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98/100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蒙古帝国  ·  Multi-step API Workflow  ·  6-stage 军事指挥链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4380" y="1115568"/>
            <a:ext cx="1024128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54380" y="1115568"/>
            <a:ext cx="1024128" cy="38405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0100" y="117043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汗令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0100" y="1463040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khagan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4380" y="1837944"/>
            <a:ext cx="1024128" cy="56692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800100" y="1865376"/>
            <a:ext cx="932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检查工作空间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发令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15768" y="1115568"/>
            <a:ext cx="1024128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6" name="Shape 14"/>
          <p:cNvSpPr/>
          <p:nvPr/>
        </p:nvSpPr>
        <p:spPr>
          <a:xfrm>
            <a:off x="2715768" y="1115568"/>
            <a:ext cx="1024128" cy="38405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2761488" y="117043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帝国规划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61488" y="1463040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imperial_sec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15768" y="1837944"/>
            <a:ext cx="1024128" cy="56692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2761488" y="1865376"/>
            <a:ext cx="932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制定3步骤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执行计划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77156" y="1112380"/>
            <a:ext cx="1024128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4" name="Shape 22"/>
          <p:cNvSpPr/>
          <p:nvPr/>
        </p:nvSpPr>
        <p:spPr>
          <a:xfrm>
            <a:off x="4677156" y="1112380"/>
            <a:ext cx="1024128" cy="38405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4722876" y="116724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万户执行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22876" y="1459852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tumen_cmd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77156" y="1834756"/>
            <a:ext cx="1024128" cy="56692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4722876" y="1862188"/>
            <a:ext cx="932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负责整执行调度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38544" y="1108059"/>
            <a:ext cx="1024128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2" name="Shape 30"/>
          <p:cNvSpPr/>
          <p:nvPr/>
        </p:nvSpPr>
        <p:spPr>
          <a:xfrm>
            <a:off x="6638544" y="1108059"/>
            <a:ext cx="1024128" cy="38405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6684264" y="1162923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千户执行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84264" y="1455531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mingghan_cmd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38544" y="1830435"/>
            <a:ext cx="1024128" cy="56692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6684264" y="1857867"/>
            <a:ext cx="932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汇总三个百户子任务完成情况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0136" y="2588695"/>
            <a:ext cx="1024128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40" name="Shape 38"/>
          <p:cNvSpPr/>
          <p:nvPr/>
        </p:nvSpPr>
        <p:spPr>
          <a:xfrm>
            <a:off x="5660136" y="2588695"/>
            <a:ext cx="1024128" cy="38405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5705856" y="2643559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百户执行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705856" y="2936167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jaghun_cmd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0136" y="3311071"/>
            <a:ext cx="1024128" cy="56692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5" name="Text 43"/>
          <p:cNvSpPr/>
          <p:nvPr/>
        </p:nvSpPr>
        <p:spPr>
          <a:xfrm>
            <a:off x="5705856" y="3338503"/>
            <a:ext cx="932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拆解为十户级子任务并落实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94176" y="2586627"/>
            <a:ext cx="1024128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48" name="Shape 46"/>
          <p:cNvSpPr/>
          <p:nvPr/>
        </p:nvSpPr>
        <p:spPr>
          <a:xfrm>
            <a:off x="3694176" y="2586627"/>
            <a:ext cx="1024128" cy="38405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3739896" y="2641491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十户动员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739896" y="2934099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arban_cmd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94176" y="3309003"/>
            <a:ext cx="1024128" cy="56692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2" name="Text 50"/>
          <p:cNvSpPr/>
          <p:nvPr/>
        </p:nvSpPr>
        <p:spPr>
          <a:xfrm>
            <a:off x="3739896" y="3336435"/>
            <a:ext cx="932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末端执行</a:t>
            </a:r>
            <a:r>
              <a:rPr lang="en-US" altLang="zh-CN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zh-CN" alt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给出最终汇报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746140" y="2571749"/>
            <a:ext cx="1024127" cy="688187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56" name="Text 54"/>
          <p:cNvSpPr/>
          <p:nvPr/>
        </p:nvSpPr>
        <p:spPr>
          <a:xfrm>
            <a:off x="1746140" y="2571750"/>
            <a:ext cx="1024127" cy="675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完成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1746140" y="3332358"/>
            <a:ext cx="1024127" cy="554373"/>
          </a:xfrm>
          <a:prstGeom prst="rect">
            <a:avLst/>
          </a:prstGeom>
          <a:solidFill>
            <a:srgbClr val="0F172A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8" name="Text 56"/>
          <p:cNvSpPr/>
          <p:nvPr/>
        </p:nvSpPr>
        <p:spPr>
          <a:xfrm>
            <a:off x="1746140" y="3321557"/>
            <a:ext cx="1024127" cy="554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98/100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371600" y="4073652"/>
            <a:ext cx="6400800" cy="713232"/>
          </a:xfrm>
          <a:prstGeom prst="rect">
            <a:avLst/>
          </a:prstGeom>
          <a:solidFill>
            <a:srgbClr val="1E293B"/>
          </a:solidFill>
          <a:ln w="19050">
            <a:solidFill>
              <a:srgbClr val="C897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0" name="Text 58"/>
          <p:cNvSpPr/>
          <p:nvPr/>
        </p:nvSpPr>
        <p:spPr>
          <a:xfrm>
            <a:off x="1371600" y="412851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个 stage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500" b="1" dirty="0" err="1">
                <a:solidFill>
                  <a:srgbClr val="F1E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层层递进</a:t>
            </a:r>
            <a:r>
              <a:rPr lang="zh-CN" altLang="en-US" sz="1500" b="1" dirty="0">
                <a:solidFill>
                  <a:srgbClr val="F1E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零拒绝 / 零超时  ·  </a:t>
            </a:r>
            <a:r>
              <a:rPr lang="en-US" sz="1500" b="1" dirty="0">
                <a:solidFill>
                  <a:srgbClr val="C8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98/100</a:t>
            </a:r>
            <a:endParaRPr lang="en-US" sz="15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F165A36-4086-36DB-5FEF-8970B7B84A03}"/>
              </a:ext>
            </a:extLst>
          </p:cNvPr>
          <p:cNvCxnSpPr>
            <a:stCxn id="7" idx="3"/>
            <a:endCxn id="15" idx="1"/>
          </p:cNvCxnSpPr>
          <p:nvPr/>
        </p:nvCxnSpPr>
        <p:spPr>
          <a:xfrm>
            <a:off x="1778508" y="1444752"/>
            <a:ext cx="937260" cy="0"/>
          </a:xfrm>
          <a:prstGeom prst="straightConnector1">
            <a:avLst/>
          </a:prstGeom>
          <a:ln w="25400">
            <a:solidFill>
              <a:srgbClr val="C8973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A76E1E1-18B5-40B1-B685-DF8049CD3F13}"/>
              </a:ext>
            </a:extLst>
          </p:cNvPr>
          <p:cNvCxnSpPr/>
          <p:nvPr/>
        </p:nvCxnSpPr>
        <p:spPr>
          <a:xfrm>
            <a:off x="3739896" y="1463040"/>
            <a:ext cx="937260" cy="0"/>
          </a:xfrm>
          <a:prstGeom prst="straightConnector1">
            <a:avLst/>
          </a:prstGeom>
          <a:ln w="25400">
            <a:solidFill>
              <a:srgbClr val="C8973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FAFC475-73FB-2A55-EE99-5A19DD0AF9DD}"/>
              </a:ext>
            </a:extLst>
          </p:cNvPr>
          <p:cNvCxnSpPr>
            <a:cxnSpLocks/>
            <a:stCxn id="23" idx="3"/>
            <a:endCxn id="31" idx="1"/>
          </p:cNvCxnSpPr>
          <p:nvPr/>
        </p:nvCxnSpPr>
        <p:spPr>
          <a:xfrm flipV="1">
            <a:off x="5701284" y="1437243"/>
            <a:ext cx="937260" cy="4321"/>
          </a:xfrm>
          <a:prstGeom prst="straightConnector1">
            <a:avLst/>
          </a:prstGeom>
          <a:ln w="25400">
            <a:solidFill>
              <a:srgbClr val="C8973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277C510-F54D-3B6D-2095-7D35D4F8682E}"/>
              </a:ext>
            </a:extLst>
          </p:cNvPr>
          <p:cNvCxnSpPr>
            <a:cxnSpLocks/>
            <a:stCxn id="39" idx="1"/>
            <a:endCxn id="47" idx="3"/>
          </p:cNvCxnSpPr>
          <p:nvPr/>
        </p:nvCxnSpPr>
        <p:spPr>
          <a:xfrm flipH="1" flipV="1">
            <a:off x="4718304" y="2915811"/>
            <a:ext cx="941832" cy="2068"/>
          </a:xfrm>
          <a:prstGeom prst="straightConnector1">
            <a:avLst/>
          </a:prstGeom>
          <a:ln w="25400">
            <a:solidFill>
              <a:srgbClr val="C8973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B9D6E1C-2353-E191-0FCF-F2D40595CF1F}"/>
              </a:ext>
            </a:extLst>
          </p:cNvPr>
          <p:cNvCxnSpPr>
            <a:cxnSpLocks/>
            <a:stCxn id="47" idx="1"/>
            <a:endCxn id="55" idx="3"/>
          </p:cNvCxnSpPr>
          <p:nvPr/>
        </p:nvCxnSpPr>
        <p:spPr>
          <a:xfrm flipH="1">
            <a:off x="2770267" y="2915811"/>
            <a:ext cx="923909" cy="32"/>
          </a:xfrm>
          <a:prstGeom prst="straightConnector1">
            <a:avLst/>
          </a:prstGeom>
          <a:ln w="25400">
            <a:solidFill>
              <a:srgbClr val="C8973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CFC3B054-61F7-89AC-73B1-87D75F48E2A5}"/>
              </a:ext>
            </a:extLst>
          </p:cNvPr>
          <p:cNvCxnSpPr>
            <a:stCxn id="31" idx="3"/>
            <a:endCxn id="39" idx="3"/>
          </p:cNvCxnSpPr>
          <p:nvPr/>
        </p:nvCxnSpPr>
        <p:spPr>
          <a:xfrm flipH="1">
            <a:off x="6684264" y="1437243"/>
            <a:ext cx="978408" cy="1480636"/>
          </a:xfrm>
          <a:prstGeom prst="bentConnector3">
            <a:avLst>
              <a:gd name="adj1" fmla="val -23364"/>
            </a:avLst>
          </a:prstGeom>
          <a:ln w="25400">
            <a:solidFill>
              <a:srgbClr val="C8973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PinchBench 与评测设置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3716"/>
          </a:xfrm>
          <a:prstGeom prst="rect">
            <a:avLst/>
          </a:prstGeom>
          <a:solidFill>
            <a:srgbClr val="EAE5D8"/>
          </a:solidFill>
          <a:ln w="12700">
            <a:solidFill>
              <a:srgbClr val="EAE5D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5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9436" cy="3749040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658368" y="10607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PinchBench 是什么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536192"/>
            <a:ext cx="373075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kilo.ai 开发的开放 benchmark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评测 LLM 模型作为 OpenClaw 编程 Agent 的能力，覆盖真实工作流任务（日程、编码、邮件、研究、文件处理）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公开排行榜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pinchbench.com  ·  截至 2026 年 3 月，已收录 49 个模型、327 次运行记录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本项目的使用方式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复用其 22 个标准任务，固定模型，对 7 个历史制度各运行一遍——纯粹测量制度设计本身的影响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19202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4846320" y="10332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846320" y="1618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测试任务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110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涵盖文件处理、研究、编程、记忆等多类型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03720" y="960120"/>
            <a:ext cx="19202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6903720" y="10332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03720" y="1618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历史制度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95160" y="19110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蒙古帝国 / 唐 / 雅典 / 美国联邦 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468880"/>
            <a:ext cx="19202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4846320" y="25420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846320" y="3127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总运行次数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4198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每制度 × 每任务 × 1 run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03720" y="2468880"/>
            <a:ext cx="19202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6903720" y="25420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M2.5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903720" y="3127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 · MiniMax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34198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统一通过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GenericAgent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调用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4041648"/>
            <a:ext cx="3931920" cy="530352"/>
          </a:xfrm>
          <a:prstGeom prst="rect">
            <a:avLst/>
          </a:prstGeom>
          <a:solidFill>
            <a:srgbClr val="F0DEB4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4846320" y="40873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控制变量：相同模型 · 相同任务 · 只改制度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评测结果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3716"/>
          </a:xfrm>
          <a:prstGeom prst="rect">
            <a:avLst/>
          </a:prstGeom>
          <a:solidFill>
            <a:srgbClr val="EAE5D8"/>
          </a:solidFill>
          <a:ln w="12700">
            <a:solidFill>
              <a:srgbClr val="EAE5D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064301594"/>
              </p:ext>
            </p:extLst>
          </p:nvPr>
        </p:nvGraphicFramePr>
        <p:xfrm>
          <a:off x="457200" y="914400"/>
          <a:ext cx="8229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53712"/>
            <a:ext cx="82296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457200" y="45902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C8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蒙古帝国 vs 美国联邦：差距 33.4 分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300" b="1" dirty="0">
                <a:solidFill>
                  <a:srgbClr val="C8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最优制度 vs GA(</a:t>
            </a:r>
            <a:r>
              <a:rPr lang="en-US" sz="1300" b="1" dirty="0" err="1">
                <a:solidFill>
                  <a:srgbClr val="C8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单Agent</a:t>
            </a:r>
            <a:r>
              <a:rPr lang="en-US" sz="1300" b="1" dirty="0">
                <a:solidFill>
                  <a:srgbClr val="C8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)：差距 42.6 分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制度治理给MAS带来显著增益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Study：蒙古帝国 vs 美国联邦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同一任务  task_10_workflow（Multi-step API Workflow）·  同一模型  ·  只改制度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4023360" cy="3520440"/>
          </a:xfrm>
          <a:prstGeom prst="rect">
            <a:avLst/>
          </a:prstGeom>
          <a:solidFill>
            <a:srgbClr val="1E293B"/>
          </a:solidFill>
          <a:ln w="25400">
            <a:solidFill>
              <a:srgbClr val="1580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457200" y="11338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 蒙古帝国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1133856"/>
            <a:ext cx="91440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3246120" y="11338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 / 100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56616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E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khagan_order (汗令)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56616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530352" y="193852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E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imperial_plan (帝国规划)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356616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530352" y="221284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E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tumen_level_execute (万户执行)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56616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530352" y="248716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E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 mingghan_level_execute (千户执行)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356616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530352" y="276148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E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⑤ jaghun_level_execute (百户执行)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356616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530352" y="303580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E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⑥ arban_level_execute (十户动员)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3566160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530352" y="331012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completed  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51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指挥链式传导，无任何拦截，每步 decision: next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1060704"/>
            <a:ext cx="4023360" cy="3520440"/>
          </a:xfrm>
          <a:prstGeom prst="rect">
            <a:avLst/>
          </a:prstGeom>
          <a:solidFill>
            <a:srgbClr val="1E293B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4937760" y="11338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 美国联邦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726680" y="1133856"/>
            <a:ext cx="9144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7726680" y="11338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37760" y="1645920"/>
            <a:ext cx="365760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5010912" y="166420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E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legislator_initiative (议员提案)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1920240"/>
            <a:ext cx="3657600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010912" y="19385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E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committee_modify (委员会审查)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2231136"/>
            <a:ext cx="3657600" cy="7863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5010912" y="2286000"/>
            <a:ext cx="3511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committee_modify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decision: REJECT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090672"/>
            <a:ext cx="3657600" cy="1371600"/>
          </a:xfrm>
          <a:prstGeom prst="rect">
            <a:avLst/>
          </a:prstGeom>
          <a:solidFill>
            <a:srgbClr val="0F172A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5029200" y="3145536"/>
            <a:ext cx="3474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失败原因
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 err="1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API输出了错误的格式</a:t>
            </a:r>
            <a:r>
              <a:rPr lang="en-US" altLang="zh-CN" sz="11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zh-CN" altLang="en-US" sz="11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被</a:t>
            </a:r>
            <a:r>
              <a:rPr lang="en-US" altLang="zh-CN" sz="11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</a:t>
            </a:r>
            <a:r>
              <a:rPr lang="zh-CN" altLang="en-US" sz="11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1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r>
              <a:rPr lang="zh-CN" altLang="en-US" sz="11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拦截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42389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官僚审批拦截了执行，上游输出轻微异常即导致全链路失败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4681728"/>
            <a:ext cx="8503920" cy="338328"/>
          </a:xfrm>
          <a:prstGeom prst="rect">
            <a:avLst/>
          </a:prstGeom>
          <a:solidFill>
            <a:srgbClr val="1E293B"/>
          </a:solidFill>
          <a:ln w="1016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8" name="Text 36"/>
          <p:cNvSpPr/>
          <p:nvPr/>
        </p:nvSpPr>
        <p:spPr>
          <a:xfrm>
            <a:off x="320040" y="4709160"/>
            <a:ext cx="8503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蒙古帝国：指令贯穿全链  ·  美国联邦：死于委员会 — 与真实历史惊人相似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E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365760" cy="365760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320040" y="987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987552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制度结构显著影响多智能体协作效率</a:t>
            </a:r>
            <a:r>
              <a:rPr lang="en-US" sz="14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r>
              <a:rPr lang="en-US" sz="1400" dirty="0" err="1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不同制度之间</a:t>
            </a:r>
            <a:r>
              <a:rPr lang="zh-CN" altLang="en-US" sz="14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差距达到</a:t>
            </a:r>
            <a:r>
              <a:rPr lang="zh-CN" altLang="en-US" sz="1400" b="1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33.4 </a:t>
            </a:r>
            <a:r>
              <a:rPr lang="zh-CN" altLang="en-US" sz="14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 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365760" cy="365760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737360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顺序执行链（pipeline）在标准任务上明显优于多层审批（consensus</a:t>
            </a:r>
            <a:r>
              <a:rPr lang="en-US" sz="14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autonomous_cluster）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365760" cy="365760"/>
          </a:xfrm>
          <a:prstGeom prst="rect">
            <a:avLst/>
          </a:prstGeom>
          <a:solidFill>
            <a:srgbClr val="C8973E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3200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487168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1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历史制度的设计智慧在 AI 多智能体场景中具有可迁移性和实验可验证性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3337560"/>
            <a:ext cx="850392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320040" y="34198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" y="3803904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</a:t>
            </a:r>
            <a:r>
              <a:rPr lang="zh-CN" alt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Benchmark，</a:t>
            </a:r>
            <a:r>
              <a:rPr lang="zh-CN" alt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验证制度排名的稳定性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4078224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Soul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文件（Agent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人格设定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），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观察其对评分的影响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4352544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zh-CN" alt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制度失败分析：在哪类任务上哪种制度会崩溃，以及为什么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28800" y="4645152"/>
            <a:ext cx="54864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C897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1828800" y="46634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历史是最好的 ablation study</a:t>
            </a:r>
            <a:endParaRPr lang="en-US" sz="16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C5326222-CF9C-2929-5EAC-539B3E44C11D}"/>
              </a:ext>
            </a:extLst>
          </p:cNvPr>
          <p:cNvSpPr/>
          <p:nvPr/>
        </p:nvSpPr>
        <p:spPr>
          <a:xfrm>
            <a:off x="7561064" y="34198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9346B32-C360-C504-3D0D-4035D33F7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500" y="3739896"/>
            <a:ext cx="1266444" cy="12664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2269</Words>
  <Application>Microsoft Macintosh PowerPoint</Application>
  <PresentationFormat>On-screen Show (16:9)</PresentationFormat>
  <Paragraphs>256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SocialSystemArena</dc:title>
  <dc:subject>PptxGenJS Presentation</dc:subject>
  <dc:creator>PptxGenJS</dc:creator>
  <cp:lastModifiedBy>Chao Fei</cp:lastModifiedBy>
  <cp:revision>64</cp:revision>
  <dcterms:created xsi:type="dcterms:W3CDTF">2026-03-15T17:06:05Z</dcterms:created>
  <dcterms:modified xsi:type="dcterms:W3CDTF">2026-03-16T03:16:05Z</dcterms:modified>
</cp:coreProperties>
</file>