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8" r:id="rId3"/>
    <p:sldId id="259" r:id="rId4"/>
    <p:sldId id="261" r:id="rId5"/>
    <p:sldId id="260" r:id="rId6"/>
    <p:sldId id="262" r:id="rId7"/>
    <p:sldId id="263" r:id="rId8"/>
    <p:sldId id="264" r:id="rId9"/>
    <p:sldId id="265" r:id="rId10"/>
    <p:sldId id="266" r:id="rId11"/>
    <p:sldId id="267"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897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38"/>
    <p:restoredTop sz="71088"/>
  </p:normalViewPr>
  <p:slideViewPr>
    <p:cSldViewPr snapToGrid="0" snapToObjects="1">
      <p:cViewPr varScale="1">
        <p:scale>
          <a:sx n="119" d="100"/>
          <a:sy n="119" d="100"/>
        </p:scale>
        <p:origin x="1944" y="176"/>
      </p:cViewPr>
      <p:guideLst/>
    </p:cSldViewPr>
  </p:slid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clustered"/>
        <c:varyColors val="0"/>
        <c:ser>
          <c:idx val="0"/>
          <c:order val="0"/>
          <c:tx>
            <c:strRef>
              <c:f>Sheet1!$B$1</c:f>
              <c:strCache>
                <c:ptCount val="1"/>
                <c:pt idx="0">
                  <c:v>Adjusted Score</c:v>
                </c:pt>
              </c:strCache>
            </c:strRef>
          </c:tx>
          <c:spPr>
            <a:solidFill>
              <a:srgbClr val="0F172A"/>
            </a:solidFill>
            <a:effectLst/>
          </c:spPr>
          <c:invertIfNegative val="0"/>
          <c:dPt>
            <c:idx val="0"/>
            <c:invertIfNegative val="0"/>
            <c:bubble3D val="0"/>
            <c:extLst>
              <c:ext xmlns:c16="http://schemas.microsoft.com/office/drawing/2014/chart" uri="{C3380CC4-5D6E-409C-BE32-E72D297353CC}">
                <c16:uniqueId val="{00000001-C8AC-B242-B9D8-5970DBB412E1}"/>
              </c:ext>
            </c:extLst>
          </c:dPt>
          <c:dPt>
            <c:idx val="1"/>
            <c:invertIfNegative val="0"/>
            <c:bubble3D val="0"/>
            <c:spPr>
              <a:solidFill>
                <a:srgbClr val="1E293B"/>
              </a:solidFill>
              <a:effectLst/>
            </c:spPr>
            <c:extLst>
              <c:ext xmlns:c16="http://schemas.microsoft.com/office/drawing/2014/chart" uri="{C3380CC4-5D6E-409C-BE32-E72D297353CC}">
                <c16:uniqueId val="{00000003-C8AC-B242-B9D8-5970DBB412E1}"/>
              </c:ext>
            </c:extLst>
          </c:dPt>
          <c:dPt>
            <c:idx val="2"/>
            <c:invertIfNegative val="0"/>
            <c:bubble3D val="0"/>
            <c:spPr>
              <a:solidFill>
                <a:srgbClr val="334155"/>
              </a:solidFill>
              <a:effectLst/>
            </c:spPr>
            <c:extLst>
              <c:ext xmlns:c16="http://schemas.microsoft.com/office/drawing/2014/chart" uri="{C3380CC4-5D6E-409C-BE32-E72D297353CC}">
                <c16:uniqueId val="{00000005-C8AC-B242-B9D8-5970DBB412E1}"/>
              </c:ext>
            </c:extLst>
          </c:dPt>
          <c:dPt>
            <c:idx val="3"/>
            <c:invertIfNegative val="0"/>
            <c:bubble3D val="0"/>
            <c:spPr>
              <a:solidFill>
                <a:srgbClr val="64748B"/>
              </a:solidFill>
              <a:effectLst/>
            </c:spPr>
            <c:extLst>
              <c:ext xmlns:c16="http://schemas.microsoft.com/office/drawing/2014/chart" uri="{C3380CC4-5D6E-409C-BE32-E72D297353CC}">
                <c16:uniqueId val="{00000007-C8AC-B242-B9D8-5970DBB412E1}"/>
              </c:ext>
            </c:extLst>
          </c:dPt>
          <c:dPt>
            <c:idx val="4"/>
            <c:invertIfNegative val="0"/>
            <c:bubble3D val="0"/>
            <c:spPr>
              <a:solidFill>
                <a:srgbClr val="334155"/>
              </a:solidFill>
              <a:effectLst/>
            </c:spPr>
            <c:extLst>
              <c:ext xmlns:c16="http://schemas.microsoft.com/office/drawing/2014/chart" uri="{C3380CC4-5D6E-409C-BE32-E72D297353CC}">
                <c16:uniqueId val="{00000009-C8AC-B242-B9D8-5970DBB412E1}"/>
              </c:ext>
            </c:extLst>
          </c:dPt>
          <c:dPt>
            <c:idx val="5"/>
            <c:invertIfNegative val="0"/>
            <c:bubble3D val="0"/>
            <c:spPr>
              <a:solidFill>
                <a:srgbClr val="64748B"/>
              </a:solidFill>
              <a:effectLst/>
            </c:spPr>
            <c:extLst>
              <c:ext xmlns:c16="http://schemas.microsoft.com/office/drawing/2014/chart" uri="{C3380CC4-5D6E-409C-BE32-E72D297353CC}">
                <c16:uniqueId val="{0000000B-C8AC-B242-B9D8-5970DBB412E1}"/>
              </c:ext>
            </c:extLst>
          </c:dPt>
          <c:dPt>
            <c:idx val="6"/>
            <c:invertIfNegative val="0"/>
            <c:bubble3D val="0"/>
            <c:spPr>
              <a:solidFill>
                <a:srgbClr val="DC2626"/>
              </a:solidFill>
              <a:effectLst/>
            </c:spPr>
            <c:extLst>
              <c:ext xmlns:c16="http://schemas.microsoft.com/office/drawing/2014/chart" uri="{C3380CC4-5D6E-409C-BE32-E72D297353CC}">
                <c16:uniqueId val="{0000000D-C8AC-B242-B9D8-5970DBB412E1}"/>
              </c:ext>
            </c:extLst>
          </c:dPt>
          <c:dPt>
            <c:idx val="7"/>
            <c:invertIfNegative val="0"/>
            <c:bubble3D val="0"/>
            <c:spPr>
              <a:solidFill>
                <a:srgbClr val="9CA3AF"/>
              </a:solidFill>
              <a:effectLst/>
            </c:spPr>
            <c:extLst>
              <c:ext xmlns:c16="http://schemas.microsoft.com/office/drawing/2014/chart" uri="{C3380CC4-5D6E-409C-BE32-E72D297353CC}">
                <c16:uniqueId val="{0000000F-C8AC-B242-B9D8-5970DBB412E1}"/>
              </c:ext>
            </c:extLst>
          </c:dPt>
          <c:dLbls>
            <c:numFmt formatCode="#,##0.0" sourceLinked="0"/>
            <c:spPr>
              <a:noFill/>
              <a:ln>
                <a:noFill/>
              </a:ln>
              <a:effectLst/>
            </c:spPr>
            <c:txPr>
              <a:bodyPr/>
              <a:lstStyle/>
              <a:p>
                <a:pPr>
                  <a:defRPr sz="1100" b="0" i="0" u="none" strike="noStrike">
                    <a:solidFill>
                      <a:srgbClr val="0F172A"/>
                    </a:solidFill>
                    <a:latin typeface="Arial"/>
                  </a:defRPr>
                </a:pPr>
                <a:endParaRPr lang="en-SA"/>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Mongol Empire</c:v>
                </c:pt>
                <c:pt idx="1">
                  <c:v>Edo Shogunate</c:v>
                </c:pt>
                <c:pt idx="2">
                  <c:v>Tang Three-Chancellery</c:v>
                </c:pt>
                <c:pt idx="3">
                  <c:v>Soviet Party-State</c:v>
                </c:pt>
                <c:pt idx="4">
                  <c:v>Qin-Han Commandery</c:v>
                </c:pt>
                <c:pt idx="5">
                  <c:v>Athenian Democracy</c:v>
                </c:pt>
                <c:pt idx="6">
                  <c:v>US Federal System</c:v>
                </c:pt>
                <c:pt idx="7">
                  <c:v>GA (Single Agent)</c:v>
                </c:pt>
              </c:strCache>
            </c:strRef>
          </c:cat>
          <c:val>
            <c:numRef>
              <c:f>Sheet1!$B$2:$B$9</c:f>
              <c:numCache>
                <c:formatCode>General</c:formatCode>
                <c:ptCount val="8"/>
                <c:pt idx="0">
                  <c:v>97.8</c:v>
                </c:pt>
                <c:pt idx="1">
                  <c:v>85.4</c:v>
                </c:pt>
                <c:pt idx="2">
                  <c:v>82</c:v>
                </c:pt>
                <c:pt idx="3">
                  <c:v>78.900000000000006</c:v>
                </c:pt>
                <c:pt idx="4">
                  <c:v>69.400000000000006</c:v>
                </c:pt>
                <c:pt idx="5">
                  <c:v>68.400000000000006</c:v>
                </c:pt>
                <c:pt idx="6">
                  <c:v>64.400000000000006</c:v>
                </c:pt>
                <c:pt idx="7">
                  <c:v>55.2</c:v>
                </c:pt>
              </c:numCache>
            </c:numRef>
          </c:val>
          <c:extLst>
            <c:ext xmlns:c16="http://schemas.microsoft.com/office/drawing/2014/chart" uri="{C3380CC4-5D6E-409C-BE32-E72D297353CC}">
              <c16:uniqueId val="{00000010-C8AC-B242-B9D8-5970DBB412E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1E293B"/>
                </a:solidFill>
                <a:latin typeface="Arial"/>
              </a:defRPr>
            </a:pPr>
            <a:endParaRPr lang="en-US"/>
          </a:p>
        </c:txPr>
        <c:crossAx val="2094734552"/>
        <c:crosses val="autoZero"/>
        <c:auto val="1"/>
        <c:lblAlgn val="ctr"/>
        <c:lblOffset val="100"/>
        <c:noMultiLvlLbl val="1"/>
      </c:catAx>
      <c:valAx>
        <c:axId val="2094734552"/>
        <c:scaling>
          <c:orientation val="minMax"/>
          <c:max val="100"/>
          <c:min val="45"/>
        </c:scaling>
        <c:delete val="0"/>
        <c:axPos val="l"/>
        <c:majorGridlines>
          <c:spPr>
            <a:ln w="6350" cap="flat">
              <a:solidFill>
                <a:srgbClr val="EAE5D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8335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Hello everyone, I'm Feichao,</a:t>
            </a:r>
            <a:r>
              <a:rPr lang="en-US" dirty="0"/>
              <a:t>KAUST</a:t>
            </a:r>
            <a:r>
              <a:rPr lang="zh-CN" altLang="en-US" dirty="0"/>
              <a:t>a first-year PhD student at KAUST. My advisor is Professor Guo Hongcheng.</a:t>
            </a:r>
            <a:endParaRPr lang="en-US" altLang="zh-CN" dirty="0"/>
          </a:p>
          <a:p>
            <a:r>
              <a:rPr lang="zh-CN" altLang="en-US" dirty="0"/>
              <a:t>Today I'm honored to share with you our recent project based on</a:t>
            </a:r>
            <a:r>
              <a:rPr lang="en-US" altLang="zh-CN" dirty="0" err="1"/>
              <a:t>GenericAgent</a:t>
            </a:r>
            <a:r>
              <a:rPr lang="zh-CN" altLang="en-US" dirty="0"/>
              <a:t>a project</a:t>
            </a:r>
            <a:r>
              <a:rPr lang="en-US" altLang="zh-CN" dirty="0"/>
              <a:t>——</a:t>
            </a:r>
            <a:r>
              <a:rPr lang="en-US" dirty="0" err="1"/>
              <a:t>SocialSystemArena</a:t>
            </a:r>
            <a:r>
              <a:rPr lang="en-US" dirty="0"/>
              <a:t>，</a:t>
            </a:r>
            <a:r>
              <a:rPr lang="zh-CN" altLang="en-US" dirty="0"/>
              <a:t>also called</a:t>
            </a:r>
            <a:r>
              <a:rPr lang="en-US" altLang="zh-CN" dirty="0"/>
              <a:t>"</a:t>
            </a:r>
            <a:r>
              <a:rPr lang="zh-CN" altLang="en-US" dirty="0"/>
              <a:t>Dynasty Showdown</a:t>
            </a:r>
            <a:r>
              <a:rPr lang="en-US" altLang="zh-CN" dirty="0"/>
              <a:t>"</a:t>
            </a:r>
            <a:r>
              <a:rPr lang="zh-CN" altLang="en-US" dirty="0"/>
              <a:t>。</a:t>
            </a:r>
            <a:endParaRPr lang="en-US" altLang="zh-CN" dirty="0"/>
          </a:p>
          <a:p>
            <a:r>
              <a:rPr lang="zh-CN" altLang="en-US" dirty="0"/>
              <a:t>The core question of this project is: which historical governance system would be most efficient for managing</a:t>
            </a:r>
            <a:r>
              <a:rPr lang="en-US" dirty="0"/>
              <a:t>AI</a:t>
            </a:r>
            <a:r>
              <a:rPr lang="zh-CN" altLang="en-US" dirty="0"/>
              <a:t>multi-agent AI systems? Let's find out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Before introducing our solution, let's first see what problem we're trying to solve.</a:t>
            </a:r>
            <a:endParaRPr lang="en-US" altLang="zh-CN" dirty="0"/>
          </a:p>
          <a:p>
            <a:r>
              <a:rPr lang="zh-CN" altLang="en-US" dirty="0"/>
              <a:t>When multiple</a:t>
            </a:r>
            <a:r>
              <a:rPr lang="en-US" dirty="0"/>
              <a:t>AI Agent</a:t>
            </a:r>
            <a:r>
              <a:rPr lang="zh-CN" altLang="en-US" dirty="0"/>
              <a:t>collaborate together, three core dilemmas emerge:</a:t>
            </a:r>
            <a:endParaRPr lang="en-US" altLang="zh-CN" dirty="0"/>
          </a:p>
          <a:p>
            <a:r>
              <a:rPr lang="zh-CN" altLang="en-US" dirty="0"/>
              <a:t>First, without central coordination, multiple</a:t>
            </a:r>
            <a:r>
              <a:rPr lang="en-US" dirty="0"/>
              <a:t>Agent</a:t>
            </a:r>
            <a:r>
              <a:rPr lang="zh-CN" altLang="en-US" dirty="0"/>
              <a:t>agents execute concurrently, easily causing conflicts and duplicate work;</a:t>
            </a:r>
            <a:endParaRPr lang="en-US" altLang="zh-CN" dirty="0"/>
          </a:p>
          <a:p>
            <a:r>
              <a:rPr lang="zh-CN" altLang="en-US" dirty="0"/>
              <a:t>Second, unclear authority and responsibility - who has the right to make which decisions is not clearly defined, making system behavior unpredictable;</a:t>
            </a:r>
            <a:endParaRPr lang="en-US" altLang="zh-CN" dirty="0"/>
          </a:p>
          <a:p>
            <a:r>
              <a:rPr lang="zh-CN" altLang="en-US" dirty="0"/>
              <a:t>Third, collaboration fails - information transmission breaks down and tasks get lost in intermediate steps. This is the pain point of unordered</a:t>
            </a:r>
            <a:r>
              <a:rPr lang="en-US" dirty="0"/>
              <a:t>MAS</a:t>
            </a:r>
            <a:r>
              <a:rPr lang="zh-CN" altLang="en-US" dirty="0"/>
              <a:t>multi-agent systems.</a:t>
            </a:r>
            <a:endParaRPr lang="en-US" altLang="zh-CN" dirty="0"/>
          </a:p>
          <a:p>
            <a:r>
              <a:rPr lang="zh-CN" altLang="en-US" dirty="0"/>
              <a:t>So how do we solve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Our core idea is: find answers from human society.</a:t>
            </a:r>
            <a:endParaRPr lang="en-US" altLang="zh-CN" dirty="0"/>
          </a:p>
          <a:p>
            <a:r>
              <a:rPr lang="zh-CN" altLang="en-US" dirty="0"/>
              <a:t>We believe governance is the</a:t>
            </a:r>
            <a:r>
              <a:rPr lang="en-US" dirty="0"/>
              <a:t>MAS</a:t>
            </a:r>
            <a:r>
              <a:rPr lang="zh-CN" altLang="en-US" dirty="0"/>
              <a:t>of</a:t>
            </a:r>
            <a:r>
              <a:rPr lang="en-US" altLang="zh-CN" dirty="0"/>
              <a:t>"</a:t>
            </a:r>
            <a:r>
              <a:rPr lang="zh-CN" altLang="en-US" dirty="0"/>
              <a:t>operating system</a:t>
            </a:r>
            <a:r>
              <a:rPr lang="en-US" altLang="zh-CN" dirty="0"/>
              <a:t>"——</a:t>
            </a:r>
            <a:r>
              <a:rPr lang="zh-CN" altLang="en-US" dirty="0"/>
              <a:t>- it defines who can do what, how messages flow, and how decisions are made.</a:t>
            </a:r>
            <a:endParaRPr lang="en-US" altLang="zh-CN" dirty="0"/>
          </a:p>
          <a:p>
            <a:r>
              <a:rPr lang="en-US" dirty="0"/>
              <a:t>MAS</a:t>
            </a:r>
            <a:r>
              <a:rPr lang="zh-CN" altLang="en-US" dirty="0"/>
              <a:t>chaos is fundamentally a governance defect.</a:t>
            </a:r>
            <a:endParaRPr lang="en-US" altLang="zh-CN" dirty="0"/>
          </a:p>
          <a:p>
            <a:r>
              <a:rPr lang="zh-CN" altLang="en-US" dirty="0"/>
              <a:t>Humanity spent thousands of years iterating various multi-agent collaboration solutions</a:t>
            </a:r>
            <a:r>
              <a:rPr lang="en-US" altLang="zh-CN" dirty="0"/>
              <a:t>,</a:t>
            </a:r>
            <a:r>
              <a:rPr lang="zh-CN" altLang="en-US" dirty="0"/>
              <a:t> these historical governance systems can guide us in designing</a:t>
            </a:r>
            <a:r>
              <a:rPr lang="en-US" altLang="zh-CN" dirty="0"/>
              <a:t>MAS</a:t>
            </a:r>
            <a:r>
              <a:rPr lang="zh-CN" altLang="en-US" dirty="0"/>
              <a:t>architectures.</a:t>
            </a:r>
            <a:endParaRPr lang="en-US" altLang="zh-CN" dirty="0"/>
          </a:p>
          <a:p>
            <a:r>
              <a:rPr lang="zh-CN" altLang="en-US" dirty="0"/>
              <a:t>Our experiments also provided clear results: an ordered command chain, like the Mongol Empire, achieved</a:t>
            </a:r>
            <a:r>
              <a:rPr lang="en-US" altLang="zh-CN" dirty="0"/>
              <a:t>97.8</a:t>
            </a:r>
            <a:r>
              <a:rPr lang="zh-CN" altLang="en-US" dirty="0"/>
              <a:t>; while unordered consensus of all members, like Athenian Democracy, only achieved</a:t>
            </a:r>
            <a:r>
              <a:rPr lang="en-US" altLang="zh-CN" dirty="0"/>
              <a:t>68.4</a:t>
            </a:r>
            <a:r>
              <a:rPr lang="zh-CN" altLang="en-US" dirty="0"/>
              <a:t>. The difference is very significant.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To express historical governance systems in code, we designed a unified abstraction.</a:t>
            </a:r>
            <a:endParaRPr lang="en-US" altLang="zh-CN" dirty="0"/>
          </a:p>
          <a:p>
            <a:r>
              <a:rPr lang="zh-CN" altLang="en-US" dirty="0"/>
              <a:t>We decomposed all governance systems into two dimensions:</a:t>
            </a:r>
            <a:r>
              <a:rPr lang="en-US" dirty="0"/>
              <a:t>Pattern</a:t>
            </a:r>
            <a:r>
              <a:rPr lang="zh-CN" altLang="en-US" dirty="0"/>
              <a:t>and</a:t>
            </a:r>
            <a:r>
              <a:rPr lang="en-US" dirty="0"/>
              <a:t>Feature。</a:t>
            </a:r>
          </a:p>
          <a:p>
            <a:r>
              <a:rPr lang="en-US" dirty="0"/>
              <a:t>Pattern</a:t>
            </a:r>
            <a:r>
              <a:rPr lang="zh-CN" altLang="en-US" dirty="0"/>
              <a:t>is the topology structure, with four types total:</a:t>
            </a:r>
            <a:r>
              <a:rPr lang="en-US" dirty="0"/>
              <a:t>Pipeline</a:t>
            </a:r>
            <a:r>
              <a:rPr lang="zh-CN" altLang="en-US" dirty="0"/>
              <a:t>is the simplest linear pass-through;</a:t>
            </a:r>
            <a:r>
              <a:rPr lang="en-US" dirty="0"/>
              <a:t>Gated Pipeline</a:t>
            </a:r>
            <a:r>
              <a:rPr lang="zh-CN" altLang="en-US" dirty="0"/>
              <a:t>adds approval gates at critical nodes;</a:t>
            </a:r>
            <a:r>
              <a:rPr lang="en-US" dirty="0"/>
              <a:t>Autonomous Cluster</a:t>
            </a:r>
            <a:r>
              <a:rPr lang="zh-CN" altLang="en-US" dirty="0"/>
              <a:t>is a self-governing closed loop within subsystems;</a:t>
            </a:r>
            <a:r>
              <a:rPr lang="en-US" dirty="0"/>
              <a:t>Consensus</a:t>
            </a:r>
            <a:r>
              <a:rPr lang="zh-CN" altLang="en-US" dirty="0"/>
              <a:t>is a consensus mechanism with full-member voting.</a:t>
            </a:r>
            <a:endParaRPr lang="en-US" altLang="zh-CN" dirty="0"/>
          </a:p>
          <a:p>
            <a:r>
              <a:rPr lang="en-US" dirty="0"/>
              <a:t>Feature</a:t>
            </a:r>
            <a:r>
              <a:rPr lang="zh-CN" altLang="en-US" dirty="0"/>
              <a:t>are stackable capability plugins, such as</a:t>
            </a:r>
            <a:r>
              <a:rPr lang="en-US" dirty="0"/>
              <a:t>monitor</a:t>
            </a:r>
            <a:r>
              <a:rPr lang="zh-CN" altLang="en-US" dirty="0"/>
              <a:t>used to monitor main chain behavior,</a:t>
            </a:r>
            <a:r>
              <a:rPr lang="en-US" dirty="0" err="1"/>
              <a:t>emergency_handler</a:t>
            </a:r>
            <a:r>
              <a:rPr lang="zh-CN" altLang="en-US" dirty="0"/>
              <a:t>handles emergency situations with continuous failures</a:t>
            </a:r>
            <a:r>
              <a:rPr lang="zh-CN" altLang="en-SA" dirty="0"/>
              <a:t>and so on</a:t>
            </a:r>
            <a:r>
              <a:rPr lang="zh-CN" altLang="en-US" dirty="0"/>
              <a:t>。</a:t>
            </a:r>
            <a:endParaRPr lang="en-US" altLang="zh-CN" dirty="0"/>
          </a:p>
          <a:p>
            <a:r>
              <a:rPr lang="zh-CN" altLang="en-US" dirty="0"/>
              <a:t>A historical governance system can be expressed as</a:t>
            </a:r>
            <a:r>
              <a:rPr lang="en-US" altLang="zh-CN" dirty="0"/>
              <a:t>"</a:t>
            </a:r>
            <a:r>
              <a:rPr lang="zh-CN" altLang="en-US" dirty="0"/>
              <a:t>one</a:t>
            </a:r>
            <a:r>
              <a:rPr lang="en-US" dirty="0"/>
              <a:t>Pattern</a:t>
            </a:r>
            <a:r>
              <a:rPr lang="zh-CN" altLang="en-US" dirty="0"/>
              <a:t>plus several</a:t>
            </a:r>
            <a:r>
              <a:rPr lang="en-US" dirty="0"/>
              <a:t>Feature</a:t>
            </a:r>
            <a:r>
              <a:rPr lang="zh-CN" altLang="en-US" dirty="0"/>
              <a:t>combined configuration</a:t>
            </a:r>
            <a:r>
              <a:rPr lang="en-US" altLang="zh-CN" dirty="0"/>
              <a: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This is the overall layered architecture of the system. The top layer is</a:t>
            </a:r>
            <a:r>
              <a:rPr lang="en-US" dirty="0"/>
              <a:t>Spec，</a:t>
            </a:r>
            <a:r>
              <a:rPr lang="zh-CN" altLang="en-US" dirty="0"/>
              <a:t>which is the governance configuration file, supporting</a:t>
            </a:r>
            <a:r>
              <a:rPr lang="en-US" dirty="0"/>
              <a:t>YAML、JSON、CUE</a:t>
            </a:r>
            <a:r>
              <a:rPr lang="zh-CN" altLang="en-US" dirty="0"/>
              <a:t>formats, declaratively defining roles, stages, and transition rules.</a:t>
            </a:r>
            <a:endParaRPr lang="en-US" altLang="zh-CN" dirty="0"/>
          </a:p>
          <a:p>
            <a:r>
              <a:rPr lang="zh-CN" altLang="en-US" dirty="0"/>
              <a:t>Going down is the</a:t>
            </a:r>
            <a:r>
              <a:rPr lang="en-US" dirty="0"/>
              <a:t>Pattern</a:t>
            </a:r>
            <a:r>
              <a:rPr lang="zh-CN" altLang="en-US" dirty="0"/>
              <a:t>layer, where we select the appropriate topology. Then comes the</a:t>
            </a:r>
            <a:r>
              <a:rPr lang="en-US" dirty="0"/>
              <a:t>Feature</a:t>
            </a:r>
            <a:r>
              <a:rPr lang="zh-CN" altLang="en-US" dirty="0"/>
              <a:t>layer, where we stack capability plugins as needed.</a:t>
            </a:r>
            <a:endParaRPr lang="en-US" altLang="zh-CN" dirty="0"/>
          </a:p>
          <a:p>
            <a:r>
              <a:rPr lang="zh-CN" altLang="en-US" dirty="0"/>
              <a:t>Finally, through</a:t>
            </a:r>
            <a:r>
              <a:rPr lang="en-US" dirty="0"/>
              <a:t>Adapter</a:t>
            </a:r>
            <a:r>
              <a:rPr lang="zh-CN" altLang="en-US" dirty="0"/>
              <a:t>we connect with</a:t>
            </a:r>
            <a:r>
              <a:rPr lang="en-US" dirty="0" err="1"/>
              <a:t>GenericAgent</a:t>
            </a:r>
            <a:r>
              <a:rPr lang="zh-CN" altLang="en-US" dirty="0"/>
              <a:t>to accomplish actual execution. The entire design decouples governance configuration from the execution engine.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Let's look at how several specific historical governance systems were modeled</a:t>
            </a:r>
            <a:endParaRPr lang="en-US" altLang="zh-CN" dirty="0"/>
          </a:p>
          <a:p>
            <a:r>
              <a:rPr lang="zh-CN" altLang="en-US" dirty="0"/>
              <a:t>Mongol Empire is a</a:t>
            </a:r>
            <a:r>
              <a:rPr lang="en-US" dirty="0" err="1"/>
              <a:t>pipelin结构的</a:t>
            </a:r>
            <a:r>
              <a:rPr lang="en-US" dirty="0"/>
              <a:t>：</a:t>
            </a:r>
            <a:r>
              <a:rPr lang="zh-CN" altLang="en-US" dirty="0"/>
              <a:t>Khan's orders flow from the top all the way to the Arban, a flat command chain with no approval bottlenecks.</a:t>
            </a:r>
            <a:endParaRPr lang="en-US" altLang="zh-CN" dirty="0"/>
          </a:p>
          <a:p>
            <a:r>
              <a:rPr lang="zh-CN" altLang="en-US" dirty="0"/>
              <a:t>The Tang Three-Chancellery System is a</a:t>
            </a:r>
            <a:r>
              <a:rPr lang="en-US" dirty="0" err="1"/>
              <a:t>gated_pipeline</a:t>
            </a:r>
            <a:r>
              <a:rPr lang="en-US" dirty="0"/>
              <a:t>：</a:t>
            </a:r>
            <a:r>
              <a:rPr lang="zh-CN" altLang="en-US" dirty="0"/>
              <a:t>Imperial Secretariat drafts, Chancellery reviews and rejects if needed, Department of State executes - quality assurance but with delay risks.</a:t>
            </a:r>
            <a:endParaRPr lang="en-US" altLang="zh-CN" dirty="0"/>
          </a:p>
          <a:p>
            <a:r>
              <a:rPr lang="zh-CN" altLang="en-US" dirty="0"/>
              <a:t>Athenian Democracy is a</a:t>
            </a:r>
            <a:r>
              <a:rPr lang="en-US" dirty="0" err="1"/>
              <a:t>consensu机制</a:t>
            </a:r>
            <a:r>
              <a:rPr lang="en-US" dirty="0"/>
              <a:t>：</a:t>
            </a:r>
            <a:r>
              <a:rPr lang="zh-CN" altLang="en-US" dirty="0"/>
              <a:t>Citizen assembly votes as a whole, democratic but execution budgets easily depleted.</a:t>
            </a:r>
            <a:endParaRPr lang="en-US" altLang="zh-CN" dirty="0"/>
          </a:p>
          <a:p>
            <a:r>
              <a:rPr lang="zh-CN" altLang="en-US" dirty="0"/>
              <a:t>US Federal System is also a</a:t>
            </a:r>
            <a:r>
              <a:rPr lang="en-US" dirty="0" err="1"/>
              <a:t>gated_pipeline</a:t>
            </a:r>
            <a:r>
              <a:rPr lang="en-US" dirty="0"/>
              <a:t>：</a:t>
            </a:r>
            <a:r>
              <a:rPr lang="zh-CN" altLang="en-US" dirty="0"/>
              <a:t>Representatives' proposals must pass committee review, multiple gates severely drain execution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Now let's look at a concrete execution</a:t>
            </a:r>
            <a:r>
              <a:rPr lang="en-US" dirty="0"/>
              <a:t>Trace。</a:t>
            </a:r>
          </a:p>
          <a:p>
            <a:r>
              <a:rPr lang="zh-CN" altLang="en-US" dirty="0"/>
              <a:t>This is the Mongol Empire running</a:t>
            </a:r>
            <a:r>
              <a:rPr lang="en-US" dirty="0" err="1"/>
              <a:t>a task</a:t>
            </a:r>
            <a:r>
              <a:rPr lang="zh-CN" altLang="en-US" dirty="0"/>
              <a:t>'s visualization result with a score of</a:t>
            </a:r>
            <a:r>
              <a:rPr lang="en-US" altLang="zh-CN" dirty="0"/>
              <a:t>98/100</a:t>
            </a:r>
            <a:r>
              <a:rPr lang="zh-CN" altLang="en-US" dirty="0"/>
              <a:t>。</a:t>
            </a:r>
            <a:endParaRPr lang="en-US" altLang="zh-CN" dirty="0"/>
          </a:p>
          <a:p>
            <a:r>
              <a:rPr lang="zh-CN" altLang="en-US" dirty="0"/>
              <a:t>We can see the entire execution chain is very clear: Khan's order issued, Imperial Secretariat creates plan, Tumen coordinates overall scheduling, Mingghan breaks down tasks, Jaghun executes, and finally Arban provides reports.</a:t>
            </a:r>
            <a:r>
              <a:rPr lang="en-US" altLang="zh-CN" dirty="0"/>
              <a:t>6</a:t>
            </a:r>
            <a:r>
              <a:rPr lang="en-US" dirty="0"/>
              <a:t>stage</a:t>
            </a:r>
            <a:r>
              <a:rPr lang="zh-CN" altLang="en-US" dirty="0"/>
              <a:t>stages progressing layer by layer, the entire process with zero rejections and zero timeouts.</a:t>
            </a:r>
            <a:endParaRPr lang="en-US" altLang="zh-CN" dirty="0"/>
          </a:p>
          <a:p>
            <a:r>
              <a:rPr lang="zh-CN" altLang="en-US" dirty="0"/>
              <a:t>This visualization allows us to clearly see how a task is executed</a:t>
            </a:r>
            <a:r>
              <a:rPr lang="en-SA" dirty="0"/>
              <a:t>under this governance system</a:t>
            </a:r>
            <a:r>
              <a:rPr lang="zh-CN" altLang="en-US" dirty="0"/>
              <a:t>step by step into concrete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We used</a:t>
            </a:r>
            <a:r>
              <a:rPr lang="en-US" dirty="0" err="1"/>
              <a:t>PinchBench to test various governance systems</a:t>
            </a:r>
            <a:r>
              <a:rPr lang="en-US" altLang="zh-CN" dirty="0"/>
              <a:t>,</a:t>
            </a:r>
            <a:r>
              <a:rPr lang="zh-CN" altLang="en-US" dirty="0"/>
              <a:t> This</a:t>
            </a:r>
            <a:r>
              <a:rPr lang="en-US" altLang="zh-CN" dirty="0"/>
              <a:t>benchmark</a:t>
            </a:r>
            <a:r>
              <a:rPr lang="zh-CN" altLang="en-US" dirty="0"/>
              <a:t>is specifically designed for</a:t>
            </a:r>
            <a:r>
              <a:rPr lang="en-US" dirty="0" err="1"/>
              <a:t>OpenClaw</a:t>
            </a:r>
            <a:r>
              <a:rPr lang="en-US" dirty="0"/>
              <a:t> </a:t>
            </a:r>
            <a:r>
              <a:rPr lang="zh-CN" altLang="en-US" dirty="0"/>
              <a:t>场景设计的 </a:t>
            </a:r>
            <a:r>
              <a:rPr lang="en-US" dirty="0"/>
              <a:t>benchmark，</a:t>
            </a:r>
            <a:r>
              <a:rPr lang="zh-CN" altLang="en-US" dirty="0"/>
              <a:t>This is</a:t>
            </a:r>
            <a:r>
              <a:rPr lang="en-US" dirty="0" err="1"/>
              <a:t>kilo.ai</a:t>
            </a:r>
            <a:r>
              <a:rPr lang="zh-CN" altLang="en-US" dirty="0"/>
              <a:t>developed an open</a:t>
            </a:r>
            <a:r>
              <a:rPr lang="en-US" dirty="0"/>
              <a:t>benchmark，</a:t>
            </a:r>
            <a:r>
              <a:rPr lang="zh-CN" altLang="en-US" dirty="0"/>
              <a:t>specifically evaluates</a:t>
            </a:r>
            <a:r>
              <a:rPr lang="en-US" dirty="0"/>
              <a:t>LLM</a:t>
            </a:r>
            <a:r>
              <a:rPr lang="zh-CN" altLang="en-US" dirty="0"/>
              <a:t>as a programming</a:t>
            </a:r>
            <a:r>
              <a:rPr lang="en-US" dirty="0"/>
              <a:t>Agent</a:t>
            </a:r>
            <a:r>
              <a:rPr lang="zh-CN" altLang="en-US" dirty="0"/>
              <a:t> abilities, covering real-world workflow tasks including scheduling, coding, email, research, file processing and other types.</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Our approach is to run its</a:t>
            </a:r>
            <a:r>
              <a:rPr lang="en-US" altLang="zh-CN" dirty="0"/>
              <a:t>22</a:t>
            </a:r>
            <a:r>
              <a:rPr lang="zh-CN" altLang="en-US" dirty="0"/>
              <a:t> standard tasks using</a:t>
            </a:r>
            <a:r>
              <a:rPr lang="en-US" dirty="0" err="1"/>
              <a:t>MiniMax</a:t>
            </a:r>
            <a:r>
              <a:rPr lang="en-US" dirty="0"/>
              <a:t> M2.5 model API</a:t>
            </a:r>
            <a:r>
              <a:rPr lang="zh-CN" altLang="en-US" dirty="0"/>
              <a:t>, then we tested each of the</a:t>
            </a:r>
            <a:r>
              <a:rPr lang="en-US" altLang="zh-CN" dirty="0"/>
              <a:t>7</a:t>
            </a:r>
            <a:r>
              <a:rPr lang="zh-CN" altLang="en-US" dirty="0"/>
              <a:t> historical governance systems.</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SA" dirty="0"/>
              <a:t>In our experiment</a:t>
            </a:r>
            <a:r>
              <a:rPr lang="zh-CN" altLang="en-US" dirty="0"/>
              <a:t> the only variable is the governance design itself</a:t>
            </a:r>
            <a:r>
              <a:rPr lang="en-US" altLang="zh-CN" dirty="0"/>
              <a:t>,</a:t>
            </a:r>
            <a:r>
              <a:rPr lang="zh-CN" altLang="en-US" dirty="0"/>
              <a:t> everything else is the same.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After the results came out</a:t>
            </a:r>
            <a:r>
              <a:rPr lang="en-US" altLang="zh-CN" dirty="0"/>
              <a:t>,</a:t>
            </a:r>
            <a:r>
              <a:rPr lang="zh-CN" altLang="en-US" dirty="0"/>
              <a:t> the gap was much larger than we expected</a:t>
            </a:r>
            <a:r>
              <a:rPr lang="en-US" altLang="zh-CN" dirty="0"/>
              <a:t>.</a:t>
            </a:r>
            <a:r>
              <a:rPr lang="zh-CN" altLang="en-US" dirty="0"/>
              <a:t> </a:t>
            </a:r>
            <a:endParaRPr lang="en-US" altLang="zh-CN" dirty="0"/>
          </a:p>
          <a:p>
            <a:r>
              <a:rPr lang="zh-CN" altLang="en-US" dirty="0"/>
              <a:t>Overall, the closer to militarized centralized command governance, the higher the score; the closer to democratic deliberation and multi-layer approval systems, the lower the score.</a:t>
            </a:r>
            <a:endParaRPr lang="en-US" altLang="zh-CN" dirty="0"/>
          </a:p>
          <a:p>
            <a:r>
              <a:rPr lang="zh-CN" altLang="en-US" dirty="0"/>
              <a:t>The US Federal System and Athenian Democracy, which ranked last, are precisely the two governance systems widely recognized as the most</a:t>
            </a:r>
            <a:r>
              <a:rPr lang="en-US" altLang="zh-CN" dirty="0"/>
              <a:t>"</a:t>
            </a:r>
            <a:r>
              <a:rPr lang="zh-CN" altLang="en-US" dirty="0"/>
              <a:t>democratic</a:t>
            </a:r>
            <a:r>
              <a:rPr lang="en-US" altLang="zh-CN" dirty="0"/>
              <a:t>"</a:t>
            </a:r>
            <a:r>
              <a:rPr lang="zh-CN" altLang="en-US" dirty="0"/>
              <a:t> systems in reality, but in</a:t>
            </a:r>
            <a:r>
              <a:rPr lang="en-US" dirty="0"/>
              <a:t>Agent</a:t>
            </a:r>
            <a:r>
              <a:rPr lang="zh-CN" altLang="en-US" dirty="0"/>
              <a:t> execution efficiency they ranked at the bottom.</a:t>
            </a:r>
            <a:endParaRPr lang="en-US" altLang="zh-CN" dirty="0"/>
          </a:p>
          <a:p>
            <a:r>
              <a:rPr lang="zh-CN" altLang="en-US" dirty="0"/>
              <a:t>The single</a:t>
            </a:r>
            <a:r>
              <a:rPr lang="en-US" dirty="0"/>
              <a:t>Agent</a:t>
            </a:r>
            <a:r>
              <a:rPr lang="zh-CN" altLang="en-US" dirty="0"/>
              <a:t> agent baseline without any governance system only achieved</a:t>
            </a:r>
            <a:r>
              <a:rPr lang="en-US" altLang="zh-CN" dirty="0"/>
              <a:t>55.2</a:t>
            </a:r>
            <a:r>
              <a:rPr lang="zh-CN" altLang="en-US" dirty="0"/>
              <a:t> points, and the optimal governance system surpassed it by</a:t>
            </a:r>
            <a:r>
              <a:rPr lang="en-US" altLang="zh-CN" dirty="0"/>
              <a:t>42——</a:t>
            </a:r>
            <a:r>
              <a:rPr lang="zh-CN" altLang="en-US" dirty="0"/>
              <a:t> points - this shows that multi-agent systems compared to single agents</a:t>
            </a:r>
            <a:r>
              <a:rPr lang="en-US" altLang="zh-CN" dirty="0"/>
              <a:t>,</a:t>
            </a:r>
            <a:r>
              <a:rPr lang="zh-CN" altLang="en-US" dirty="0"/>
              <a:t> have real and significant gains in improvement</a:t>
            </a:r>
            <a:r>
              <a:rPr lang="en-US" altLang="zh-CN" dirty="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Let's look at a case study that best illustrates the</a:t>
            </a:r>
            <a:r>
              <a:rPr lang="en-US" dirty="0"/>
              <a:t>Case Study。</a:t>
            </a:r>
            <a:r>
              <a:rPr lang="zh-CN" altLang="en-US" dirty="0"/>
              <a:t>Same task, same model, the only variable is governance.</a:t>
            </a:r>
            <a:endParaRPr lang="en-US" altLang="zh-CN" dirty="0"/>
          </a:p>
          <a:p>
            <a:r>
              <a:rPr lang="zh-CN" altLang="en-US" dirty="0"/>
              <a:t>Mongol Empire scored</a:t>
            </a:r>
            <a:r>
              <a:rPr lang="en-US" altLang="zh-CN" dirty="0"/>
              <a:t>98</a:t>
            </a:r>
            <a:r>
              <a:rPr lang="zh-CN" altLang="en-US" dirty="0"/>
              <a:t> points, US Federal System scored</a:t>
            </a:r>
            <a:r>
              <a:rPr lang="en-US" altLang="zh-CN" dirty="0"/>
              <a:t>0</a:t>
            </a:r>
            <a:r>
              <a:rPr lang="zh-CN" altLang="en-US" dirty="0"/>
              <a:t> points. The reason is actually quite simple: the Mongol Empire's</a:t>
            </a:r>
            <a:r>
              <a:rPr lang="en-US" dirty="0"/>
              <a:t>pipeline</a:t>
            </a:r>
            <a:r>
              <a:rPr lang="zh-CN" altLang="en-US" dirty="0"/>
              <a:t> structure allows commands to flow straight from top to bottom, each step passes smoothly with no blockages.</a:t>
            </a:r>
            <a:endParaRPr lang="en-US" altLang="zh-CN" dirty="0"/>
          </a:p>
          <a:p>
            <a:r>
              <a:rPr lang="zh-CN" altLang="en-US" dirty="0"/>
              <a:t>But the US Federal System, at the second step in the</a:t>
            </a:r>
            <a:r>
              <a:rPr lang="en-US" dirty="0"/>
              <a:t>committee</a:t>
            </a:r>
            <a:r>
              <a:rPr lang="zh-CN" altLang="en-US" dirty="0"/>
              <a:t> review process, the upstream</a:t>
            </a:r>
            <a:r>
              <a:rPr lang="en-US" dirty="0"/>
              <a:t>API</a:t>
            </a:r>
            <a:r>
              <a:rPr lang="zh-CN" altLang="en-US" dirty="0"/>
              <a:t> output a slight format anomaly, and the</a:t>
            </a:r>
            <a:r>
              <a:rPr lang="en-US" dirty="0"/>
              <a:t>committee agent</a:t>
            </a:r>
            <a:r>
              <a:rPr lang="zh-CN" altLang="en-US" dirty="0"/>
              <a:t> directly judged</a:t>
            </a:r>
            <a:r>
              <a:rPr lang="en-US" dirty="0"/>
              <a:t>REJECT，</a:t>
            </a:r>
            <a:r>
              <a:rPr lang="zh-CN" altLang="en-US" dirty="0"/>
              <a:t> - the entire pipeline broke here, and subsequent steps had no chance to execute.</a:t>
            </a:r>
            <a:endParaRPr lang="en-US" altLang="zh-CN" dirty="0"/>
          </a:p>
          <a:p>
            <a:r>
              <a:rPr lang="zh-CN" altLang="en-US" dirty="0"/>
              <a:t>A minor format issue caused complete pipeline failure</a:t>
            </a:r>
            <a:r>
              <a:rPr lang="en-US" altLang="zh-CN" dirty="0"/>
              <a:t>——</a:t>
            </a:r>
            <a:r>
              <a:rPr lang="zh-CN" altLang="en-US" dirty="0"/>
              <a:t> - this is actually a fundamental flaw of multi-layer approval mechanisms: it puts system robustness on the line for every</a:t>
            </a:r>
            <a:r>
              <a:rPr lang="en-US" dirty="0"/>
              <a:t>gate</a:t>
            </a:r>
            <a:r>
              <a:rPr lang="zh-CN" altLang="en-US" dirty="0"/>
              <a:t> to get through.</a:t>
            </a:r>
            <a:endParaRPr lang="en-US" altLang="zh-CN" dirty="0"/>
          </a:p>
          <a:p>
            <a:r>
              <a:rPr lang="zh-CN" altLang="en-US" dirty="0"/>
              <a:t>More interestingly, this result closely aligns with real history: strong centralized authority indeed has advantages in execution efficiency, and the high cost of democratic deliberation systems is quantitatively demonstrated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In conclusion, what this experiment demonstrates is: human social governance systems can be quantified and verified through experimental engineering design</a:t>
            </a:r>
            <a:r>
              <a:rPr lang="en-US" altLang="zh-CN" dirty="0"/>
              <a:t>,</a:t>
            </a:r>
            <a:r>
              <a:rPr lang="zh-CN" altLang="en-US" dirty="0"/>
              <a:t> We can use social governance systems to guide multi-agent topology design</a:t>
            </a:r>
            <a:r>
              <a:rPr lang="en-US" altLang="zh-CN" dirty="0"/>
              <a:t>,</a:t>
            </a:r>
            <a:r>
              <a:rPr lang="zh-CN" altLang="en-US" dirty="0"/>
              <a:t> and we can also use multi-agent systems to guide governance optimization</a:t>
            </a:r>
            <a:r>
              <a:rPr lang="en-US" altLang="zh-CN" dirty="0"/>
              <a:t>.</a:t>
            </a:r>
          </a:p>
          <a:p>
            <a:endParaRPr lang="en-US" altLang="zh-CN" dirty="0"/>
          </a:p>
          <a:p>
            <a:r>
              <a:rPr lang="zh-CN" altLang="en-US" dirty="0"/>
              <a:t>We found that sequential execution chains are significantly better than multi-layer approval structures on standard tasks, and those governance designs that have evolved over centuries in history still have applicability and transferability in</a:t>
            </a:r>
            <a:r>
              <a:rPr lang="en-US" dirty="0"/>
              <a:t>AI</a:t>
            </a:r>
            <a:endParaRPr lang="en-US" altLang="zh-CN" dirty="0"/>
          </a:p>
          <a:p>
            <a:endParaRPr lang="en-US" altLang="zh-CN" dirty="0"/>
          </a:p>
          <a:p>
            <a:r>
              <a:rPr lang="zh-CN" altLang="en-US" dirty="0"/>
              <a:t>Of course this is just the beginning. Going forward, we want to test more types of</a:t>
            </a:r>
            <a:r>
              <a:rPr lang="en-US" dirty="0"/>
              <a:t>Benchmark</a:t>
            </a:r>
            <a:r>
              <a:rPr lang="zh-CN" altLang="en-US" dirty="0"/>
              <a:t> to see if governance rankings are stable, and we want to deeply analyze which governance systems fail on which types of tasks. The code is already open source, feel free to scan the QR code. Thank you all!</a:t>
            </a:r>
            <a:endParaRPr lang="en-US" altLang="zh-CN" dirty="0"/>
          </a:p>
          <a:p>
            <a:endParaRPr lang="en-US" dirty="0"/>
          </a:p>
          <a:p>
            <a:r>
              <a:rPr lang="en-US" dirty="0" err="1"/>
              <a:t>I'm currently writing a paper on this work</a:t>
            </a:r>
            <a:r>
              <a:rPr lang="en-US" altLang="zh-CN" dirty="0"/>
              <a:t>,</a:t>
            </a:r>
            <a:r>
              <a:rPr lang="zh-CN" altLang="en-US" dirty="0"/>
              <a:t> and I'll share it with everyone once it's completed</a:t>
            </a:r>
            <a:r>
              <a:rPr lang="en-US" altLang="zh-CN" dirty="0"/>
              <a:t>.</a:t>
            </a:r>
            <a:r>
              <a:rPr lang="zh-CN" altLang="en-US"/>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7132320" y="0"/>
            <a:ext cx="2011680" cy="41148"/>
          </a:xfrm>
          <a:prstGeom prst="rect">
            <a:avLst/>
          </a:prstGeom>
          <a:solidFill>
            <a:srgbClr val="C8973E"/>
          </a:solidFill>
          <a:ln w="12700">
            <a:solidFill>
              <a:srgbClr val="C8973E"/>
            </a:solidFill>
            <a:prstDash val="solid"/>
          </a:ln>
        </p:spPr>
        <p:txBody>
          <a:bodyPr/>
          <a:lstStyle/>
          <a:p>
            <a:endParaRPr lang="en-SA"/>
          </a:p>
        </p:txBody>
      </p:sp>
      <p:sp>
        <p:nvSpPr>
          <p:cNvPr id="3" name="Shape 1"/>
          <p:cNvSpPr/>
          <p:nvPr/>
        </p:nvSpPr>
        <p:spPr>
          <a:xfrm>
            <a:off x="9102852" y="0"/>
            <a:ext cx="41148" cy="1645920"/>
          </a:xfrm>
          <a:prstGeom prst="rect">
            <a:avLst/>
          </a:prstGeom>
          <a:solidFill>
            <a:srgbClr val="C8973E"/>
          </a:solidFill>
          <a:ln w="12700">
            <a:solidFill>
              <a:srgbClr val="C8973E"/>
            </a:solidFill>
            <a:prstDash val="solid"/>
          </a:ln>
        </p:spPr>
        <p:txBody>
          <a:bodyPr/>
          <a:lstStyle/>
          <a:p>
            <a:endParaRPr lang="en-SA"/>
          </a:p>
        </p:txBody>
      </p:sp>
      <p:sp>
        <p:nvSpPr>
          <p:cNvPr id="4" name="Shape 2"/>
          <p:cNvSpPr/>
          <p:nvPr/>
        </p:nvSpPr>
        <p:spPr>
          <a:xfrm>
            <a:off x="0" y="5102352"/>
            <a:ext cx="2011680" cy="41148"/>
          </a:xfrm>
          <a:prstGeom prst="rect">
            <a:avLst/>
          </a:prstGeom>
          <a:solidFill>
            <a:srgbClr val="C8973E"/>
          </a:solidFill>
          <a:ln w="12700">
            <a:solidFill>
              <a:srgbClr val="C8973E"/>
            </a:solidFill>
            <a:prstDash val="solid"/>
          </a:ln>
        </p:spPr>
        <p:txBody>
          <a:bodyPr/>
          <a:lstStyle/>
          <a:p>
            <a:endParaRPr lang="en-SA"/>
          </a:p>
        </p:txBody>
      </p:sp>
      <p:sp>
        <p:nvSpPr>
          <p:cNvPr id="5" name="Shape 3"/>
          <p:cNvSpPr/>
          <p:nvPr/>
        </p:nvSpPr>
        <p:spPr>
          <a:xfrm>
            <a:off x="0" y="3456432"/>
            <a:ext cx="41148" cy="1687068"/>
          </a:xfrm>
          <a:prstGeom prst="rect">
            <a:avLst/>
          </a:prstGeom>
          <a:solidFill>
            <a:srgbClr val="C8973E"/>
          </a:solidFill>
          <a:ln w="12700">
            <a:solidFill>
              <a:srgbClr val="C8973E"/>
            </a:solidFill>
            <a:prstDash val="solid"/>
          </a:ln>
        </p:spPr>
        <p:txBody>
          <a:bodyPr/>
          <a:lstStyle/>
          <a:p>
            <a:endParaRPr lang="en-SA"/>
          </a:p>
        </p:txBody>
      </p:sp>
      <p:sp>
        <p:nvSpPr>
          <p:cNvPr id="6" name="Text 4"/>
          <p:cNvSpPr/>
          <p:nvPr/>
        </p:nvSpPr>
        <p:spPr>
          <a:xfrm>
            <a:off x="594360" y="918972"/>
            <a:ext cx="7955280" cy="1051560"/>
          </a:xfrm>
          <a:prstGeom prst="rect">
            <a:avLst/>
          </a:prstGeom>
          <a:noFill/>
          <a:ln/>
        </p:spPr>
        <p:txBody>
          <a:bodyPr wrap="square" lIns="0" tIns="0" rIns="0" bIns="0" rtlCol="0" anchor="ctr"/>
          <a:lstStyle/>
          <a:p>
            <a:pPr marL="0" indent="0" algn="l">
              <a:buNone/>
            </a:pPr>
            <a:r>
              <a:rPr lang="en-US" sz="5400" b="1" dirty="0" err="1">
                <a:solidFill>
                  <a:srgbClr val="F1EDE5"/>
                </a:solidFill>
                <a:latin typeface="Cambria" pitchFamily="34" charset="0"/>
                <a:ea typeface="Cambria" pitchFamily="34" charset="-122"/>
                <a:cs typeface="Cambria" pitchFamily="34" charset="-120"/>
              </a:rPr>
              <a:t>SocialSystemArena</a:t>
            </a:r>
            <a:endParaRPr lang="en-US" sz="5400" b="1" dirty="0">
              <a:solidFill>
                <a:srgbClr val="F1EDE5"/>
              </a:solidFill>
              <a:latin typeface="Cambria" pitchFamily="34" charset="0"/>
              <a:ea typeface="Cambria" pitchFamily="34" charset="-122"/>
              <a:cs typeface="Cambria" pitchFamily="34" charset="-120"/>
            </a:endParaRPr>
          </a:p>
          <a:p>
            <a:pPr marL="0" indent="0" algn="l">
              <a:buNone/>
            </a:pPr>
            <a:r>
              <a:rPr lang="en-US" altLang="zh-CN" sz="5400" b="1" dirty="0">
                <a:solidFill>
                  <a:srgbClr val="F1EDE5"/>
                </a:solidFill>
                <a:latin typeface="Cambria" pitchFamily="34" charset="0"/>
              </a:rPr>
              <a:t>(</a:t>
            </a:r>
            <a:r>
              <a:rPr lang="en-US" sz="5400" b="1" dirty="0" err="1">
                <a:solidFill>
                  <a:srgbClr val="F1EDE5"/>
                </a:solidFill>
                <a:latin typeface="Cambria" pitchFamily="34" charset="0"/>
              </a:rPr>
              <a:t>Dynasty Showdown</a:t>
            </a:r>
            <a:r>
              <a:rPr lang="en-US" altLang="zh-CN" sz="5400" b="1" dirty="0">
                <a:solidFill>
                  <a:srgbClr val="F1EDE5"/>
                </a:solidFill>
                <a:latin typeface="Cambria" pitchFamily="34" charset="0"/>
              </a:rPr>
              <a:t>)</a:t>
            </a:r>
            <a:endParaRPr lang="en-US" sz="5400" dirty="0"/>
          </a:p>
        </p:txBody>
      </p:sp>
      <p:sp>
        <p:nvSpPr>
          <p:cNvPr id="7" name="Shape 5"/>
          <p:cNvSpPr/>
          <p:nvPr/>
        </p:nvSpPr>
        <p:spPr>
          <a:xfrm>
            <a:off x="594360" y="2331720"/>
            <a:ext cx="5303520" cy="41148"/>
          </a:xfrm>
          <a:prstGeom prst="rect">
            <a:avLst/>
          </a:prstGeom>
          <a:solidFill>
            <a:srgbClr val="C8973E"/>
          </a:solidFill>
          <a:ln w="12700">
            <a:solidFill>
              <a:srgbClr val="C8973E"/>
            </a:solidFill>
            <a:prstDash val="solid"/>
          </a:ln>
        </p:spPr>
        <p:txBody>
          <a:bodyPr/>
          <a:lstStyle/>
          <a:p>
            <a:endParaRPr lang="en-SA"/>
          </a:p>
        </p:txBody>
      </p:sp>
      <p:sp>
        <p:nvSpPr>
          <p:cNvPr id="8" name="Text 6"/>
          <p:cNvSpPr/>
          <p:nvPr/>
        </p:nvSpPr>
        <p:spPr>
          <a:xfrm>
            <a:off x="594360" y="2487168"/>
            <a:ext cx="7955280" cy="530352"/>
          </a:xfrm>
          <a:prstGeom prst="rect">
            <a:avLst/>
          </a:prstGeom>
          <a:noFill/>
          <a:ln/>
        </p:spPr>
        <p:txBody>
          <a:bodyPr wrap="square" lIns="0" tIns="0" rIns="0" bIns="0" rtlCol="0" anchor="ctr"/>
          <a:lstStyle/>
          <a:p>
            <a:r>
              <a:rPr lang="zh-CN" altLang="en-US" sz="2200" dirty="0">
                <a:solidFill>
                  <a:srgbClr val="C8973E"/>
                </a:solidFill>
                <a:latin typeface="Calibri" pitchFamily="34" charset="0"/>
                <a:ea typeface="Calibri" pitchFamily="34" charset="-122"/>
                <a:cs typeface="Calibri" pitchFamily="34" charset="-120"/>
              </a:rPr>
              <a:t>Using Historical Governance to Guide </a:t>
            </a:r>
            <a:r>
              <a:rPr lang="en-US" altLang="zh-CN" sz="2200" dirty="0">
                <a:solidFill>
                  <a:srgbClr val="C8973E"/>
                </a:solidFill>
                <a:latin typeface="Calibri" pitchFamily="34" charset="0"/>
                <a:ea typeface="Calibri" pitchFamily="34" charset="-122"/>
                <a:cs typeface="Calibri" pitchFamily="34" charset="-120"/>
              </a:rPr>
              <a:t>MAS Topology — Which Dynasty is Most Efficient?</a:t>
            </a:r>
            <a:endParaRPr lang="en-US" sz="2200" dirty="0"/>
          </a:p>
        </p:txBody>
      </p:sp>
      <p:sp>
        <p:nvSpPr>
          <p:cNvPr id="9" name="Text 7"/>
          <p:cNvSpPr/>
          <p:nvPr/>
        </p:nvSpPr>
        <p:spPr>
          <a:xfrm>
            <a:off x="594360" y="4160520"/>
            <a:ext cx="7315200" cy="347472"/>
          </a:xfrm>
          <a:prstGeom prst="rect">
            <a:avLst/>
          </a:prstGeom>
          <a:noFill/>
          <a:ln/>
        </p:spPr>
        <p:txBody>
          <a:bodyPr wrap="square" lIns="0" tIns="0" rIns="0" bIns="0" rtlCol="0" anchor="ctr"/>
          <a:lstStyle/>
          <a:p>
            <a:pPr marL="0" indent="0" algn="l">
              <a:buNone/>
            </a:pPr>
            <a:r>
              <a:rPr lang="en-US" sz="1300" dirty="0">
                <a:solidFill>
                  <a:srgbClr val="94A3B8"/>
                </a:solidFill>
                <a:latin typeface="Calibri" pitchFamily="34" charset="0"/>
                <a:ea typeface="Calibri" pitchFamily="34" charset="-122"/>
                <a:cs typeface="Calibri" pitchFamily="34" charset="-120"/>
              </a:rPr>
              <a:t>2026.03.1</a:t>
            </a:r>
            <a:r>
              <a:rPr lang="en-US" altLang="zh-CN" sz="1300" dirty="0">
                <a:solidFill>
                  <a:srgbClr val="94A3B8"/>
                </a:solidFill>
                <a:latin typeface="Calibri" pitchFamily="34" charset="0"/>
                <a:ea typeface="Calibri" pitchFamily="34" charset="-122"/>
                <a:cs typeface="Calibri" pitchFamily="34" charset="-120"/>
              </a:rPr>
              <a:t>8</a:t>
            </a:r>
            <a:endParaRPr lang="en-US" sz="1300" dirty="0"/>
          </a:p>
        </p:txBody>
      </p:sp>
      <p:sp>
        <p:nvSpPr>
          <p:cNvPr id="10" name="Shape 8"/>
          <p:cNvSpPr/>
          <p:nvPr/>
        </p:nvSpPr>
        <p:spPr>
          <a:xfrm>
            <a:off x="594360" y="4572000"/>
            <a:ext cx="4114800" cy="41148"/>
          </a:xfrm>
          <a:prstGeom prst="rect">
            <a:avLst/>
          </a:prstGeom>
          <a:solidFill>
            <a:srgbClr val="334155"/>
          </a:solidFill>
          <a:ln w="12700">
            <a:solidFill>
              <a:srgbClr val="334155"/>
            </a:solidFill>
            <a:prstDash val="solid"/>
          </a:ln>
        </p:spPr>
        <p:txBody>
          <a:bodyPr/>
          <a:lstStyle/>
          <a:p>
            <a:endParaRPr lang="en-SA"/>
          </a:p>
        </p:txBody>
      </p:sp>
      <p:sp>
        <p:nvSpPr>
          <p:cNvPr id="11" name="Text 9"/>
          <p:cNvSpPr/>
          <p:nvPr/>
        </p:nvSpPr>
        <p:spPr>
          <a:xfrm>
            <a:off x="594360" y="4663440"/>
            <a:ext cx="7315200" cy="347472"/>
          </a:xfrm>
          <a:prstGeom prst="rect">
            <a:avLst/>
          </a:prstGeom>
          <a:noFill/>
          <a:ln/>
        </p:spPr>
        <p:txBody>
          <a:bodyPr wrap="square" lIns="0" tIns="0" rIns="0" bIns="0" rtlCol="0" anchor="ctr"/>
          <a:lstStyle/>
          <a:p>
            <a:r>
              <a:rPr lang="en-US" sz="1300" dirty="0">
                <a:solidFill>
                  <a:srgbClr val="94A3B8"/>
                </a:solidFill>
                <a:latin typeface="Calibri" pitchFamily="34" charset="0"/>
                <a:ea typeface="Calibri" pitchFamily="34" charset="-122"/>
                <a:cs typeface="Calibri" pitchFamily="34" charset="-120"/>
              </a:rPr>
              <a:t>Presenter  </a:t>
            </a:r>
            <a:r>
              <a:rPr lang="en-US" sz="1300" b="1" dirty="0">
                <a:solidFill>
                  <a:srgbClr val="F1EDE5"/>
                </a:solidFill>
                <a:latin typeface="Calibri" pitchFamily="34" charset="0"/>
                <a:ea typeface="Calibri" pitchFamily="34" charset="-122"/>
                <a:cs typeface="Calibri" pitchFamily="34" charset="-120"/>
              </a:rPr>
              <a:t>Fei Chao</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8F5E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973E"/>
          </a:solidFill>
          <a:ln w="12700">
            <a:solidFill>
              <a:srgbClr val="C8973E"/>
            </a:solidFill>
            <a:prstDash val="solid"/>
          </a:ln>
        </p:spPr>
        <p:txBody>
          <a:bodyPr/>
          <a:lstStyle/>
          <a:p>
            <a:endParaRPr lang="en-SA"/>
          </a:p>
        </p:txBody>
      </p:sp>
      <p:sp>
        <p:nvSpPr>
          <p:cNvPr id="3" name="Text 1"/>
          <p:cNvSpPr/>
          <p:nvPr/>
        </p:nvSpPr>
        <p:spPr>
          <a:xfrm>
            <a:off x="457200" y="182880"/>
            <a:ext cx="8229600" cy="566928"/>
          </a:xfrm>
          <a:prstGeom prst="rect">
            <a:avLst/>
          </a:prstGeom>
          <a:noFill/>
          <a:ln/>
        </p:spPr>
        <p:txBody>
          <a:bodyPr wrap="square" lIns="0" tIns="0" rIns="0" bIns="0" rtlCol="0" anchor="ctr"/>
          <a:lstStyle/>
          <a:p>
            <a:pPr marL="0" indent="0" algn="l">
              <a:buNone/>
            </a:pPr>
            <a:r>
              <a:rPr lang="zh-CN" altLang="en-US" sz="2600" b="1" dirty="0">
                <a:solidFill>
                  <a:srgbClr val="1E293B"/>
                </a:solidFill>
                <a:latin typeface="Cambria" pitchFamily="34" charset="0"/>
                <a:ea typeface="Cambria" pitchFamily="34" charset="-122"/>
                <a:cs typeface="Cambria" pitchFamily="34" charset="-120"/>
              </a:rPr>
              <a:t>Disordered </a:t>
            </a:r>
            <a:r>
              <a:rPr lang="en-US" sz="2600" b="1" dirty="0">
                <a:solidFill>
                  <a:srgbClr val="1E293B"/>
                </a:solidFill>
                <a:latin typeface="Cambria" pitchFamily="34" charset="0"/>
                <a:ea typeface="Cambria" pitchFamily="34" charset="-122"/>
                <a:cs typeface="Cambria" pitchFamily="34" charset="-120"/>
              </a:rPr>
              <a:t>MAS </a:t>
            </a:r>
            <a:r>
              <a:rPr lang="zh-CN" altLang="en-US" sz="2600" b="1" dirty="0">
                <a:solidFill>
                  <a:srgbClr val="1E293B"/>
                </a:solidFill>
                <a:latin typeface="Cambria" pitchFamily="34" charset="0"/>
                <a:ea typeface="Cambria" pitchFamily="34" charset="-122"/>
                <a:cs typeface="Cambria" pitchFamily="34" charset="-120"/>
              </a:rPr>
              <a:t>Topology</a:t>
            </a:r>
            <a:endParaRPr lang="en-US" sz="2600" dirty="0"/>
          </a:p>
        </p:txBody>
      </p:sp>
      <p:sp>
        <p:nvSpPr>
          <p:cNvPr id="4" name="Shape 2"/>
          <p:cNvSpPr/>
          <p:nvPr/>
        </p:nvSpPr>
        <p:spPr>
          <a:xfrm>
            <a:off x="457200" y="804672"/>
            <a:ext cx="8229600" cy="13716"/>
          </a:xfrm>
          <a:prstGeom prst="rect">
            <a:avLst/>
          </a:prstGeom>
          <a:solidFill>
            <a:srgbClr val="EAE5D8"/>
          </a:solidFill>
          <a:ln w="12700">
            <a:solidFill>
              <a:srgbClr val="EAE5D8"/>
            </a:solidFill>
            <a:prstDash val="solid"/>
          </a:ln>
        </p:spPr>
        <p:txBody>
          <a:bodyPr/>
          <a:lstStyle/>
          <a:p>
            <a:endParaRPr lang="en-SA"/>
          </a:p>
        </p:txBody>
      </p:sp>
      <p:sp>
        <p:nvSpPr>
          <p:cNvPr id="5" name="Shape 3"/>
          <p:cNvSpPr/>
          <p:nvPr/>
        </p:nvSpPr>
        <p:spPr>
          <a:xfrm>
            <a:off x="457200" y="1105776"/>
            <a:ext cx="8229600" cy="1005840"/>
          </a:xfrm>
          <a:prstGeom prst="rect">
            <a:avLst/>
          </a:prstGeom>
          <a:solidFill>
            <a:srgbClr val="0F172A"/>
          </a:solidFill>
          <a:ln w="12700">
            <a:solidFill>
              <a:srgbClr val="0F172A"/>
            </a:solidFill>
            <a:prstDash val="solid"/>
          </a:ln>
          <a:effectLst>
            <a:outerShdw blurRad="101600" dist="38100" dir="8100000" algn="bl" rotWithShape="0">
              <a:srgbClr val="000000">
                <a:alpha val="13000"/>
              </a:srgbClr>
            </a:outerShdw>
          </a:effectLst>
        </p:spPr>
        <p:txBody>
          <a:bodyPr/>
          <a:lstStyle/>
          <a:p>
            <a:endParaRPr lang="en-SA"/>
          </a:p>
        </p:txBody>
      </p:sp>
      <p:sp>
        <p:nvSpPr>
          <p:cNvPr id="6" name="Text 4"/>
          <p:cNvSpPr/>
          <p:nvPr/>
        </p:nvSpPr>
        <p:spPr>
          <a:xfrm>
            <a:off x="640080" y="1169784"/>
            <a:ext cx="7863840" cy="877824"/>
          </a:xfrm>
          <a:prstGeom prst="rect">
            <a:avLst/>
          </a:prstGeom>
          <a:noFill/>
          <a:ln/>
        </p:spPr>
        <p:txBody>
          <a:bodyPr wrap="square" lIns="0" tIns="0" rIns="0" bIns="0" rtlCol="0" anchor="ctr"/>
          <a:lstStyle/>
          <a:p>
            <a:pPr marL="0" indent="0" algn="l">
              <a:buNone/>
            </a:pPr>
            <a:r>
              <a:rPr lang="en-US" sz="1800" dirty="0" err="1">
                <a:solidFill>
                  <a:srgbClr val="F1EDE5"/>
                </a:solidFill>
                <a:latin typeface="Cambria" pitchFamily="34" charset="0"/>
                <a:ea typeface="Cambria" pitchFamily="34" charset="-122"/>
                <a:cs typeface="Cambria" pitchFamily="34" charset="-120"/>
              </a:rPr>
              <a:t>When multiple</a:t>
            </a:r>
            <a:r>
              <a:rPr lang="en-US" sz="1800" dirty="0">
                <a:solidFill>
                  <a:srgbClr val="F1EDE5"/>
                </a:solidFill>
                <a:latin typeface="Cambria" pitchFamily="34" charset="0"/>
                <a:ea typeface="Cambria" pitchFamily="34" charset="-122"/>
                <a:cs typeface="Cambria" pitchFamily="34" charset="-120"/>
              </a:rPr>
              <a:t> AI Agents collaborate —</a:t>
            </a:r>
            <a:r>
              <a:rPr lang="en-US" sz="1800" b="1" dirty="0">
                <a:solidFill>
                  <a:srgbClr val="C8973E"/>
                </a:solidFill>
                <a:latin typeface="Cambria" pitchFamily="34" charset="0"/>
                <a:ea typeface="Cambria" pitchFamily="34" charset="-122"/>
                <a:cs typeface="Cambria" pitchFamily="34" charset="-120"/>
              </a:rPr>
              <a:t>  Who decides? Who executes? Who approves? Who is accountable for errors?</a:t>
            </a:r>
            <a:endParaRPr lang="en-US" sz="1800" dirty="0"/>
          </a:p>
        </p:txBody>
      </p:sp>
      <p:sp>
        <p:nvSpPr>
          <p:cNvPr id="7" name="Shape 5"/>
          <p:cNvSpPr/>
          <p:nvPr/>
        </p:nvSpPr>
        <p:spPr>
          <a:xfrm>
            <a:off x="457200" y="2340216"/>
            <a:ext cx="2496312" cy="2103120"/>
          </a:xfrm>
          <a:prstGeom prst="rect">
            <a:avLst/>
          </a:prstGeom>
          <a:solidFill>
            <a:srgbClr val="FFFFFF"/>
          </a:solidFill>
          <a:ln w="12700">
            <a:solidFill>
              <a:srgbClr val="EAE5D8"/>
            </a:solidFill>
            <a:prstDash val="solid"/>
          </a:ln>
          <a:effectLst>
            <a:outerShdw blurRad="101600" dist="38100" dir="8100000" algn="bl" rotWithShape="0">
              <a:srgbClr val="000000">
                <a:alpha val="13000"/>
              </a:srgbClr>
            </a:outerShdw>
          </a:effectLst>
        </p:spPr>
        <p:txBody>
          <a:bodyPr/>
          <a:lstStyle/>
          <a:p>
            <a:endParaRPr lang="en-SA"/>
          </a:p>
        </p:txBody>
      </p:sp>
      <p:sp>
        <p:nvSpPr>
          <p:cNvPr id="8" name="Shape 6"/>
          <p:cNvSpPr/>
          <p:nvPr/>
        </p:nvSpPr>
        <p:spPr>
          <a:xfrm>
            <a:off x="457200" y="2340216"/>
            <a:ext cx="2560320" cy="59436"/>
          </a:xfrm>
          <a:prstGeom prst="rect">
            <a:avLst/>
          </a:prstGeom>
          <a:solidFill>
            <a:srgbClr val="DC2626"/>
          </a:solidFill>
          <a:ln w="12700">
            <a:solidFill>
              <a:srgbClr val="DC2626"/>
            </a:solidFill>
            <a:prstDash val="solid"/>
          </a:ln>
        </p:spPr>
        <p:txBody>
          <a:bodyPr/>
          <a:lstStyle/>
          <a:p>
            <a:endParaRPr lang="en-SA"/>
          </a:p>
        </p:txBody>
      </p:sp>
      <p:sp>
        <p:nvSpPr>
          <p:cNvPr id="9" name="Text 7"/>
          <p:cNvSpPr/>
          <p:nvPr/>
        </p:nvSpPr>
        <p:spPr>
          <a:xfrm>
            <a:off x="594360" y="2477376"/>
            <a:ext cx="2221992" cy="384048"/>
          </a:xfrm>
          <a:prstGeom prst="rect">
            <a:avLst/>
          </a:prstGeom>
          <a:noFill/>
          <a:ln/>
        </p:spPr>
        <p:txBody>
          <a:bodyPr wrap="square" lIns="0" tIns="0" rIns="0" bIns="0" rtlCol="0" anchor="ctr"/>
          <a:lstStyle/>
          <a:p>
            <a:pPr marL="0" indent="0" algn="l">
              <a:buNone/>
            </a:pPr>
            <a:r>
              <a:rPr lang="en-US" sz="1500" b="1" dirty="0">
                <a:solidFill>
                  <a:srgbClr val="DC2626"/>
                </a:solidFill>
                <a:latin typeface="Cambria" pitchFamily="34" charset="0"/>
                <a:ea typeface="Cambria" pitchFamily="34" charset="-122"/>
                <a:cs typeface="Cambria" pitchFamily="34" charset="-120"/>
              </a:rPr>
              <a:t>No Central Coordination</a:t>
            </a:r>
            <a:endParaRPr lang="en-US" sz="1500" dirty="0"/>
          </a:p>
        </p:txBody>
      </p:sp>
      <p:sp>
        <p:nvSpPr>
          <p:cNvPr id="10" name="Text 8"/>
          <p:cNvSpPr/>
          <p:nvPr/>
        </p:nvSpPr>
        <p:spPr>
          <a:xfrm>
            <a:off x="594360" y="2934576"/>
            <a:ext cx="2221992" cy="1371600"/>
          </a:xfrm>
          <a:prstGeom prst="rect">
            <a:avLst/>
          </a:prstGeom>
          <a:noFill/>
          <a:ln/>
        </p:spPr>
        <p:txBody>
          <a:bodyPr wrap="square" lIns="0" tIns="0" rIns="0" bIns="0" rtlCol="0" anchor="t"/>
          <a:lstStyle/>
          <a:p>
            <a:pPr marL="0" indent="0" algn="l">
              <a:buNone/>
            </a:pPr>
            <a:r>
              <a:rPr lang="en-US" sz="1200" dirty="0">
                <a:solidFill>
                  <a:srgbClr val="334155"/>
                </a:solidFill>
                <a:latin typeface="Calibri" pitchFamily="34" charset="0"/>
                <a:ea typeface="Calibri" pitchFamily="34" charset="-122"/>
                <a:cs typeface="Calibri" pitchFamily="34" charset="-120"/>
              </a:rPr>
              <a:t>Multiple Agents execute concurrently, lacking global perspective, prone to conflicts and redundancy</a:t>
            </a:r>
            <a:endParaRPr lang="en-US" sz="1200" dirty="0"/>
          </a:p>
        </p:txBody>
      </p:sp>
      <p:sp>
        <p:nvSpPr>
          <p:cNvPr id="11" name="Shape 9"/>
          <p:cNvSpPr/>
          <p:nvPr/>
        </p:nvSpPr>
        <p:spPr>
          <a:xfrm>
            <a:off x="3136392" y="2340216"/>
            <a:ext cx="2496312" cy="2103120"/>
          </a:xfrm>
          <a:prstGeom prst="rect">
            <a:avLst/>
          </a:prstGeom>
          <a:solidFill>
            <a:srgbClr val="FFFFFF"/>
          </a:solidFill>
          <a:ln w="12700">
            <a:solidFill>
              <a:srgbClr val="EAE5D8"/>
            </a:solidFill>
            <a:prstDash val="solid"/>
          </a:ln>
          <a:effectLst>
            <a:outerShdw blurRad="101600" dist="38100" dir="8100000" algn="bl" rotWithShape="0">
              <a:srgbClr val="000000">
                <a:alpha val="13000"/>
              </a:srgbClr>
            </a:outerShdw>
          </a:effectLst>
        </p:spPr>
        <p:txBody>
          <a:bodyPr/>
          <a:lstStyle/>
          <a:p>
            <a:endParaRPr lang="en-SA"/>
          </a:p>
        </p:txBody>
      </p:sp>
      <p:sp>
        <p:nvSpPr>
          <p:cNvPr id="12" name="Shape 10"/>
          <p:cNvSpPr/>
          <p:nvPr/>
        </p:nvSpPr>
        <p:spPr>
          <a:xfrm>
            <a:off x="3136392" y="2340216"/>
            <a:ext cx="2560320" cy="59436"/>
          </a:xfrm>
          <a:prstGeom prst="rect">
            <a:avLst/>
          </a:prstGeom>
          <a:solidFill>
            <a:srgbClr val="1E293B"/>
          </a:solidFill>
          <a:ln w="12700">
            <a:solidFill>
              <a:srgbClr val="1E293B"/>
            </a:solidFill>
            <a:prstDash val="solid"/>
          </a:ln>
        </p:spPr>
        <p:txBody>
          <a:bodyPr/>
          <a:lstStyle/>
          <a:p>
            <a:endParaRPr lang="en-SA"/>
          </a:p>
        </p:txBody>
      </p:sp>
      <p:sp>
        <p:nvSpPr>
          <p:cNvPr id="13" name="Text 11"/>
          <p:cNvSpPr/>
          <p:nvPr/>
        </p:nvSpPr>
        <p:spPr>
          <a:xfrm>
            <a:off x="3273552" y="2477376"/>
            <a:ext cx="2221992" cy="384048"/>
          </a:xfrm>
          <a:prstGeom prst="rect">
            <a:avLst/>
          </a:prstGeom>
          <a:noFill/>
          <a:ln/>
        </p:spPr>
        <p:txBody>
          <a:bodyPr wrap="square" lIns="0" tIns="0" rIns="0" bIns="0" rtlCol="0" anchor="ctr"/>
          <a:lstStyle/>
          <a:p>
            <a:pPr marL="0" indent="0" algn="l">
              <a:buNone/>
            </a:pPr>
            <a:r>
              <a:rPr lang="en-US" sz="1500" b="1" dirty="0">
                <a:solidFill>
                  <a:srgbClr val="1E293B"/>
                </a:solidFill>
                <a:latin typeface="Cambria" pitchFamily="34" charset="0"/>
                <a:ea typeface="Cambria" pitchFamily="34" charset="-122"/>
                <a:cs typeface="Cambria" pitchFamily="34" charset="-120"/>
              </a:rPr>
              <a:t>Decision Chaos</a:t>
            </a:r>
            <a:endParaRPr lang="en-US" sz="1500" dirty="0"/>
          </a:p>
        </p:txBody>
      </p:sp>
      <p:sp>
        <p:nvSpPr>
          <p:cNvPr id="14" name="Text 12"/>
          <p:cNvSpPr/>
          <p:nvPr/>
        </p:nvSpPr>
        <p:spPr>
          <a:xfrm>
            <a:off x="3273552" y="2934576"/>
            <a:ext cx="2221992" cy="1371600"/>
          </a:xfrm>
          <a:prstGeom prst="rect">
            <a:avLst/>
          </a:prstGeom>
          <a:noFill/>
          <a:ln/>
        </p:spPr>
        <p:txBody>
          <a:bodyPr wrap="square" lIns="0" tIns="0" rIns="0" bIns="0" rtlCol="0" anchor="t"/>
          <a:lstStyle/>
          <a:p>
            <a:pPr marL="0" indent="0" algn="l">
              <a:buNone/>
            </a:pPr>
            <a:r>
              <a:rPr lang="en-US" sz="1200" dirty="0">
                <a:solidFill>
                  <a:srgbClr val="334155"/>
                </a:solidFill>
                <a:latin typeface="Calibri" pitchFamily="34" charset="0"/>
                <a:ea typeface="Calibri" pitchFamily="34" charset="-122"/>
                <a:cs typeface="Calibri" pitchFamily="34" charset="-120"/>
              </a:rPr>
              <a:t>No clear authority boundaries — unpredictable system behavior</a:t>
            </a:r>
            <a:endParaRPr lang="en-US" sz="1200" dirty="0"/>
          </a:p>
        </p:txBody>
      </p:sp>
      <p:sp>
        <p:nvSpPr>
          <p:cNvPr id="15" name="Shape 13"/>
          <p:cNvSpPr/>
          <p:nvPr/>
        </p:nvSpPr>
        <p:spPr>
          <a:xfrm>
            <a:off x="5815584" y="2340216"/>
            <a:ext cx="2496312" cy="2103120"/>
          </a:xfrm>
          <a:prstGeom prst="rect">
            <a:avLst/>
          </a:prstGeom>
          <a:solidFill>
            <a:srgbClr val="FFFFFF"/>
          </a:solidFill>
          <a:ln w="12700">
            <a:solidFill>
              <a:srgbClr val="EAE5D8"/>
            </a:solidFill>
            <a:prstDash val="solid"/>
          </a:ln>
          <a:effectLst>
            <a:outerShdw blurRad="101600" dist="38100" dir="8100000" algn="bl" rotWithShape="0">
              <a:srgbClr val="000000">
                <a:alpha val="13000"/>
              </a:srgbClr>
            </a:outerShdw>
          </a:effectLst>
        </p:spPr>
        <p:txBody>
          <a:bodyPr/>
          <a:lstStyle/>
          <a:p>
            <a:endParaRPr lang="en-SA"/>
          </a:p>
        </p:txBody>
      </p:sp>
      <p:sp>
        <p:nvSpPr>
          <p:cNvPr id="16" name="Shape 14"/>
          <p:cNvSpPr/>
          <p:nvPr/>
        </p:nvSpPr>
        <p:spPr>
          <a:xfrm>
            <a:off x="5815584" y="2340216"/>
            <a:ext cx="2560320" cy="59436"/>
          </a:xfrm>
          <a:prstGeom prst="rect">
            <a:avLst/>
          </a:prstGeom>
          <a:solidFill>
            <a:srgbClr val="334155"/>
          </a:solidFill>
          <a:ln w="12700">
            <a:solidFill>
              <a:srgbClr val="334155"/>
            </a:solidFill>
            <a:prstDash val="solid"/>
          </a:ln>
        </p:spPr>
        <p:txBody>
          <a:bodyPr/>
          <a:lstStyle/>
          <a:p>
            <a:endParaRPr lang="en-SA"/>
          </a:p>
        </p:txBody>
      </p:sp>
      <p:sp>
        <p:nvSpPr>
          <p:cNvPr id="17" name="Text 15"/>
          <p:cNvSpPr/>
          <p:nvPr/>
        </p:nvSpPr>
        <p:spPr>
          <a:xfrm>
            <a:off x="5952744" y="2477376"/>
            <a:ext cx="2221992" cy="384048"/>
          </a:xfrm>
          <a:prstGeom prst="rect">
            <a:avLst/>
          </a:prstGeom>
          <a:noFill/>
          <a:ln/>
        </p:spPr>
        <p:txBody>
          <a:bodyPr wrap="square" lIns="0" tIns="0" rIns="0" bIns="0" rtlCol="0" anchor="ctr"/>
          <a:lstStyle/>
          <a:p>
            <a:pPr marL="0" indent="0" algn="l">
              <a:buNone/>
            </a:pPr>
            <a:r>
              <a:rPr lang="en-US" sz="1500" b="1" dirty="0">
                <a:solidFill>
                  <a:srgbClr val="334155"/>
                </a:solidFill>
                <a:latin typeface="Cambria" pitchFamily="34" charset="0"/>
                <a:ea typeface="Cambria" pitchFamily="34" charset="-122"/>
                <a:cs typeface="Cambria" pitchFamily="34" charset="-120"/>
              </a:rPr>
              <a:t>Collaboration Failure</a:t>
            </a:r>
            <a:endParaRPr lang="en-US" sz="1500" dirty="0"/>
          </a:p>
        </p:txBody>
      </p:sp>
      <p:sp>
        <p:nvSpPr>
          <p:cNvPr id="18" name="Text 16"/>
          <p:cNvSpPr/>
          <p:nvPr/>
        </p:nvSpPr>
        <p:spPr>
          <a:xfrm>
            <a:off x="5952744" y="2934576"/>
            <a:ext cx="2221992" cy="1371600"/>
          </a:xfrm>
          <a:prstGeom prst="rect">
            <a:avLst/>
          </a:prstGeom>
          <a:noFill/>
          <a:ln/>
        </p:spPr>
        <p:txBody>
          <a:bodyPr wrap="square" lIns="0" tIns="0" rIns="0" bIns="0" rtlCol="0" anchor="t"/>
          <a:lstStyle/>
          <a:p>
            <a:pPr marL="0" indent="0" algn="l">
              <a:buNone/>
            </a:pPr>
            <a:r>
              <a:rPr lang="en-US" sz="1200" dirty="0">
                <a:solidFill>
                  <a:srgbClr val="334155"/>
                </a:solidFill>
                <a:latin typeface="Calibri" pitchFamily="34" charset="0"/>
                <a:ea typeface="Calibri" pitchFamily="34" charset="-122"/>
                <a:cs typeface="Calibri" pitchFamily="34" charset="-120"/>
              </a:rPr>
              <a:t>Broken information chains, execution and verification disconnected, tasks lost in intermediate stages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C8973E"/>
          </a:solidFill>
          <a:ln w="12700">
            <a:solidFill>
              <a:srgbClr val="C8973E"/>
            </a:solidFill>
            <a:prstDash val="solid"/>
          </a:ln>
        </p:spPr>
        <p:txBody>
          <a:bodyPr/>
          <a:lstStyle/>
          <a:p>
            <a:endParaRPr lang="en-SA"/>
          </a:p>
        </p:txBody>
      </p:sp>
      <p:sp>
        <p:nvSpPr>
          <p:cNvPr id="3" name="Text 1"/>
          <p:cNvSpPr/>
          <p:nvPr/>
        </p:nvSpPr>
        <p:spPr>
          <a:xfrm>
            <a:off x="320040" y="182880"/>
            <a:ext cx="8412480" cy="566928"/>
          </a:xfrm>
          <a:prstGeom prst="rect">
            <a:avLst/>
          </a:prstGeom>
          <a:noFill/>
          <a:ln/>
        </p:spPr>
        <p:txBody>
          <a:bodyPr wrap="square" lIns="0" tIns="0" rIns="0" bIns="0" rtlCol="0" anchor="ctr"/>
          <a:lstStyle/>
          <a:p>
            <a:pPr marL="0" indent="0" algn="l">
              <a:buNone/>
            </a:pPr>
            <a:r>
              <a:rPr lang="en-US" sz="2600" b="1" dirty="0">
                <a:solidFill>
                  <a:srgbClr val="F1EDE5"/>
                </a:solidFill>
                <a:latin typeface="Cambria" pitchFamily="34" charset="0"/>
                <a:ea typeface="Cambria" pitchFamily="34" charset="-122"/>
                <a:cs typeface="Cambria" pitchFamily="34" charset="-120"/>
              </a:rPr>
              <a:t>Core Idea: Learn from Human Society</a:t>
            </a:r>
            <a:endParaRPr lang="en-US" sz="2600" dirty="0"/>
          </a:p>
        </p:txBody>
      </p:sp>
      <p:sp>
        <p:nvSpPr>
          <p:cNvPr id="4" name="Shape 2"/>
          <p:cNvSpPr/>
          <p:nvPr/>
        </p:nvSpPr>
        <p:spPr>
          <a:xfrm>
            <a:off x="320040" y="1078992"/>
            <a:ext cx="475488" cy="475488"/>
          </a:xfrm>
          <a:prstGeom prst="rect">
            <a:avLst/>
          </a:prstGeom>
          <a:solidFill>
            <a:srgbClr val="C8973E"/>
          </a:solidFill>
          <a:ln w="12700">
            <a:solidFill>
              <a:srgbClr val="C8973E"/>
            </a:solidFill>
            <a:prstDash val="solid"/>
          </a:ln>
        </p:spPr>
        <p:txBody>
          <a:bodyPr/>
          <a:lstStyle/>
          <a:p>
            <a:endParaRPr lang="en-SA"/>
          </a:p>
        </p:txBody>
      </p:sp>
      <p:sp>
        <p:nvSpPr>
          <p:cNvPr id="5" name="Text 3"/>
          <p:cNvSpPr/>
          <p:nvPr/>
        </p:nvSpPr>
        <p:spPr>
          <a:xfrm>
            <a:off x="320040" y="1078992"/>
            <a:ext cx="475488" cy="475488"/>
          </a:xfrm>
          <a:prstGeom prst="rect">
            <a:avLst/>
          </a:prstGeom>
          <a:noFill/>
          <a:ln/>
        </p:spPr>
        <p:txBody>
          <a:bodyPr wrap="square" lIns="0" tIns="0" rIns="0" bIns="0" rtlCol="0" anchor="ctr"/>
          <a:lstStyle/>
          <a:p>
            <a:pPr marL="0" indent="0" algn="ctr">
              <a:buNone/>
            </a:pPr>
            <a:r>
              <a:rPr lang="en-US" sz="1400" b="1" dirty="0">
                <a:solidFill>
                  <a:srgbClr val="0F172A"/>
                </a:solidFill>
                <a:latin typeface="Cambria" pitchFamily="34" charset="0"/>
                <a:ea typeface="Cambria" pitchFamily="34" charset="-122"/>
                <a:cs typeface="Cambria" pitchFamily="34" charset="-120"/>
              </a:rPr>
              <a:t>01</a:t>
            </a:r>
            <a:endParaRPr lang="en-US" sz="1400" dirty="0"/>
          </a:p>
        </p:txBody>
      </p:sp>
      <p:sp>
        <p:nvSpPr>
          <p:cNvPr id="6" name="Text 4"/>
          <p:cNvSpPr/>
          <p:nvPr/>
        </p:nvSpPr>
        <p:spPr>
          <a:xfrm>
            <a:off x="960120" y="1078992"/>
            <a:ext cx="7863840" cy="402336"/>
          </a:xfrm>
          <a:prstGeom prst="rect">
            <a:avLst/>
          </a:prstGeom>
          <a:noFill/>
          <a:ln/>
        </p:spPr>
        <p:txBody>
          <a:bodyPr wrap="square" lIns="0" tIns="0" rIns="0" bIns="0" rtlCol="0" anchor="ctr"/>
          <a:lstStyle/>
          <a:p>
            <a:pPr marL="0" indent="0" algn="l">
              <a:buNone/>
            </a:pPr>
            <a:r>
              <a:rPr lang="en-US" sz="1600" b="1" dirty="0">
                <a:solidFill>
                  <a:srgbClr val="C8973E"/>
                </a:solidFill>
                <a:latin typeface="Cambria" pitchFamily="34" charset="0"/>
                <a:ea typeface="Cambria" pitchFamily="34" charset="-122"/>
                <a:cs typeface="Cambria" pitchFamily="34" charset="-120"/>
              </a:rPr>
              <a:t>MAS and Governance</a:t>
            </a:r>
            <a:endParaRPr lang="en-US" sz="1600" dirty="0"/>
          </a:p>
        </p:txBody>
      </p:sp>
      <p:sp>
        <p:nvSpPr>
          <p:cNvPr id="7" name="Text 5"/>
          <p:cNvSpPr/>
          <p:nvPr/>
        </p:nvSpPr>
        <p:spPr>
          <a:xfrm>
            <a:off x="960120" y="1499616"/>
            <a:ext cx="7863840" cy="658368"/>
          </a:xfrm>
          <a:prstGeom prst="rect">
            <a:avLst/>
          </a:prstGeom>
          <a:noFill/>
          <a:ln/>
        </p:spPr>
        <p:txBody>
          <a:bodyPr wrap="square" lIns="0" tIns="0" rIns="0" bIns="0" rtlCol="0" anchor="ctr"/>
          <a:lstStyle/>
          <a:p>
            <a:pPr marL="0" indent="0" algn="l">
              <a:buNone/>
            </a:pPr>
            <a:r>
              <a:rPr lang="en-US" sz="1300" dirty="0" err="1">
                <a:solidFill>
                  <a:srgbClr val="94A3B8"/>
                </a:solidFill>
                <a:latin typeface="Calibri" pitchFamily="34" charset="0"/>
                <a:ea typeface="Calibri" pitchFamily="34" charset="-122"/>
                <a:cs typeface="Calibri" pitchFamily="34" charset="-120"/>
              </a:rPr>
              <a:t>Governance is</a:t>
            </a:r>
            <a:r>
              <a:rPr lang="en-US" sz="1300" dirty="0">
                <a:solidFill>
                  <a:srgbClr val="94A3B8"/>
                </a:solidFill>
                <a:latin typeface="Calibri" pitchFamily="34" charset="0"/>
                <a:ea typeface="Calibri" pitchFamily="34" charset="-122"/>
                <a:cs typeface="Calibri" pitchFamily="34" charset="-120"/>
              </a:rPr>
              <a:t> the "operating system" of MAS —</a:t>
            </a:r>
            <a:r>
              <a:rPr lang="en-US" sz="1300" dirty="0" err="1">
                <a:solidFill>
                  <a:srgbClr val="94A3B8"/>
                </a:solidFill>
                <a:latin typeface="Calibri" pitchFamily="34" charset="0"/>
                <a:ea typeface="Calibri" pitchFamily="34" charset="-122"/>
                <a:cs typeface="Calibri" pitchFamily="34" charset="-120"/>
              </a:rPr>
              <a:t>It defines who can do what, how messages flow, and how decisions are made. The chaos in MAS is fundamentally a governance deficit</a:t>
            </a:r>
            <a:r>
              <a:rPr lang="en-US" sz="1300" dirty="0">
                <a:solidFill>
                  <a:srgbClr val="94A3B8"/>
                </a:solidFill>
                <a:latin typeface="Calibri" pitchFamily="34" charset="0"/>
                <a:ea typeface="Calibri" pitchFamily="34" charset="-122"/>
                <a:cs typeface="Calibri" pitchFamily="34" charset="-120"/>
              </a:rPr>
              <a:t>.</a:t>
            </a:r>
            <a:endParaRPr lang="en-US" sz="1300" dirty="0"/>
          </a:p>
        </p:txBody>
      </p:sp>
      <p:sp>
        <p:nvSpPr>
          <p:cNvPr id="8" name="Shape 6"/>
          <p:cNvSpPr/>
          <p:nvPr/>
        </p:nvSpPr>
        <p:spPr>
          <a:xfrm>
            <a:off x="960120" y="2221992"/>
            <a:ext cx="7863840" cy="9144"/>
          </a:xfrm>
          <a:prstGeom prst="rect">
            <a:avLst/>
          </a:prstGeom>
          <a:solidFill>
            <a:srgbClr val="334155"/>
          </a:solidFill>
          <a:ln w="12700">
            <a:solidFill>
              <a:srgbClr val="334155"/>
            </a:solidFill>
            <a:prstDash val="solid"/>
          </a:ln>
        </p:spPr>
        <p:txBody>
          <a:bodyPr/>
          <a:lstStyle/>
          <a:p>
            <a:endParaRPr lang="en-SA"/>
          </a:p>
        </p:txBody>
      </p:sp>
      <p:sp>
        <p:nvSpPr>
          <p:cNvPr id="9" name="Shape 7"/>
          <p:cNvSpPr/>
          <p:nvPr/>
        </p:nvSpPr>
        <p:spPr>
          <a:xfrm>
            <a:off x="320040" y="2340864"/>
            <a:ext cx="475488" cy="475488"/>
          </a:xfrm>
          <a:prstGeom prst="rect">
            <a:avLst/>
          </a:prstGeom>
          <a:solidFill>
            <a:srgbClr val="C8973E"/>
          </a:solidFill>
          <a:ln w="12700">
            <a:solidFill>
              <a:srgbClr val="C8973E"/>
            </a:solidFill>
            <a:prstDash val="solid"/>
          </a:ln>
        </p:spPr>
        <p:txBody>
          <a:bodyPr/>
          <a:lstStyle/>
          <a:p>
            <a:endParaRPr lang="en-SA"/>
          </a:p>
        </p:txBody>
      </p:sp>
      <p:sp>
        <p:nvSpPr>
          <p:cNvPr id="10" name="Text 8"/>
          <p:cNvSpPr/>
          <p:nvPr/>
        </p:nvSpPr>
        <p:spPr>
          <a:xfrm>
            <a:off x="320040" y="2340864"/>
            <a:ext cx="475488" cy="475488"/>
          </a:xfrm>
          <a:prstGeom prst="rect">
            <a:avLst/>
          </a:prstGeom>
          <a:noFill/>
          <a:ln/>
        </p:spPr>
        <p:txBody>
          <a:bodyPr wrap="square" lIns="0" tIns="0" rIns="0" bIns="0" rtlCol="0" anchor="ctr"/>
          <a:lstStyle/>
          <a:p>
            <a:pPr marL="0" indent="0" algn="ctr">
              <a:buNone/>
            </a:pPr>
            <a:r>
              <a:rPr lang="en-US" sz="1400" b="1" dirty="0">
                <a:solidFill>
                  <a:srgbClr val="0F172A"/>
                </a:solidFill>
                <a:latin typeface="Cambria" pitchFamily="34" charset="0"/>
                <a:ea typeface="Cambria" pitchFamily="34" charset="-122"/>
                <a:cs typeface="Cambria" pitchFamily="34" charset="-120"/>
              </a:rPr>
              <a:t>02</a:t>
            </a:r>
            <a:endParaRPr lang="en-US" sz="1400" dirty="0"/>
          </a:p>
        </p:txBody>
      </p:sp>
      <p:sp>
        <p:nvSpPr>
          <p:cNvPr id="11" name="Text 9"/>
          <p:cNvSpPr/>
          <p:nvPr/>
        </p:nvSpPr>
        <p:spPr>
          <a:xfrm>
            <a:off x="960120" y="2340864"/>
            <a:ext cx="7863840" cy="402336"/>
          </a:xfrm>
          <a:prstGeom prst="rect">
            <a:avLst/>
          </a:prstGeom>
          <a:noFill/>
          <a:ln/>
        </p:spPr>
        <p:txBody>
          <a:bodyPr wrap="square" lIns="0" tIns="0" rIns="0" bIns="0" rtlCol="0" anchor="ctr"/>
          <a:lstStyle/>
          <a:p>
            <a:pPr marL="0" indent="0" algn="l">
              <a:buNone/>
            </a:pPr>
            <a:r>
              <a:rPr lang="en-US" sz="1600" b="1" dirty="0">
                <a:solidFill>
                  <a:srgbClr val="C8973E"/>
                </a:solidFill>
                <a:latin typeface="Cambria" pitchFamily="34" charset="0"/>
                <a:ea typeface="Cambria" pitchFamily="34" charset="-122"/>
                <a:cs typeface="Cambria" pitchFamily="34" charset="-120"/>
              </a:rPr>
              <a:t>Do Agents Need Ordered Governance?</a:t>
            </a:r>
            <a:endParaRPr lang="en-US" sz="1600" dirty="0"/>
          </a:p>
        </p:txBody>
      </p:sp>
      <p:sp>
        <p:nvSpPr>
          <p:cNvPr id="12" name="Text 10"/>
          <p:cNvSpPr/>
          <p:nvPr/>
        </p:nvSpPr>
        <p:spPr>
          <a:xfrm>
            <a:off x="960120" y="2761488"/>
            <a:ext cx="7863840" cy="658368"/>
          </a:xfrm>
          <a:prstGeom prst="rect">
            <a:avLst/>
          </a:prstGeom>
          <a:noFill/>
          <a:ln/>
        </p:spPr>
        <p:txBody>
          <a:bodyPr wrap="square" lIns="0" tIns="0" rIns="0" bIns="0" rtlCol="0" anchor="ctr"/>
          <a:lstStyle/>
          <a:p>
            <a:pPr marL="0" indent="0" algn="l">
              <a:buNone/>
            </a:pPr>
            <a:r>
              <a:rPr lang="en-US" sz="1300" dirty="0">
                <a:solidFill>
                  <a:srgbClr val="94A3B8"/>
                </a:solidFill>
                <a:latin typeface="Calibri" pitchFamily="34" charset="0"/>
                <a:ea typeface="Calibri" pitchFamily="34" charset="-122"/>
                <a:cs typeface="Calibri" pitchFamily="34" charset="-120"/>
              </a:rPr>
              <a:t>The experiment gives a clear answer: ordered command chains (Mongol Empire 97.8 pts) far outperform disordered consensus (Athenian Democracy 68.4 </a:t>
            </a:r>
            <a:r>
              <a:rPr lang="en-US" sz="1300" dirty="0" err="1">
                <a:solidFill>
                  <a:srgbClr val="94A3B8"/>
                </a:solidFill>
                <a:latin typeface="Calibri" pitchFamily="34" charset="0"/>
                <a:ea typeface="Calibri" pitchFamily="34" charset="-122"/>
                <a:cs typeface="Calibri" pitchFamily="34" charset="-120"/>
              </a:rPr>
              <a:t>pts</a:t>
            </a:r>
            <a:r>
              <a:rPr lang="en-US" sz="1300" dirty="0">
                <a:solidFill>
                  <a:srgbClr val="94A3B8"/>
                </a:solidFill>
                <a:latin typeface="Calibri" pitchFamily="34" charset="0"/>
                <a:ea typeface="Calibri" pitchFamily="34" charset="-122"/>
                <a:cs typeface="Calibri" pitchFamily="34" charset="-120"/>
              </a:rPr>
              <a:t>).</a:t>
            </a:r>
            <a:r>
              <a:rPr lang="en-US" sz="1300" dirty="0" err="1">
                <a:solidFill>
                  <a:srgbClr val="94A3B8"/>
                </a:solidFill>
                <a:latin typeface="Calibri" pitchFamily="34" charset="0"/>
                <a:ea typeface="Calibri" pitchFamily="34" charset="-122"/>
                <a:cs typeface="Calibri" pitchFamily="34" charset="-120"/>
              </a:rPr>
              <a:t>Ordered MAS topology significantly improves quality</a:t>
            </a:r>
            <a:r>
              <a:rPr lang="en-US" sz="1300" dirty="0">
                <a:solidFill>
                  <a:srgbClr val="94A3B8"/>
                </a:solidFill>
                <a:latin typeface="Calibri" pitchFamily="34" charset="0"/>
                <a:ea typeface="Calibri" pitchFamily="34" charset="-122"/>
                <a:cs typeface="Calibri" pitchFamily="34" charset="-120"/>
              </a:rPr>
              <a:t>.</a:t>
            </a:r>
            <a:endParaRPr lang="en-US" sz="1300" dirty="0"/>
          </a:p>
        </p:txBody>
      </p:sp>
      <p:sp>
        <p:nvSpPr>
          <p:cNvPr id="13" name="Shape 11"/>
          <p:cNvSpPr/>
          <p:nvPr/>
        </p:nvSpPr>
        <p:spPr>
          <a:xfrm>
            <a:off x="960120" y="3483864"/>
            <a:ext cx="7863840" cy="9144"/>
          </a:xfrm>
          <a:prstGeom prst="rect">
            <a:avLst/>
          </a:prstGeom>
          <a:solidFill>
            <a:srgbClr val="334155"/>
          </a:solidFill>
          <a:ln w="12700">
            <a:solidFill>
              <a:srgbClr val="334155"/>
            </a:solidFill>
            <a:prstDash val="solid"/>
          </a:ln>
        </p:spPr>
        <p:txBody>
          <a:bodyPr/>
          <a:lstStyle/>
          <a:p>
            <a:endParaRPr lang="en-SA"/>
          </a:p>
        </p:txBody>
      </p:sp>
      <p:sp>
        <p:nvSpPr>
          <p:cNvPr id="14" name="Shape 12"/>
          <p:cNvSpPr/>
          <p:nvPr/>
        </p:nvSpPr>
        <p:spPr>
          <a:xfrm>
            <a:off x="320040" y="3602736"/>
            <a:ext cx="475488" cy="475488"/>
          </a:xfrm>
          <a:prstGeom prst="rect">
            <a:avLst/>
          </a:prstGeom>
          <a:solidFill>
            <a:srgbClr val="C8973E"/>
          </a:solidFill>
          <a:ln w="12700">
            <a:solidFill>
              <a:srgbClr val="C8973E"/>
            </a:solidFill>
            <a:prstDash val="solid"/>
          </a:ln>
        </p:spPr>
        <p:txBody>
          <a:bodyPr/>
          <a:lstStyle/>
          <a:p>
            <a:endParaRPr lang="en-SA"/>
          </a:p>
        </p:txBody>
      </p:sp>
      <p:sp>
        <p:nvSpPr>
          <p:cNvPr id="15" name="Text 13"/>
          <p:cNvSpPr/>
          <p:nvPr/>
        </p:nvSpPr>
        <p:spPr>
          <a:xfrm>
            <a:off x="320040" y="3602736"/>
            <a:ext cx="475488" cy="475488"/>
          </a:xfrm>
          <a:prstGeom prst="rect">
            <a:avLst/>
          </a:prstGeom>
          <a:noFill/>
          <a:ln/>
        </p:spPr>
        <p:txBody>
          <a:bodyPr wrap="square" lIns="0" tIns="0" rIns="0" bIns="0" rtlCol="0" anchor="ctr"/>
          <a:lstStyle/>
          <a:p>
            <a:pPr marL="0" indent="0" algn="ctr">
              <a:buNone/>
            </a:pPr>
            <a:r>
              <a:rPr lang="en-US" sz="1400" b="1" dirty="0">
                <a:solidFill>
                  <a:srgbClr val="0F172A"/>
                </a:solidFill>
                <a:latin typeface="Cambria" pitchFamily="34" charset="0"/>
                <a:ea typeface="Cambria" pitchFamily="34" charset="-122"/>
                <a:cs typeface="Cambria" pitchFamily="34" charset="-120"/>
              </a:rPr>
              <a:t>03</a:t>
            </a:r>
            <a:endParaRPr lang="en-US" sz="1400" dirty="0"/>
          </a:p>
        </p:txBody>
      </p:sp>
      <p:sp>
        <p:nvSpPr>
          <p:cNvPr id="16" name="Text 14"/>
          <p:cNvSpPr/>
          <p:nvPr/>
        </p:nvSpPr>
        <p:spPr>
          <a:xfrm>
            <a:off x="960120" y="3602736"/>
            <a:ext cx="7863840" cy="402336"/>
          </a:xfrm>
          <a:prstGeom prst="rect">
            <a:avLst/>
          </a:prstGeom>
          <a:noFill/>
          <a:ln/>
        </p:spPr>
        <p:txBody>
          <a:bodyPr wrap="square" lIns="0" tIns="0" rIns="0" bIns="0" rtlCol="0" anchor="ctr"/>
          <a:lstStyle/>
          <a:p>
            <a:pPr marL="0" indent="0" algn="l">
              <a:buNone/>
            </a:pPr>
            <a:r>
              <a:rPr lang="en-US" sz="1600" b="1" dirty="0">
                <a:solidFill>
                  <a:srgbClr val="C8973E"/>
                </a:solidFill>
                <a:latin typeface="Cambria" pitchFamily="34" charset="0"/>
                <a:ea typeface="Cambria" pitchFamily="34" charset="-122"/>
                <a:cs typeface="Cambria" pitchFamily="34" charset="-120"/>
              </a:rPr>
              <a:t>Borrow Answers from Historical Systems</a:t>
            </a:r>
            <a:endParaRPr lang="en-US" sz="1600" dirty="0"/>
          </a:p>
        </p:txBody>
      </p:sp>
      <p:sp>
        <p:nvSpPr>
          <p:cNvPr id="17" name="Text 15"/>
          <p:cNvSpPr/>
          <p:nvPr/>
        </p:nvSpPr>
        <p:spPr>
          <a:xfrm>
            <a:off x="960120" y="4023360"/>
            <a:ext cx="7863840" cy="658368"/>
          </a:xfrm>
          <a:prstGeom prst="rect">
            <a:avLst/>
          </a:prstGeom>
          <a:noFill/>
          <a:ln/>
        </p:spPr>
        <p:txBody>
          <a:bodyPr wrap="square" lIns="0" tIns="0" rIns="0" bIns="0" rtlCol="0" anchor="ctr"/>
          <a:lstStyle/>
          <a:p>
            <a:pPr marL="0" indent="0" algn="l">
              <a:buNone/>
            </a:pPr>
            <a:r>
              <a:rPr lang="en-US" sz="1300" dirty="0">
                <a:solidFill>
                  <a:srgbClr val="94A3B8"/>
                </a:solidFill>
                <a:latin typeface="Calibri" pitchFamily="34" charset="0"/>
                <a:ea typeface="Calibri" pitchFamily="34" charset="-122"/>
                <a:cs typeface="Calibri" pitchFamily="34" charset="-120"/>
              </a:rPr>
              <a:t>Military command chains, Tang three-chancellery, separation of powers, parliamentary consensus... Multi-agent collaboration solutions iterated over millennia are exactly what we need.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8F5E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973E"/>
          </a:solidFill>
          <a:ln w="12700">
            <a:solidFill>
              <a:srgbClr val="C8973E"/>
            </a:solidFill>
            <a:prstDash val="solid"/>
          </a:ln>
        </p:spPr>
        <p:txBody>
          <a:bodyPr/>
          <a:lstStyle/>
          <a:p>
            <a:endParaRPr lang="en-SA"/>
          </a:p>
        </p:txBody>
      </p:sp>
      <p:sp>
        <p:nvSpPr>
          <p:cNvPr id="3" name="Text 1"/>
          <p:cNvSpPr/>
          <p:nvPr/>
        </p:nvSpPr>
        <p:spPr>
          <a:xfrm>
            <a:off x="457200" y="182880"/>
            <a:ext cx="8229600" cy="566928"/>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Unified Abstraction: Pattern + Feature</a:t>
            </a:r>
            <a:endParaRPr lang="en-US" sz="2600" dirty="0"/>
          </a:p>
        </p:txBody>
      </p:sp>
      <p:sp>
        <p:nvSpPr>
          <p:cNvPr id="4" name="Shape 2"/>
          <p:cNvSpPr/>
          <p:nvPr/>
        </p:nvSpPr>
        <p:spPr>
          <a:xfrm>
            <a:off x="457200" y="804672"/>
            <a:ext cx="8229600" cy="13716"/>
          </a:xfrm>
          <a:prstGeom prst="rect">
            <a:avLst/>
          </a:prstGeom>
          <a:solidFill>
            <a:srgbClr val="EAE5D8"/>
          </a:solidFill>
          <a:ln w="12700">
            <a:solidFill>
              <a:srgbClr val="EAE5D8"/>
            </a:solidFill>
            <a:prstDash val="solid"/>
          </a:ln>
        </p:spPr>
        <p:txBody>
          <a:bodyPr/>
          <a:lstStyle/>
          <a:p>
            <a:endParaRPr lang="en-SA"/>
          </a:p>
        </p:txBody>
      </p:sp>
      <p:sp>
        <p:nvSpPr>
          <p:cNvPr id="5" name="Text 3"/>
          <p:cNvSpPr/>
          <p:nvPr/>
        </p:nvSpPr>
        <p:spPr>
          <a:xfrm>
            <a:off x="457200" y="932688"/>
            <a:ext cx="5486400" cy="274320"/>
          </a:xfrm>
          <a:prstGeom prst="rect">
            <a:avLst/>
          </a:prstGeom>
          <a:noFill/>
          <a:ln/>
        </p:spPr>
        <p:txBody>
          <a:bodyPr wrap="square" lIns="0" tIns="0" rIns="0" bIns="0" rtlCol="0" anchor="ctr"/>
          <a:lstStyle/>
          <a:p>
            <a:pPr marL="0" indent="0" algn="l">
              <a:buNone/>
            </a:pPr>
            <a:r>
              <a:rPr lang="en-US" sz="1100" b="1" dirty="0">
                <a:solidFill>
                  <a:srgbClr val="64748B"/>
                </a:solidFill>
                <a:latin typeface="Calibri" pitchFamily="34" charset="0"/>
                <a:ea typeface="Calibri" pitchFamily="34" charset="-122"/>
                <a:cs typeface="Calibri" pitchFamily="34" charset="-120"/>
              </a:rPr>
              <a:t>PATTERN  ·  4 Topology Types</a:t>
            </a:r>
            <a:endParaRPr lang="en-US" sz="1100" dirty="0"/>
          </a:p>
        </p:txBody>
      </p:sp>
      <p:sp>
        <p:nvSpPr>
          <p:cNvPr id="6" name="Shape 4"/>
          <p:cNvSpPr/>
          <p:nvPr/>
        </p:nvSpPr>
        <p:spPr>
          <a:xfrm>
            <a:off x="457200" y="1243584"/>
            <a:ext cx="1920240" cy="1371600"/>
          </a:xfrm>
          <a:prstGeom prst="rect">
            <a:avLst/>
          </a:prstGeom>
          <a:solidFill>
            <a:srgbClr val="0F172A"/>
          </a:solidFill>
          <a:ln w="12700">
            <a:solidFill>
              <a:srgbClr val="0F172A"/>
            </a:solidFill>
            <a:prstDash val="solid"/>
          </a:ln>
          <a:effectLst>
            <a:outerShdw blurRad="101600" dist="38100" dir="8100000" algn="bl" rotWithShape="0">
              <a:srgbClr val="000000">
                <a:alpha val="13000"/>
              </a:srgbClr>
            </a:outerShdw>
          </a:effectLst>
        </p:spPr>
        <p:txBody>
          <a:bodyPr/>
          <a:lstStyle/>
          <a:p>
            <a:endParaRPr lang="en-SA"/>
          </a:p>
        </p:txBody>
      </p:sp>
      <p:sp>
        <p:nvSpPr>
          <p:cNvPr id="7" name="Text 5"/>
          <p:cNvSpPr/>
          <p:nvPr/>
        </p:nvSpPr>
        <p:spPr>
          <a:xfrm>
            <a:off x="566928" y="1335024"/>
            <a:ext cx="1700784" cy="347472"/>
          </a:xfrm>
          <a:prstGeom prst="rect">
            <a:avLst/>
          </a:prstGeom>
          <a:noFill/>
          <a:ln/>
        </p:spPr>
        <p:txBody>
          <a:bodyPr wrap="square" lIns="0" tIns="0" rIns="0" bIns="0" rtlCol="0" anchor="ctr"/>
          <a:lstStyle/>
          <a:p>
            <a:pPr marL="0" indent="0" algn="l">
              <a:buNone/>
            </a:pPr>
            <a:r>
              <a:rPr lang="en-US" sz="1200" b="1" dirty="0">
                <a:solidFill>
                  <a:srgbClr val="C8973E"/>
                </a:solidFill>
                <a:latin typeface="Cambria" pitchFamily="34" charset="0"/>
                <a:ea typeface="Cambria" pitchFamily="34" charset="-122"/>
                <a:cs typeface="Cambria" pitchFamily="34" charset="-120"/>
              </a:rPr>
              <a:t>Pipeline</a:t>
            </a:r>
            <a:endParaRPr lang="en-US" sz="1200" dirty="0"/>
          </a:p>
        </p:txBody>
      </p:sp>
      <p:sp>
        <p:nvSpPr>
          <p:cNvPr id="8" name="Text 6"/>
          <p:cNvSpPr/>
          <p:nvPr/>
        </p:nvSpPr>
        <p:spPr>
          <a:xfrm>
            <a:off x="566928" y="1700784"/>
            <a:ext cx="1700784" cy="274320"/>
          </a:xfrm>
          <a:prstGeom prst="rect">
            <a:avLst/>
          </a:prstGeom>
          <a:noFill/>
          <a:ln/>
        </p:spPr>
        <p:txBody>
          <a:bodyPr wrap="square" lIns="0" tIns="0" rIns="0" bIns="0" rtlCol="0" anchor="ctr"/>
          <a:lstStyle/>
          <a:p>
            <a:pPr marL="0" indent="0" algn="l">
              <a:buNone/>
            </a:pPr>
            <a:r>
              <a:rPr lang="en-US" sz="1200" dirty="0">
                <a:solidFill>
                  <a:srgbClr val="F1EDE5"/>
                </a:solidFill>
                <a:latin typeface="Calibri" pitchFamily="34" charset="0"/>
                <a:ea typeface="Calibri" pitchFamily="34" charset="-122"/>
                <a:cs typeface="Calibri" pitchFamily="34" charset="-120"/>
              </a:rPr>
              <a:t>Pipeline</a:t>
            </a:r>
            <a:endParaRPr lang="en-US" sz="1200" dirty="0"/>
          </a:p>
        </p:txBody>
      </p:sp>
      <p:sp>
        <p:nvSpPr>
          <p:cNvPr id="9" name="Text 7"/>
          <p:cNvSpPr/>
          <p:nvPr/>
        </p:nvSpPr>
        <p:spPr>
          <a:xfrm>
            <a:off x="566928" y="2002536"/>
            <a:ext cx="1700784" cy="530352"/>
          </a:xfrm>
          <a:prstGeom prst="rect">
            <a:avLst/>
          </a:prstGeom>
          <a:noFill/>
          <a:ln/>
        </p:spPr>
        <p:txBody>
          <a:bodyPr wrap="square" lIns="0" tIns="0" rIns="0" bIns="0"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Chain instruction passing</a:t>
            </a:r>
            <a:endParaRPr lang="en-US" sz="1100" dirty="0"/>
          </a:p>
          <a:p>
            <a:pPr marL="0" indent="0" algn="l">
              <a:buNone/>
            </a:pPr>
            <a:r>
              <a:rPr lang="en-US" sz="1100" dirty="0">
                <a:solidFill>
                  <a:srgbClr val="94A3B8"/>
                </a:solidFill>
                <a:latin typeface="Calibri" pitchFamily="34" charset="0"/>
                <a:ea typeface="Calibri" pitchFamily="34" charset="-122"/>
                <a:cs typeface="Calibri" pitchFamily="34" charset="-120"/>
              </a:rPr>
              <a:t>No gatekeeping, direct to end node</a:t>
            </a:r>
            <a:endParaRPr lang="en-US" sz="1100" dirty="0"/>
          </a:p>
        </p:txBody>
      </p:sp>
      <p:sp>
        <p:nvSpPr>
          <p:cNvPr id="10" name="Shape 8"/>
          <p:cNvSpPr/>
          <p:nvPr/>
        </p:nvSpPr>
        <p:spPr>
          <a:xfrm>
            <a:off x="2487168" y="1243584"/>
            <a:ext cx="1920240" cy="1371600"/>
          </a:xfrm>
          <a:prstGeom prst="rect">
            <a:avLst/>
          </a:prstGeom>
          <a:solidFill>
            <a:srgbClr val="1E293B"/>
          </a:solidFill>
          <a:ln w="12700">
            <a:solidFill>
              <a:srgbClr val="1E293B"/>
            </a:solidFill>
            <a:prstDash val="solid"/>
          </a:ln>
          <a:effectLst>
            <a:outerShdw blurRad="101600" dist="38100" dir="8100000" algn="bl" rotWithShape="0">
              <a:srgbClr val="000000">
                <a:alpha val="13000"/>
              </a:srgbClr>
            </a:outerShdw>
          </a:effectLst>
        </p:spPr>
        <p:txBody>
          <a:bodyPr/>
          <a:lstStyle/>
          <a:p>
            <a:endParaRPr lang="en-SA"/>
          </a:p>
        </p:txBody>
      </p:sp>
      <p:sp>
        <p:nvSpPr>
          <p:cNvPr id="11" name="Text 9"/>
          <p:cNvSpPr/>
          <p:nvPr/>
        </p:nvSpPr>
        <p:spPr>
          <a:xfrm>
            <a:off x="2596896" y="1335024"/>
            <a:ext cx="1700784" cy="347472"/>
          </a:xfrm>
          <a:prstGeom prst="rect">
            <a:avLst/>
          </a:prstGeom>
          <a:noFill/>
          <a:ln/>
        </p:spPr>
        <p:txBody>
          <a:bodyPr wrap="square" lIns="0" tIns="0" rIns="0" bIns="0" rtlCol="0" anchor="ctr"/>
          <a:lstStyle/>
          <a:p>
            <a:pPr marL="0" indent="0" algn="l">
              <a:buNone/>
            </a:pPr>
            <a:r>
              <a:rPr lang="en-US" sz="1200" b="1" dirty="0">
                <a:solidFill>
                  <a:srgbClr val="C8973E"/>
                </a:solidFill>
                <a:latin typeface="Cambria" pitchFamily="34" charset="0"/>
                <a:ea typeface="Cambria" pitchFamily="34" charset="-122"/>
                <a:cs typeface="Cambria" pitchFamily="34" charset="-120"/>
              </a:rPr>
              <a:t>Gated Pipeline</a:t>
            </a:r>
            <a:endParaRPr lang="en-US" sz="1200" dirty="0"/>
          </a:p>
        </p:txBody>
      </p:sp>
      <p:sp>
        <p:nvSpPr>
          <p:cNvPr id="12" name="Text 10"/>
          <p:cNvSpPr/>
          <p:nvPr/>
        </p:nvSpPr>
        <p:spPr>
          <a:xfrm>
            <a:off x="2596896" y="1700784"/>
            <a:ext cx="1700784" cy="274320"/>
          </a:xfrm>
          <a:prstGeom prst="rect">
            <a:avLst/>
          </a:prstGeom>
          <a:noFill/>
          <a:ln/>
        </p:spPr>
        <p:txBody>
          <a:bodyPr wrap="square" lIns="0" tIns="0" rIns="0" bIns="0" rtlCol="0" anchor="ctr"/>
          <a:lstStyle/>
          <a:p>
            <a:pPr marL="0" indent="0" algn="l">
              <a:buNone/>
            </a:pPr>
            <a:r>
              <a:rPr lang="en-US" sz="1200" dirty="0">
                <a:solidFill>
                  <a:srgbClr val="F1EDE5"/>
                </a:solidFill>
                <a:latin typeface="Calibri" pitchFamily="34" charset="0"/>
                <a:ea typeface="Calibri" pitchFamily="34" charset="-122"/>
                <a:cs typeface="Calibri" pitchFamily="34" charset="-120"/>
              </a:rPr>
              <a:t>Gated Pipeline</a:t>
            </a:r>
            <a:endParaRPr lang="en-US" sz="1200" dirty="0"/>
          </a:p>
        </p:txBody>
      </p:sp>
      <p:sp>
        <p:nvSpPr>
          <p:cNvPr id="13" name="Text 11"/>
          <p:cNvSpPr/>
          <p:nvPr/>
        </p:nvSpPr>
        <p:spPr>
          <a:xfrm>
            <a:off x="2596896" y="2002536"/>
            <a:ext cx="1700784" cy="530352"/>
          </a:xfrm>
          <a:prstGeom prst="rect">
            <a:avLst/>
          </a:prstGeom>
          <a:noFill/>
          <a:ln/>
        </p:spPr>
        <p:txBody>
          <a:bodyPr wrap="square" lIns="0" tIns="0" rIns="0" bIns="0"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Key nodes require approval</a:t>
            </a:r>
            <a:endParaRPr lang="en-US" sz="1100" dirty="0"/>
          </a:p>
          <a:p>
            <a:pPr marL="0" indent="0" algn="l">
              <a:buNone/>
            </a:pPr>
            <a:r>
              <a:rPr lang="en-US" sz="1100" dirty="0">
                <a:solidFill>
                  <a:srgbClr val="94A3B8"/>
                </a:solidFill>
                <a:latin typeface="Calibri" pitchFamily="34" charset="0"/>
                <a:ea typeface="Calibri" pitchFamily="34" charset="-122"/>
                <a:cs typeface="Calibri" pitchFamily="34" charset="-120"/>
              </a:rPr>
              <a:t>Must pass to continue</a:t>
            </a:r>
            <a:endParaRPr lang="en-US" sz="1100" dirty="0"/>
          </a:p>
        </p:txBody>
      </p:sp>
      <p:sp>
        <p:nvSpPr>
          <p:cNvPr id="14" name="Shape 12"/>
          <p:cNvSpPr/>
          <p:nvPr/>
        </p:nvSpPr>
        <p:spPr>
          <a:xfrm>
            <a:off x="4517136" y="1243584"/>
            <a:ext cx="1920240" cy="1371600"/>
          </a:xfrm>
          <a:prstGeom prst="rect">
            <a:avLst/>
          </a:prstGeom>
          <a:solidFill>
            <a:srgbClr val="334155"/>
          </a:solidFill>
          <a:ln w="12700">
            <a:solidFill>
              <a:srgbClr val="334155"/>
            </a:solidFill>
            <a:prstDash val="solid"/>
          </a:ln>
          <a:effectLst>
            <a:outerShdw blurRad="101600" dist="38100" dir="8100000" algn="bl" rotWithShape="0">
              <a:srgbClr val="000000">
                <a:alpha val="13000"/>
              </a:srgbClr>
            </a:outerShdw>
          </a:effectLst>
        </p:spPr>
        <p:txBody>
          <a:bodyPr/>
          <a:lstStyle/>
          <a:p>
            <a:endParaRPr lang="en-SA"/>
          </a:p>
        </p:txBody>
      </p:sp>
      <p:sp>
        <p:nvSpPr>
          <p:cNvPr id="15" name="Text 13"/>
          <p:cNvSpPr/>
          <p:nvPr/>
        </p:nvSpPr>
        <p:spPr>
          <a:xfrm>
            <a:off x="4626864" y="1335024"/>
            <a:ext cx="1700784" cy="347472"/>
          </a:xfrm>
          <a:prstGeom prst="rect">
            <a:avLst/>
          </a:prstGeom>
          <a:noFill/>
          <a:ln/>
        </p:spPr>
        <p:txBody>
          <a:bodyPr wrap="square" lIns="0" tIns="0" rIns="0" bIns="0" rtlCol="0" anchor="ctr"/>
          <a:lstStyle/>
          <a:p>
            <a:pPr marL="0" indent="0" algn="l">
              <a:buNone/>
            </a:pPr>
            <a:r>
              <a:rPr lang="en-US" sz="1200" b="1" dirty="0">
                <a:solidFill>
                  <a:srgbClr val="C8973E"/>
                </a:solidFill>
                <a:latin typeface="Cambria" pitchFamily="34" charset="0"/>
                <a:ea typeface="Cambria" pitchFamily="34" charset="-122"/>
                <a:cs typeface="Cambria" pitchFamily="34" charset="-120"/>
              </a:rPr>
              <a:t>Autonomous Cluster</a:t>
            </a:r>
            <a:endParaRPr lang="en-US" sz="1200" dirty="0"/>
          </a:p>
        </p:txBody>
      </p:sp>
      <p:sp>
        <p:nvSpPr>
          <p:cNvPr id="16" name="Text 14"/>
          <p:cNvSpPr/>
          <p:nvPr/>
        </p:nvSpPr>
        <p:spPr>
          <a:xfrm>
            <a:off x="4626864" y="1700784"/>
            <a:ext cx="1700784" cy="274320"/>
          </a:xfrm>
          <a:prstGeom prst="rect">
            <a:avLst/>
          </a:prstGeom>
          <a:noFill/>
          <a:ln/>
        </p:spPr>
        <p:txBody>
          <a:bodyPr wrap="square" lIns="0" tIns="0" rIns="0" bIns="0" rtlCol="0" anchor="ctr"/>
          <a:lstStyle/>
          <a:p>
            <a:pPr marL="0" indent="0" algn="l">
              <a:buNone/>
            </a:pPr>
            <a:r>
              <a:rPr lang="en-US" sz="1200" dirty="0">
                <a:solidFill>
                  <a:srgbClr val="F1EDE5"/>
                </a:solidFill>
                <a:latin typeface="Calibri" pitchFamily="34" charset="0"/>
                <a:ea typeface="Calibri" pitchFamily="34" charset="-122"/>
                <a:cs typeface="Calibri" pitchFamily="34" charset="-120"/>
              </a:rPr>
              <a:t>Autonomous Cluster</a:t>
            </a:r>
            <a:endParaRPr lang="en-US" sz="1200" dirty="0"/>
          </a:p>
        </p:txBody>
      </p:sp>
      <p:sp>
        <p:nvSpPr>
          <p:cNvPr id="17" name="Text 15"/>
          <p:cNvSpPr/>
          <p:nvPr/>
        </p:nvSpPr>
        <p:spPr>
          <a:xfrm>
            <a:off x="4626864" y="2002536"/>
            <a:ext cx="1700784" cy="530352"/>
          </a:xfrm>
          <a:prstGeom prst="rect">
            <a:avLst/>
          </a:prstGeom>
          <a:noFill/>
          <a:ln/>
        </p:spPr>
        <p:txBody>
          <a:bodyPr wrap="square" lIns="0" tIns="0" rIns="0" bIns="0" rtlCol="0" anchor="ctr"/>
          <a:lstStyle/>
          <a:p>
            <a:pPr marL="0" indent="0" algn="l">
              <a:buNone/>
            </a:pPr>
            <a:r>
              <a:rPr lang="zh-CN" altLang="en-US" sz="1100" dirty="0">
                <a:solidFill>
                  <a:srgbClr val="94A3B8"/>
                </a:solidFill>
                <a:latin typeface="Calibri" pitchFamily="34" charset="0"/>
                <a:ea typeface="Calibri" pitchFamily="34" charset="-122"/>
                <a:cs typeface="Calibri" pitchFamily="34" charset="-120"/>
              </a:rPr>
              <a:t>Sub-system closed-loop, autonomous</a:t>
            </a:r>
            <a:endParaRPr lang="en-US" sz="1100" dirty="0"/>
          </a:p>
        </p:txBody>
      </p:sp>
      <p:sp>
        <p:nvSpPr>
          <p:cNvPr id="18" name="Shape 16"/>
          <p:cNvSpPr/>
          <p:nvPr/>
        </p:nvSpPr>
        <p:spPr>
          <a:xfrm>
            <a:off x="6547104" y="1243584"/>
            <a:ext cx="1920240" cy="1371600"/>
          </a:xfrm>
          <a:prstGeom prst="rect">
            <a:avLst/>
          </a:prstGeom>
          <a:solidFill>
            <a:srgbClr val="64748B"/>
          </a:solidFill>
          <a:ln w="12700">
            <a:solidFill>
              <a:srgbClr val="64748B"/>
            </a:solidFill>
            <a:prstDash val="solid"/>
          </a:ln>
          <a:effectLst>
            <a:outerShdw blurRad="101600" dist="38100" dir="8100000" algn="bl" rotWithShape="0">
              <a:srgbClr val="000000">
                <a:alpha val="13000"/>
              </a:srgbClr>
            </a:outerShdw>
          </a:effectLst>
        </p:spPr>
        <p:txBody>
          <a:bodyPr/>
          <a:lstStyle/>
          <a:p>
            <a:endParaRPr lang="en-SA"/>
          </a:p>
        </p:txBody>
      </p:sp>
      <p:sp>
        <p:nvSpPr>
          <p:cNvPr id="19" name="Text 17"/>
          <p:cNvSpPr/>
          <p:nvPr/>
        </p:nvSpPr>
        <p:spPr>
          <a:xfrm>
            <a:off x="6656832" y="1335024"/>
            <a:ext cx="1700784" cy="347472"/>
          </a:xfrm>
          <a:prstGeom prst="rect">
            <a:avLst/>
          </a:prstGeom>
          <a:noFill/>
          <a:ln/>
        </p:spPr>
        <p:txBody>
          <a:bodyPr wrap="square" lIns="0" tIns="0" rIns="0" bIns="0" rtlCol="0" anchor="ctr"/>
          <a:lstStyle/>
          <a:p>
            <a:pPr marL="0" indent="0" algn="l">
              <a:buNone/>
            </a:pPr>
            <a:r>
              <a:rPr lang="en-US" sz="1200" b="1" dirty="0">
                <a:solidFill>
                  <a:srgbClr val="C8973E"/>
                </a:solidFill>
                <a:latin typeface="Cambria" pitchFamily="34" charset="0"/>
                <a:ea typeface="Cambria" pitchFamily="34" charset="-122"/>
                <a:cs typeface="Cambria" pitchFamily="34" charset="-120"/>
              </a:rPr>
              <a:t>Consensus</a:t>
            </a:r>
            <a:endParaRPr lang="en-US" sz="1200" dirty="0"/>
          </a:p>
        </p:txBody>
      </p:sp>
      <p:sp>
        <p:nvSpPr>
          <p:cNvPr id="20" name="Text 18"/>
          <p:cNvSpPr/>
          <p:nvPr/>
        </p:nvSpPr>
        <p:spPr>
          <a:xfrm>
            <a:off x="6656832" y="1700784"/>
            <a:ext cx="1700784" cy="274320"/>
          </a:xfrm>
          <a:prstGeom prst="rect">
            <a:avLst/>
          </a:prstGeom>
          <a:noFill/>
          <a:ln/>
        </p:spPr>
        <p:txBody>
          <a:bodyPr wrap="square" lIns="0" tIns="0" rIns="0" bIns="0" rtlCol="0" anchor="ctr"/>
          <a:lstStyle/>
          <a:p>
            <a:pPr marL="0" indent="0" algn="l">
              <a:buNone/>
            </a:pPr>
            <a:r>
              <a:rPr lang="en-US" sz="1200" dirty="0">
                <a:solidFill>
                  <a:srgbClr val="F1EDE5"/>
                </a:solidFill>
                <a:latin typeface="Calibri" pitchFamily="34" charset="0"/>
                <a:ea typeface="Calibri" pitchFamily="34" charset="-122"/>
                <a:cs typeface="Calibri" pitchFamily="34" charset="-120"/>
              </a:rPr>
              <a:t>Consensus</a:t>
            </a:r>
            <a:endParaRPr lang="en-US" sz="1200" dirty="0"/>
          </a:p>
        </p:txBody>
      </p:sp>
      <p:sp>
        <p:nvSpPr>
          <p:cNvPr id="21" name="Text 19"/>
          <p:cNvSpPr/>
          <p:nvPr/>
        </p:nvSpPr>
        <p:spPr>
          <a:xfrm>
            <a:off x="6656832" y="2002536"/>
            <a:ext cx="1700784" cy="530352"/>
          </a:xfrm>
          <a:prstGeom prst="rect">
            <a:avLst/>
          </a:prstGeom>
          <a:noFill/>
          <a:ln/>
        </p:spPr>
        <p:txBody>
          <a:bodyPr wrap="square" lIns="0" tIns="0" rIns="0" bIns="0" rtlCol="0" anchor="ctr"/>
          <a:lstStyle/>
          <a:p>
            <a:pPr marL="0" indent="0" algn="l">
              <a:buNone/>
            </a:pPr>
            <a:r>
              <a:rPr lang="zh-CN" altLang="en-US" sz="1100" dirty="0">
                <a:solidFill>
                  <a:srgbClr val="94A3B8"/>
                </a:solidFill>
                <a:latin typeface="Calibri" pitchFamily="34" charset="0"/>
                <a:ea typeface="Calibri" pitchFamily="34" charset="-122"/>
                <a:cs typeface="Calibri" pitchFamily="34" charset="-120"/>
              </a:rPr>
              <a:t>Collective decisions are binding</a:t>
            </a:r>
            <a:endParaRPr lang="en-US" altLang="zh-CN" sz="1100" dirty="0">
              <a:solidFill>
                <a:srgbClr val="94A3B8"/>
              </a:solidFill>
              <a:latin typeface="Calibri" pitchFamily="34" charset="0"/>
              <a:ea typeface="Calibri" pitchFamily="34" charset="-122"/>
              <a:cs typeface="Calibri" pitchFamily="34" charset="-120"/>
            </a:endParaRPr>
          </a:p>
          <a:p>
            <a:pPr marL="0" indent="0" algn="l">
              <a:buNone/>
            </a:pPr>
            <a:r>
              <a:rPr lang="zh-CN" altLang="en-US" sz="1100" dirty="0">
                <a:solidFill>
                  <a:srgbClr val="94A3B8"/>
                </a:solidFill>
                <a:latin typeface="Calibri" pitchFamily="34" charset="0"/>
                <a:ea typeface="Calibri" pitchFamily="34" charset="-122"/>
                <a:cs typeface="Calibri" pitchFamily="34" charset="-120"/>
              </a:rPr>
              <a:t>No single authority node</a:t>
            </a:r>
            <a:endParaRPr lang="en-US" sz="1100" dirty="0"/>
          </a:p>
        </p:txBody>
      </p:sp>
      <p:sp>
        <p:nvSpPr>
          <p:cNvPr id="22" name="Text 20"/>
          <p:cNvSpPr/>
          <p:nvPr/>
        </p:nvSpPr>
        <p:spPr>
          <a:xfrm>
            <a:off x="457200" y="2798064"/>
            <a:ext cx="5486400" cy="274320"/>
          </a:xfrm>
          <a:prstGeom prst="rect">
            <a:avLst/>
          </a:prstGeom>
          <a:noFill/>
          <a:ln/>
        </p:spPr>
        <p:txBody>
          <a:bodyPr wrap="square" lIns="0" tIns="0" rIns="0" bIns="0" rtlCol="0" anchor="ctr"/>
          <a:lstStyle/>
          <a:p>
            <a:pPr marL="0" indent="0" algn="l">
              <a:buNone/>
            </a:pPr>
            <a:r>
              <a:rPr lang="en-US" sz="1100" b="1" dirty="0">
                <a:solidFill>
                  <a:srgbClr val="64748B"/>
                </a:solidFill>
                <a:latin typeface="Calibri" pitchFamily="34" charset="0"/>
                <a:ea typeface="Calibri" pitchFamily="34" charset="-122"/>
                <a:cs typeface="Calibri" pitchFamily="34" charset="-120"/>
              </a:rPr>
              <a:t>FEATURE  ·  Stackable Capability Plugins</a:t>
            </a:r>
            <a:endParaRPr lang="en-US" sz="1100" dirty="0"/>
          </a:p>
        </p:txBody>
      </p:sp>
      <p:sp>
        <p:nvSpPr>
          <p:cNvPr id="23" name="Shape 21"/>
          <p:cNvSpPr/>
          <p:nvPr/>
        </p:nvSpPr>
        <p:spPr>
          <a:xfrm>
            <a:off x="457200" y="3127248"/>
            <a:ext cx="1536192" cy="621792"/>
          </a:xfrm>
          <a:prstGeom prst="rect">
            <a:avLst/>
          </a:prstGeom>
          <a:solidFill>
            <a:srgbClr val="F0DEB4"/>
          </a:solidFill>
          <a:ln w="19050">
            <a:solidFill>
              <a:srgbClr val="C8973E"/>
            </a:solidFill>
            <a:prstDash val="solid"/>
          </a:ln>
          <a:effectLst>
            <a:outerShdw blurRad="101600" dist="38100" dir="8100000" algn="bl" rotWithShape="0">
              <a:srgbClr val="000000">
                <a:alpha val="13000"/>
              </a:srgbClr>
            </a:outerShdw>
          </a:effectLst>
        </p:spPr>
        <p:txBody>
          <a:bodyPr/>
          <a:lstStyle/>
          <a:p>
            <a:endParaRPr lang="en-SA"/>
          </a:p>
        </p:txBody>
      </p:sp>
      <p:sp>
        <p:nvSpPr>
          <p:cNvPr id="24" name="Text 22"/>
          <p:cNvSpPr/>
          <p:nvPr/>
        </p:nvSpPr>
        <p:spPr>
          <a:xfrm>
            <a:off x="530352" y="3182112"/>
            <a:ext cx="1389888" cy="274320"/>
          </a:xfrm>
          <a:prstGeom prst="rect">
            <a:avLst/>
          </a:prstGeom>
          <a:noFill/>
          <a:ln/>
        </p:spPr>
        <p:txBody>
          <a:bodyPr wrap="square" lIns="0" tIns="0" rIns="0" bIns="0" rtlCol="0" anchor="ctr"/>
          <a:lstStyle/>
          <a:p>
            <a:pPr marL="0" indent="0" algn="ctr">
              <a:buNone/>
            </a:pPr>
            <a:r>
              <a:rPr lang="en-US" sz="950" b="1" dirty="0">
                <a:solidFill>
                  <a:srgbClr val="0F172A"/>
                </a:solidFill>
                <a:latin typeface="Courier New" pitchFamily="34" charset="0"/>
                <a:ea typeface="Courier New" pitchFamily="34" charset="-122"/>
                <a:cs typeface="Courier New" pitchFamily="34" charset="-120"/>
              </a:rPr>
              <a:t>monitor</a:t>
            </a:r>
            <a:endParaRPr lang="en-US" sz="950" dirty="0"/>
          </a:p>
        </p:txBody>
      </p:sp>
      <p:sp>
        <p:nvSpPr>
          <p:cNvPr id="25" name="Text 23"/>
          <p:cNvSpPr/>
          <p:nvPr/>
        </p:nvSpPr>
        <p:spPr>
          <a:xfrm>
            <a:off x="530352" y="3456432"/>
            <a:ext cx="1389888" cy="237744"/>
          </a:xfrm>
          <a:prstGeom prst="rect">
            <a:avLst/>
          </a:prstGeom>
          <a:noFill/>
          <a:ln/>
        </p:spPr>
        <p:txBody>
          <a:bodyPr wrap="square" lIns="0" tIns="0" rIns="0" bIns="0" rtlCol="0" anchor="ctr"/>
          <a:lstStyle/>
          <a:p>
            <a:pPr algn="ctr"/>
            <a:r>
              <a:rPr lang="zh-CN" altLang="en-US" sz="1000" dirty="0">
                <a:solidFill>
                  <a:srgbClr val="334155"/>
                </a:solidFill>
                <a:latin typeface="Calibri" pitchFamily="34" charset="0"/>
                <a:ea typeface="Calibri" pitchFamily="34" charset="-122"/>
                <a:cs typeface="Calibri" pitchFamily="34" charset="-120"/>
              </a:rPr>
              <a:t>Monitor main chain node behavior</a:t>
            </a:r>
            <a:endParaRPr lang="en-US" sz="1000" dirty="0"/>
          </a:p>
        </p:txBody>
      </p:sp>
      <p:sp>
        <p:nvSpPr>
          <p:cNvPr id="26" name="Shape 24"/>
          <p:cNvSpPr/>
          <p:nvPr/>
        </p:nvSpPr>
        <p:spPr>
          <a:xfrm>
            <a:off x="2130552" y="3127248"/>
            <a:ext cx="1536192" cy="621792"/>
          </a:xfrm>
          <a:prstGeom prst="rect">
            <a:avLst/>
          </a:prstGeom>
          <a:solidFill>
            <a:srgbClr val="F0DEB4"/>
          </a:solidFill>
          <a:ln w="19050">
            <a:solidFill>
              <a:srgbClr val="C8973E"/>
            </a:solidFill>
            <a:prstDash val="solid"/>
          </a:ln>
          <a:effectLst>
            <a:outerShdw blurRad="101600" dist="38100" dir="8100000" algn="bl" rotWithShape="0">
              <a:srgbClr val="000000">
                <a:alpha val="13000"/>
              </a:srgbClr>
            </a:outerShdw>
          </a:effectLst>
        </p:spPr>
        <p:txBody>
          <a:bodyPr/>
          <a:lstStyle/>
          <a:p>
            <a:endParaRPr lang="en-SA"/>
          </a:p>
        </p:txBody>
      </p:sp>
      <p:sp>
        <p:nvSpPr>
          <p:cNvPr id="27" name="Text 25"/>
          <p:cNvSpPr/>
          <p:nvPr/>
        </p:nvSpPr>
        <p:spPr>
          <a:xfrm>
            <a:off x="2203704" y="3182112"/>
            <a:ext cx="1389888" cy="274320"/>
          </a:xfrm>
          <a:prstGeom prst="rect">
            <a:avLst/>
          </a:prstGeom>
          <a:noFill/>
          <a:ln/>
        </p:spPr>
        <p:txBody>
          <a:bodyPr wrap="square" lIns="0" tIns="0" rIns="0" bIns="0" rtlCol="0" anchor="ctr"/>
          <a:lstStyle/>
          <a:p>
            <a:pPr marL="0" indent="0" algn="ctr">
              <a:buNone/>
            </a:pPr>
            <a:r>
              <a:rPr lang="en-US" sz="950" b="1" dirty="0">
                <a:solidFill>
                  <a:srgbClr val="0F172A"/>
                </a:solidFill>
                <a:latin typeface="Courier New" pitchFamily="34" charset="0"/>
                <a:ea typeface="Courier New" pitchFamily="34" charset="-122"/>
                <a:cs typeface="Courier New" pitchFamily="34" charset="-120"/>
              </a:rPr>
              <a:t>shared_state</a:t>
            </a:r>
            <a:endParaRPr lang="en-US" sz="950" dirty="0"/>
          </a:p>
        </p:txBody>
      </p:sp>
      <p:sp>
        <p:nvSpPr>
          <p:cNvPr id="28" name="Text 26"/>
          <p:cNvSpPr/>
          <p:nvPr/>
        </p:nvSpPr>
        <p:spPr>
          <a:xfrm>
            <a:off x="2203704" y="3456432"/>
            <a:ext cx="1389888" cy="237744"/>
          </a:xfrm>
          <a:prstGeom prst="rect">
            <a:avLst/>
          </a:prstGeom>
          <a:noFill/>
          <a:ln/>
        </p:spPr>
        <p:txBody>
          <a:bodyPr wrap="square" lIns="0" tIns="0" rIns="0" bIns="0" rtlCol="0" anchor="ctr"/>
          <a:lstStyle/>
          <a:p>
            <a:pPr marL="0" indent="0" algn="ctr">
              <a:buNone/>
            </a:pPr>
            <a:r>
              <a:rPr lang="en-US" sz="1000" dirty="0">
                <a:solidFill>
                  <a:srgbClr val="334155"/>
                </a:solidFill>
                <a:latin typeface="Calibri" pitchFamily="34" charset="0"/>
                <a:ea typeface="Calibri" pitchFamily="34" charset="-122"/>
                <a:cs typeface="Calibri" pitchFamily="34" charset="-120"/>
              </a:rPr>
              <a:t>Global state sharing</a:t>
            </a:r>
            <a:endParaRPr lang="en-US" sz="1000" dirty="0"/>
          </a:p>
        </p:txBody>
      </p:sp>
      <p:sp>
        <p:nvSpPr>
          <p:cNvPr id="29" name="Shape 27"/>
          <p:cNvSpPr/>
          <p:nvPr/>
        </p:nvSpPr>
        <p:spPr>
          <a:xfrm>
            <a:off x="3803904" y="3127248"/>
            <a:ext cx="1536192" cy="621792"/>
          </a:xfrm>
          <a:prstGeom prst="rect">
            <a:avLst/>
          </a:prstGeom>
          <a:solidFill>
            <a:srgbClr val="F0DEB4"/>
          </a:solidFill>
          <a:ln w="19050">
            <a:solidFill>
              <a:srgbClr val="C8973E"/>
            </a:solidFill>
            <a:prstDash val="solid"/>
          </a:ln>
          <a:effectLst>
            <a:outerShdw blurRad="101600" dist="38100" dir="8100000" algn="bl" rotWithShape="0">
              <a:srgbClr val="000000">
                <a:alpha val="13000"/>
              </a:srgbClr>
            </a:outerShdw>
          </a:effectLst>
        </p:spPr>
        <p:txBody>
          <a:bodyPr/>
          <a:lstStyle/>
          <a:p>
            <a:endParaRPr lang="en-SA"/>
          </a:p>
        </p:txBody>
      </p:sp>
      <p:sp>
        <p:nvSpPr>
          <p:cNvPr id="30" name="Text 28"/>
          <p:cNvSpPr/>
          <p:nvPr/>
        </p:nvSpPr>
        <p:spPr>
          <a:xfrm>
            <a:off x="3877056" y="3182112"/>
            <a:ext cx="1389888" cy="274320"/>
          </a:xfrm>
          <a:prstGeom prst="rect">
            <a:avLst/>
          </a:prstGeom>
          <a:noFill/>
          <a:ln/>
        </p:spPr>
        <p:txBody>
          <a:bodyPr wrap="square" lIns="0" tIns="0" rIns="0" bIns="0" rtlCol="0" anchor="ctr"/>
          <a:lstStyle/>
          <a:p>
            <a:pPr marL="0" indent="0" algn="ctr">
              <a:buNone/>
            </a:pPr>
            <a:r>
              <a:rPr lang="en-US" sz="950" b="1" dirty="0">
                <a:solidFill>
                  <a:srgbClr val="0F172A"/>
                </a:solidFill>
                <a:latin typeface="Courier New" pitchFamily="34" charset="0"/>
                <a:ea typeface="Courier New" pitchFamily="34" charset="-122"/>
                <a:cs typeface="Courier New" pitchFamily="34" charset="-120"/>
              </a:rPr>
              <a:t>emergency_handler</a:t>
            </a:r>
            <a:endParaRPr lang="en-US" sz="950" dirty="0"/>
          </a:p>
        </p:txBody>
      </p:sp>
      <p:sp>
        <p:nvSpPr>
          <p:cNvPr id="31" name="Text 29"/>
          <p:cNvSpPr/>
          <p:nvPr/>
        </p:nvSpPr>
        <p:spPr>
          <a:xfrm>
            <a:off x="3877056" y="3456432"/>
            <a:ext cx="1389888" cy="237744"/>
          </a:xfrm>
          <a:prstGeom prst="rect">
            <a:avLst/>
          </a:prstGeom>
          <a:noFill/>
          <a:ln/>
        </p:spPr>
        <p:txBody>
          <a:bodyPr wrap="square" lIns="0" tIns="0" rIns="0" bIns="0" rtlCol="0" anchor="ctr"/>
          <a:lstStyle/>
          <a:p>
            <a:pPr marL="0" indent="0" algn="ctr">
              <a:buNone/>
            </a:pPr>
            <a:r>
              <a:rPr lang="en-US" sz="1000" dirty="0">
                <a:solidFill>
                  <a:srgbClr val="334155"/>
                </a:solidFill>
                <a:latin typeface="Calibri" pitchFamily="34" charset="0"/>
                <a:ea typeface="Calibri" pitchFamily="34" charset="-122"/>
                <a:cs typeface="Calibri" pitchFamily="34" charset="-120"/>
              </a:rPr>
              <a:t>Emergency handling for consecutive failures</a:t>
            </a:r>
            <a:endParaRPr lang="en-US" sz="1000" dirty="0"/>
          </a:p>
        </p:txBody>
      </p:sp>
      <p:sp>
        <p:nvSpPr>
          <p:cNvPr id="32" name="Shape 30"/>
          <p:cNvSpPr/>
          <p:nvPr/>
        </p:nvSpPr>
        <p:spPr>
          <a:xfrm>
            <a:off x="5477256" y="3127248"/>
            <a:ext cx="1536192" cy="621792"/>
          </a:xfrm>
          <a:prstGeom prst="rect">
            <a:avLst/>
          </a:prstGeom>
          <a:solidFill>
            <a:srgbClr val="F0DEB4"/>
          </a:solidFill>
          <a:ln w="19050">
            <a:solidFill>
              <a:srgbClr val="C8973E"/>
            </a:solidFill>
            <a:prstDash val="solid"/>
          </a:ln>
          <a:effectLst>
            <a:outerShdw blurRad="101600" dist="38100" dir="8100000" algn="bl" rotWithShape="0">
              <a:srgbClr val="000000">
                <a:alpha val="13000"/>
              </a:srgbClr>
            </a:outerShdw>
          </a:effectLst>
        </p:spPr>
        <p:txBody>
          <a:bodyPr/>
          <a:lstStyle/>
          <a:p>
            <a:endParaRPr lang="en-SA"/>
          </a:p>
        </p:txBody>
      </p:sp>
      <p:sp>
        <p:nvSpPr>
          <p:cNvPr id="33" name="Text 31"/>
          <p:cNvSpPr/>
          <p:nvPr/>
        </p:nvSpPr>
        <p:spPr>
          <a:xfrm>
            <a:off x="5550408" y="3182112"/>
            <a:ext cx="1389888" cy="274320"/>
          </a:xfrm>
          <a:prstGeom prst="rect">
            <a:avLst/>
          </a:prstGeom>
          <a:noFill/>
          <a:ln/>
        </p:spPr>
        <p:txBody>
          <a:bodyPr wrap="square" lIns="0" tIns="0" rIns="0" bIns="0" rtlCol="0" anchor="ctr"/>
          <a:lstStyle/>
          <a:p>
            <a:pPr marL="0" indent="0" algn="ctr">
              <a:buNone/>
            </a:pPr>
            <a:r>
              <a:rPr lang="en-US" sz="950" b="1" dirty="0">
                <a:solidFill>
                  <a:srgbClr val="0F172A"/>
                </a:solidFill>
                <a:latin typeface="Courier New" pitchFamily="34" charset="0"/>
                <a:ea typeface="Courier New" pitchFamily="34" charset="-122"/>
                <a:cs typeface="Courier New" pitchFamily="34" charset="-120"/>
              </a:rPr>
              <a:t>human_confirmation</a:t>
            </a:r>
            <a:endParaRPr lang="en-US" sz="950" dirty="0"/>
          </a:p>
        </p:txBody>
      </p:sp>
      <p:sp>
        <p:nvSpPr>
          <p:cNvPr id="34" name="Text 32"/>
          <p:cNvSpPr/>
          <p:nvPr/>
        </p:nvSpPr>
        <p:spPr>
          <a:xfrm>
            <a:off x="5550408" y="3456432"/>
            <a:ext cx="1389888" cy="237744"/>
          </a:xfrm>
          <a:prstGeom prst="rect">
            <a:avLst/>
          </a:prstGeom>
          <a:noFill/>
          <a:ln/>
        </p:spPr>
        <p:txBody>
          <a:bodyPr wrap="square" lIns="0" tIns="0" rIns="0" bIns="0" rtlCol="0" anchor="ctr"/>
          <a:lstStyle/>
          <a:p>
            <a:pPr marL="0" indent="0" algn="ctr">
              <a:buNone/>
            </a:pPr>
            <a:r>
              <a:rPr lang="en-US" sz="1000" dirty="0">
                <a:solidFill>
                  <a:srgbClr val="334155"/>
                </a:solidFill>
                <a:latin typeface="Calibri" pitchFamily="34" charset="0"/>
                <a:ea typeface="Calibri" pitchFamily="34" charset="-122"/>
                <a:cs typeface="Calibri" pitchFamily="34" charset="-120"/>
              </a:rPr>
              <a:t>Human approval node</a:t>
            </a:r>
            <a:endParaRPr lang="en-US" sz="1000" dirty="0"/>
          </a:p>
        </p:txBody>
      </p:sp>
      <p:sp>
        <p:nvSpPr>
          <p:cNvPr id="35" name="Shape 33"/>
          <p:cNvSpPr/>
          <p:nvPr/>
        </p:nvSpPr>
        <p:spPr>
          <a:xfrm>
            <a:off x="7150608" y="3127248"/>
            <a:ext cx="1536192" cy="621792"/>
          </a:xfrm>
          <a:prstGeom prst="rect">
            <a:avLst/>
          </a:prstGeom>
          <a:solidFill>
            <a:srgbClr val="F0DEB4"/>
          </a:solidFill>
          <a:ln w="19050">
            <a:solidFill>
              <a:srgbClr val="C8973E"/>
            </a:solidFill>
            <a:prstDash val="solid"/>
          </a:ln>
          <a:effectLst>
            <a:outerShdw blurRad="101600" dist="38100" dir="8100000" algn="bl" rotWithShape="0">
              <a:srgbClr val="000000">
                <a:alpha val="13000"/>
              </a:srgbClr>
            </a:outerShdw>
          </a:effectLst>
        </p:spPr>
        <p:txBody>
          <a:bodyPr/>
          <a:lstStyle/>
          <a:p>
            <a:endParaRPr lang="en-SA"/>
          </a:p>
        </p:txBody>
      </p:sp>
      <p:sp>
        <p:nvSpPr>
          <p:cNvPr id="36" name="Text 34"/>
          <p:cNvSpPr/>
          <p:nvPr/>
        </p:nvSpPr>
        <p:spPr>
          <a:xfrm>
            <a:off x="7223760" y="3182112"/>
            <a:ext cx="1389888" cy="274320"/>
          </a:xfrm>
          <a:prstGeom prst="rect">
            <a:avLst/>
          </a:prstGeom>
          <a:noFill/>
          <a:ln/>
        </p:spPr>
        <p:txBody>
          <a:bodyPr wrap="square" lIns="0" tIns="0" rIns="0" bIns="0" rtlCol="0" anchor="ctr"/>
          <a:lstStyle/>
          <a:p>
            <a:pPr algn="ctr"/>
            <a:r>
              <a:rPr lang="en-US" sz="950" b="1" dirty="0" err="1">
                <a:solidFill>
                  <a:srgbClr val="0F172A"/>
                </a:solidFill>
                <a:latin typeface="Courier New" pitchFamily="34" charset="0"/>
                <a:ea typeface="Courier New" pitchFamily="34" charset="-122"/>
                <a:cs typeface="Courier New" pitchFamily="34" charset="-120"/>
              </a:rPr>
              <a:t>consensus_gate</a:t>
            </a:r>
            <a:endParaRPr lang="en-US" sz="950" dirty="0"/>
          </a:p>
        </p:txBody>
      </p:sp>
      <p:sp>
        <p:nvSpPr>
          <p:cNvPr id="37" name="Text 35"/>
          <p:cNvSpPr/>
          <p:nvPr/>
        </p:nvSpPr>
        <p:spPr>
          <a:xfrm>
            <a:off x="7223760" y="3456432"/>
            <a:ext cx="1389888" cy="237744"/>
          </a:xfrm>
          <a:prstGeom prst="rect">
            <a:avLst/>
          </a:prstGeom>
          <a:noFill/>
          <a:ln/>
        </p:spPr>
        <p:txBody>
          <a:bodyPr wrap="square" lIns="0" tIns="0" rIns="0" bIns="0" rtlCol="0" anchor="ctr"/>
          <a:lstStyle/>
          <a:p>
            <a:pPr algn="ctr"/>
            <a:r>
              <a:rPr lang="en-US" sz="1000" dirty="0">
                <a:solidFill>
                  <a:srgbClr val="334155"/>
                </a:solidFill>
                <a:latin typeface="Calibri" pitchFamily="34" charset="0"/>
                <a:ea typeface="Calibri" pitchFamily="34" charset="-122"/>
                <a:cs typeface="Calibri" pitchFamily="34" charset="-120"/>
              </a:rPr>
              <a:t>Gate </a:t>
            </a:r>
            <a:r>
              <a:rPr lang="zh-CN" altLang="en-US" sz="1000" dirty="0">
                <a:solidFill>
                  <a:srgbClr val="334155"/>
                </a:solidFill>
                <a:latin typeface="Calibri" pitchFamily="34" charset="0"/>
                <a:ea typeface="Calibri" pitchFamily="34" charset="-122"/>
                <a:cs typeface="Calibri" pitchFamily="34" charset="-120"/>
              </a:rPr>
              <a:t>uses voting mechanism internally</a:t>
            </a:r>
            <a:endParaRPr lang="en-US" sz="1000" dirty="0"/>
          </a:p>
        </p:txBody>
      </p:sp>
      <p:sp>
        <p:nvSpPr>
          <p:cNvPr id="38" name="Shape 36"/>
          <p:cNvSpPr/>
          <p:nvPr/>
        </p:nvSpPr>
        <p:spPr>
          <a:xfrm>
            <a:off x="457200" y="3931920"/>
            <a:ext cx="8229600" cy="566928"/>
          </a:xfrm>
          <a:prstGeom prst="rect">
            <a:avLst/>
          </a:prstGeom>
          <a:solidFill>
            <a:srgbClr val="F0DEB4"/>
          </a:solidFill>
          <a:ln w="19050">
            <a:solidFill>
              <a:srgbClr val="C8973E"/>
            </a:solidFill>
            <a:prstDash val="solid"/>
          </a:ln>
          <a:effectLst>
            <a:outerShdw blurRad="101600" dist="38100" dir="8100000" algn="bl" rotWithShape="0">
              <a:srgbClr val="000000">
                <a:alpha val="13000"/>
              </a:srgbClr>
            </a:outerShdw>
          </a:effectLst>
        </p:spPr>
        <p:txBody>
          <a:bodyPr/>
          <a:lstStyle/>
          <a:p>
            <a:endParaRPr lang="en-SA"/>
          </a:p>
        </p:txBody>
      </p:sp>
      <p:sp>
        <p:nvSpPr>
          <p:cNvPr id="39" name="Text 37"/>
          <p:cNvSpPr/>
          <p:nvPr/>
        </p:nvSpPr>
        <p:spPr>
          <a:xfrm>
            <a:off x="457200" y="3986784"/>
            <a:ext cx="8229600" cy="457200"/>
          </a:xfrm>
          <a:prstGeom prst="rect">
            <a:avLst/>
          </a:prstGeom>
          <a:noFill/>
          <a:ln/>
        </p:spPr>
        <p:txBody>
          <a:bodyPr wrap="square" lIns="0" tIns="0" rIns="0" bIns="0" rtlCol="0" anchor="ctr"/>
          <a:lstStyle/>
          <a:p>
            <a:pPr marL="0" indent="0" algn="ctr">
              <a:buNone/>
            </a:pPr>
            <a:r>
              <a:rPr lang="en-US" sz="1600" b="1" dirty="0" err="1">
                <a:solidFill>
                  <a:srgbClr val="0F172A"/>
                </a:solidFill>
                <a:latin typeface="Cambria" pitchFamily="34" charset="0"/>
                <a:ea typeface="Cambria" pitchFamily="34" charset="-122"/>
                <a:cs typeface="Cambria" pitchFamily="34" charset="-120"/>
              </a:rPr>
              <a:t>Historical Governance</a:t>
            </a:r>
            <a:r>
              <a:rPr lang="en-US" altLang="zh-CN" sz="1600" b="1" dirty="0">
                <a:solidFill>
                  <a:srgbClr val="0F172A"/>
                </a:solidFill>
                <a:latin typeface="Cambria" pitchFamily="34" charset="0"/>
                <a:ea typeface="Cambria" pitchFamily="34" charset="-122"/>
                <a:cs typeface="Cambria" pitchFamily="34" charset="-120"/>
              </a:rPr>
              <a:t>(MAS)</a:t>
            </a:r>
            <a:r>
              <a:rPr lang="en-US" sz="1600" b="1" dirty="0">
                <a:solidFill>
                  <a:srgbClr val="0F172A"/>
                </a:solidFill>
                <a:latin typeface="Cambria" pitchFamily="34" charset="0"/>
                <a:ea typeface="Cambria" pitchFamily="34" charset="-122"/>
                <a:cs typeface="Cambria" pitchFamily="34" charset="-120"/>
              </a:rPr>
              <a:t>  =  One Pattern  +  N Features combined</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5E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973E"/>
          </a:solidFill>
          <a:ln w="12700">
            <a:solidFill>
              <a:srgbClr val="C8973E"/>
            </a:solidFill>
            <a:prstDash val="solid"/>
          </a:ln>
        </p:spPr>
        <p:txBody>
          <a:bodyPr/>
          <a:lstStyle/>
          <a:p>
            <a:endParaRPr lang="en-SA"/>
          </a:p>
        </p:txBody>
      </p:sp>
      <p:sp>
        <p:nvSpPr>
          <p:cNvPr id="3" name="Text 1"/>
          <p:cNvSpPr/>
          <p:nvPr/>
        </p:nvSpPr>
        <p:spPr>
          <a:xfrm>
            <a:off x="457200" y="182880"/>
            <a:ext cx="8229600" cy="566928"/>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System Architecture</a:t>
            </a:r>
            <a:endParaRPr lang="en-US" sz="2600" dirty="0"/>
          </a:p>
        </p:txBody>
      </p:sp>
      <p:sp>
        <p:nvSpPr>
          <p:cNvPr id="4" name="Shape 2"/>
          <p:cNvSpPr/>
          <p:nvPr/>
        </p:nvSpPr>
        <p:spPr>
          <a:xfrm>
            <a:off x="457200" y="804672"/>
            <a:ext cx="8229600" cy="13716"/>
          </a:xfrm>
          <a:prstGeom prst="rect">
            <a:avLst/>
          </a:prstGeom>
          <a:solidFill>
            <a:srgbClr val="EAE5D8"/>
          </a:solidFill>
          <a:ln w="12700">
            <a:solidFill>
              <a:srgbClr val="EAE5D8"/>
            </a:solidFill>
            <a:prstDash val="solid"/>
          </a:ln>
        </p:spPr>
        <p:txBody>
          <a:bodyPr/>
          <a:lstStyle/>
          <a:p>
            <a:endParaRPr lang="en-SA"/>
          </a:p>
        </p:txBody>
      </p:sp>
      <p:sp>
        <p:nvSpPr>
          <p:cNvPr id="5" name="Shape 3"/>
          <p:cNvSpPr/>
          <p:nvPr/>
        </p:nvSpPr>
        <p:spPr>
          <a:xfrm>
            <a:off x="457200" y="1120140"/>
            <a:ext cx="8229600" cy="749808"/>
          </a:xfrm>
          <a:prstGeom prst="rect">
            <a:avLst/>
          </a:prstGeom>
          <a:solidFill>
            <a:srgbClr val="0F172A"/>
          </a:solidFill>
          <a:ln w="12700">
            <a:solidFill>
              <a:srgbClr val="0F172A"/>
            </a:solidFill>
            <a:prstDash val="solid"/>
          </a:ln>
          <a:effectLst>
            <a:outerShdw blurRad="101600" dist="38100" dir="8100000" algn="bl" rotWithShape="0">
              <a:srgbClr val="000000">
                <a:alpha val="13000"/>
              </a:srgbClr>
            </a:outerShdw>
          </a:effectLst>
        </p:spPr>
        <p:txBody>
          <a:bodyPr/>
          <a:lstStyle/>
          <a:p>
            <a:endParaRPr lang="en-SA"/>
          </a:p>
        </p:txBody>
      </p:sp>
      <p:sp>
        <p:nvSpPr>
          <p:cNvPr id="6" name="Text 4"/>
          <p:cNvSpPr/>
          <p:nvPr/>
        </p:nvSpPr>
        <p:spPr>
          <a:xfrm>
            <a:off x="594360" y="1211580"/>
            <a:ext cx="1371600" cy="347472"/>
          </a:xfrm>
          <a:prstGeom prst="rect">
            <a:avLst/>
          </a:prstGeom>
          <a:noFill/>
          <a:ln/>
        </p:spPr>
        <p:txBody>
          <a:bodyPr wrap="square" lIns="0" tIns="0" rIns="0" bIns="0" rtlCol="0" anchor="ctr"/>
          <a:lstStyle/>
          <a:p>
            <a:pPr marL="0" indent="0" algn="l">
              <a:buNone/>
            </a:pPr>
            <a:r>
              <a:rPr lang="en-US" sz="1800" b="1" dirty="0">
                <a:solidFill>
                  <a:srgbClr val="F1EDE5"/>
                </a:solidFill>
                <a:latin typeface="Cambria" pitchFamily="34" charset="0"/>
                <a:ea typeface="Cambria" pitchFamily="34" charset="-122"/>
                <a:cs typeface="Cambria" pitchFamily="34" charset="-120"/>
              </a:rPr>
              <a:t>Spec</a:t>
            </a:r>
            <a:endParaRPr lang="en-US" sz="1800" dirty="0"/>
          </a:p>
        </p:txBody>
      </p:sp>
      <p:sp>
        <p:nvSpPr>
          <p:cNvPr id="7" name="Text 5"/>
          <p:cNvSpPr/>
          <p:nvPr/>
        </p:nvSpPr>
        <p:spPr>
          <a:xfrm>
            <a:off x="594360" y="1577340"/>
            <a:ext cx="1371600" cy="237744"/>
          </a:xfrm>
          <a:prstGeom prst="rect">
            <a:avLst/>
          </a:prstGeom>
          <a:noFill/>
          <a:ln/>
        </p:spPr>
        <p:txBody>
          <a:bodyPr wrap="square" lIns="0" tIns="0" rIns="0" bIns="0"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Declarative Spec</a:t>
            </a:r>
            <a:endParaRPr lang="en-US" sz="1100" dirty="0"/>
          </a:p>
        </p:txBody>
      </p:sp>
      <p:sp>
        <p:nvSpPr>
          <p:cNvPr id="8" name="Shape 6"/>
          <p:cNvSpPr/>
          <p:nvPr/>
        </p:nvSpPr>
        <p:spPr>
          <a:xfrm>
            <a:off x="2103120" y="1229868"/>
            <a:ext cx="18288" cy="530352"/>
          </a:xfrm>
          <a:prstGeom prst="rect">
            <a:avLst/>
          </a:prstGeom>
          <a:solidFill>
            <a:srgbClr val="FFFFFF"/>
          </a:solidFill>
          <a:ln w="6350">
            <a:solidFill>
              <a:srgbClr val="FFFFFF"/>
            </a:solidFill>
            <a:prstDash val="solid"/>
          </a:ln>
        </p:spPr>
        <p:txBody>
          <a:bodyPr/>
          <a:lstStyle/>
          <a:p>
            <a:endParaRPr lang="en-SA"/>
          </a:p>
        </p:txBody>
      </p:sp>
      <p:sp>
        <p:nvSpPr>
          <p:cNvPr id="9" name="Text 7"/>
          <p:cNvSpPr/>
          <p:nvPr/>
        </p:nvSpPr>
        <p:spPr>
          <a:xfrm>
            <a:off x="2240280" y="1284732"/>
            <a:ext cx="6263640" cy="457200"/>
          </a:xfrm>
          <a:prstGeom prst="rect">
            <a:avLst/>
          </a:prstGeom>
          <a:noFill/>
          <a:ln/>
        </p:spPr>
        <p:txBody>
          <a:bodyPr wrap="square" lIns="0" tIns="0" rIns="0" bIns="0" rtlCol="0" anchor="ctr"/>
          <a:lstStyle/>
          <a:p>
            <a:pPr marL="0" indent="0" algn="l">
              <a:buNone/>
            </a:pPr>
            <a:r>
              <a:rPr lang="en-US" sz="1300" dirty="0">
                <a:solidFill>
                  <a:srgbClr val="F1EDE5"/>
                </a:solidFill>
                <a:latin typeface="Calibri" pitchFamily="34" charset="0"/>
                <a:ea typeface="Calibri" pitchFamily="34" charset="-122"/>
                <a:cs typeface="Calibri" pitchFamily="34" charset="-120"/>
              </a:rPr>
              <a:t>Governance files   YAML  /  JSON  /  CUE  →  Define roles, stages, transition rules</a:t>
            </a:r>
            <a:endParaRPr lang="en-US" sz="1300" dirty="0"/>
          </a:p>
        </p:txBody>
      </p:sp>
      <p:sp>
        <p:nvSpPr>
          <p:cNvPr id="10" name="Shape 8"/>
          <p:cNvSpPr/>
          <p:nvPr/>
        </p:nvSpPr>
        <p:spPr>
          <a:xfrm>
            <a:off x="4462272" y="1869948"/>
            <a:ext cx="219456" cy="91440"/>
          </a:xfrm>
          <a:prstGeom prst="rect">
            <a:avLst/>
          </a:prstGeom>
          <a:solidFill>
            <a:srgbClr val="EAE5D8"/>
          </a:solidFill>
          <a:ln w="12700">
            <a:solidFill>
              <a:srgbClr val="EAE5D8"/>
            </a:solidFill>
            <a:prstDash val="solid"/>
          </a:ln>
        </p:spPr>
        <p:txBody>
          <a:bodyPr/>
          <a:lstStyle/>
          <a:p>
            <a:endParaRPr lang="en-SA"/>
          </a:p>
        </p:txBody>
      </p:sp>
      <p:sp>
        <p:nvSpPr>
          <p:cNvPr id="11" name="Shape 9"/>
          <p:cNvSpPr/>
          <p:nvPr/>
        </p:nvSpPr>
        <p:spPr>
          <a:xfrm>
            <a:off x="457200" y="1943100"/>
            <a:ext cx="8229600" cy="749808"/>
          </a:xfrm>
          <a:prstGeom prst="rect">
            <a:avLst/>
          </a:prstGeom>
          <a:solidFill>
            <a:srgbClr val="1E293B"/>
          </a:solidFill>
          <a:ln w="12700">
            <a:solidFill>
              <a:srgbClr val="1E293B"/>
            </a:solidFill>
            <a:prstDash val="solid"/>
          </a:ln>
          <a:effectLst>
            <a:outerShdw blurRad="101600" dist="38100" dir="8100000" algn="bl" rotWithShape="0">
              <a:srgbClr val="000000">
                <a:alpha val="13000"/>
              </a:srgbClr>
            </a:outerShdw>
          </a:effectLst>
        </p:spPr>
        <p:txBody>
          <a:bodyPr/>
          <a:lstStyle/>
          <a:p>
            <a:endParaRPr lang="en-SA"/>
          </a:p>
        </p:txBody>
      </p:sp>
      <p:sp>
        <p:nvSpPr>
          <p:cNvPr id="12" name="Text 10"/>
          <p:cNvSpPr/>
          <p:nvPr/>
        </p:nvSpPr>
        <p:spPr>
          <a:xfrm>
            <a:off x="594360" y="2034540"/>
            <a:ext cx="1371600" cy="347472"/>
          </a:xfrm>
          <a:prstGeom prst="rect">
            <a:avLst/>
          </a:prstGeom>
          <a:noFill/>
          <a:ln/>
        </p:spPr>
        <p:txBody>
          <a:bodyPr wrap="square" lIns="0" tIns="0" rIns="0" bIns="0" rtlCol="0" anchor="ctr"/>
          <a:lstStyle/>
          <a:p>
            <a:pPr marL="0" indent="0" algn="l">
              <a:buNone/>
            </a:pPr>
            <a:r>
              <a:rPr lang="en-US" sz="1800" b="1" dirty="0">
                <a:solidFill>
                  <a:srgbClr val="F1EDE5"/>
                </a:solidFill>
                <a:latin typeface="Cambria" pitchFamily="34" charset="0"/>
                <a:ea typeface="Cambria" pitchFamily="34" charset="-122"/>
                <a:cs typeface="Cambria" pitchFamily="34" charset="-120"/>
              </a:rPr>
              <a:t>Pattern</a:t>
            </a:r>
            <a:endParaRPr lang="en-US" sz="1800" dirty="0"/>
          </a:p>
        </p:txBody>
      </p:sp>
      <p:sp>
        <p:nvSpPr>
          <p:cNvPr id="13" name="Text 11"/>
          <p:cNvSpPr/>
          <p:nvPr/>
        </p:nvSpPr>
        <p:spPr>
          <a:xfrm>
            <a:off x="594360" y="2400300"/>
            <a:ext cx="1371600" cy="237744"/>
          </a:xfrm>
          <a:prstGeom prst="rect">
            <a:avLst/>
          </a:prstGeom>
          <a:noFill/>
          <a:ln/>
        </p:spPr>
        <p:txBody>
          <a:bodyPr wrap="square" lIns="0" tIns="0" rIns="0" bIns="0"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Topology Structure</a:t>
            </a:r>
            <a:endParaRPr lang="en-US" sz="1100" dirty="0"/>
          </a:p>
        </p:txBody>
      </p:sp>
      <p:sp>
        <p:nvSpPr>
          <p:cNvPr id="14" name="Shape 12"/>
          <p:cNvSpPr/>
          <p:nvPr/>
        </p:nvSpPr>
        <p:spPr>
          <a:xfrm>
            <a:off x="2103120" y="2052828"/>
            <a:ext cx="18288" cy="530352"/>
          </a:xfrm>
          <a:prstGeom prst="rect">
            <a:avLst/>
          </a:prstGeom>
          <a:solidFill>
            <a:srgbClr val="FFFFFF"/>
          </a:solidFill>
          <a:ln w="6350">
            <a:solidFill>
              <a:srgbClr val="FFFFFF"/>
            </a:solidFill>
            <a:prstDash val="solid"/>
          </a:ln>
        </p:spPr>
        <p:txBody>
          <a:bodyPr/>
          <a:lstStyle/>
          <a:p>
            <a:endParaRPr lang="en-SA"/>
          </a:p>
        </p:txBody>
      </p:sp>
      <p:sp>
        <p:nvSpPr>
          <p:cNvPr id="15" name="Text 13"/>
          <p:cNvSpPr/>
          <p:nvPr/>
        </p:nvSpPr>
        <p:spPr>
          <a:xfrm>
            <a:off x="2240280" y="2107692"/>
            <a:ext cx="6263640" cy="457200"/>
          </a:xfrm>
          <a:prstGeom prst="rect">
            <a:avLst/>
          </a:prstGeom>
          <a:noFill/>
          <a:ln/>
        </p:spPr>
        <p:txBody>
          <a:bodyPr wrap="square" lIns="0" tIns="0" rIns="0" bIns="0" rtlCol="0" anchor="ctr"/>
          <a:lstStyle/>
          <a:p>
            <a:pPr marL="0" indent="0" algn="l">
              <a:buNone/>
            </a:pPr>
            <a:r>
              <a:rPr lang="en-US" sz="1300" dirty="0">
                <a:solidFill>
                  <a:srgbClr val="F1EDE5"/>
                </a:solidFill>
                <a:latin typeface="Calibri" pitchFamily="34" charset="0"/>
                <a:ea typeface="Calibri" pitchFamily="34" charset="-122"/>
                <a:cs typeface="Calibri" pitchFamily="34" charset="-120"/>
              </a:rPr>
              <a:t>pipeline  ·  gated_pipeline  ·  autonomous_cluster  ·  consensus</a:t>
            </a:r>
            <a:endParaRPr lang="en-US" sz="1300" dirty="0"/>
          </a:p>
        </p:txBody>
      </p:sp>
      <p:sp>
        <p:nvSpPr>
          <p:cNvPr id="16" name="Shape 14"/>
          <p:cNvSpPr/>
          <p:nvPr/>
        </p:nvSpPr>
        <p:spPr>
          <a:xfrm>
            <a:off x="4462272" y="2692908"/>
            <a:ext cx="219456" cy="91440"/>
          </a:xfrm>
          <a:prstGeom prst="rect">
            <a:avLst/>
          </a:prstGeom>
          <a:solidFill>
            <a:srgbClr val="EAE5D8"/>
          </a:solidFill>
          <a:ln w="12700">
            <a:solidFill>
              <a:srgbClr val="EAE5D8"/>
            </a:solidFill>
            <a:prstDash val="solid"/>
          </a:ln>
        </p:spPr>
        <p:txBody>
          <a:bodyPr/>
          <a:lstStyle/>
          <a:p>
            <a:endParaRPr lang="en-SA"/>
          </a:p>
        </p:txBody>
      </p:sp>
      <p:sp>
        <p:nvSpPr>
          <p:cNvPr id="17" name="Shape 15"/>
          <p:cNvSpPr/>
          <p:nvPr/>
        </p:nvSpPr>
        <p:spPr>
          <a:xfrm>
            <a:off x="457200" y="2766060"/>
            <a:ext cx="8229600" cy="749808"/>
          </a:xfrm>
          <a:prstGeom prst="rect">
            <a:avLst/>
          </a:prstGeom>
          <a:solidFill>
            <a:srgbClr val="334155"/>
          </a:solidFill>
          <a:ln w="12700">
            <a:solidFill>
              <a:srgbClr val="334155"/>
            </a:solidFill>
            <a:prstDash val="solid"/>
          </a:ln>
          <a:effectLst>
            <a:outerShdw blurRad="101600" dist="38100" dir="8100000" algn="bl" rotWithShape="0">
              <a:srgbClr val="000000">
                <a:alpha val="13000"/>
              </a:srgbClr>
            </a:outerShdw>
          </a:effectLst>
        </p:spPr>
        <p:txBody>
          <a:bodyPr/>
          <a:lstStyle/>
          <a:p>
            <a:endParaRPr lang="en-SA"/>
          </a:p>
        </p:txBody>
      </p:sp>
      <p:sp>
        <p:nvSpPr>
          <p:cNvPr id="18" name="Text 16"/>
          <p:cNvSpPr/>
          <p:nvPr/>
        </p:nvSpPr>
        <p:spPr>
          <a:xfrm>
            <a:off x="594360" y="2857500"/>
            <a:ext cx="1371600" cy="347472"/>
          </a:xfrm>
          <a:prstGeom prst="rect">
            <a:avLst/>
          </a:prstGeom>
          <a:noFill/>
          <a:ln/>
        </p:spPr>
        <p:txBody>
          <a:bodyPr wrap="square" lIns="0" tIns="0" rIns="0" bIns="0" rtlCol="0" anchor="ctr"/>
          <a:lstStyle/>
          <a:p>
            <a:pPr marL="0" indent="0" algn="l">
              <a:buNone/>
            </a:pPr>
            <a:r>
              <a:rPr lang="en-US" sz="1800" b="1" dirty="0">
                <a:solidFill>
                  <a:srgbClr val="F1EDE5"/>
                </a:solidFill>
                <a:latin typeface="Cambria" pitchFamily="34" charset="0"/>
                <a:ea typeface="Cambria" pitchFamily="34" charset="-122"/>
                <a:cs typeface="Cambria" pitchFamily="34" charset="-120"/>
              </a:rPr>
              <a:t>Feature</a:t>
            </a:r>
            <a:endParaRPr lang="en-US" sz="1800" dirty="0"/>
          </a:p>
        </p:txBody>
      </p:sp>
      <p:sp>
        <p:nvSpPr>
          <p:cNvPr id="19" name="Text 17"/>
          <p:cNvSpPr/>
          <p:nvPr/>
        </p:nvSpPr>
        <p:spPr>
          <a:xfrm>
            <a:off x="594360" y="3223260"/>
            <a:ext cx="1371600" cy="237744"/>
          </a:xfrm>
          <a:prstGeom prst="rect">
            <a:avLst/>
          </a:prstGeom>
          <a:noFill/>
          <a:ln/>
        </p:spPr>
        <p:txBody>
          <a:bodyPr wrap="square" lIns="0" tIns="0" rIns="0" bIns="0" rtlCol="0" anchor="ctr"/>
          <a:lstStyle/>
          <a:p>
            <a:pPr marL="0" indent="0" algn="l">
              <a:buNone/>
            </a:pPr>
            <a:r>
              <a:rPr lang="en-US" sz="1100" dirty="0">
                <a:solidFill>
                  <a:srgbClr val="94A3B8"/>
                </a:solidFill>
                <a:latin typeface="Calibri" pitchFamily="34" charset="0"/>
                <a:ea typeface="Calibri" pitchFamily="34" charset="-122"/>
                <a:cs typeface="Calibri" pitchFamily="34" charset="-120"/>
              </a:rPr>
              <a:t>Capability Plugins</a:t>
            </a:r>
            <a:endParaRPr lang="en-US" sz="1100" dirty="0"/>
          </a:p>
        </p:txBody>
      </p:sp>
      <p:sp>
        <p:nvSpPr>
          <p:cNvPr id="20" name="Shape 18"/>
          <p:cNvSpPr/>
          <p:nvPr/>
        </p:nvSpPr>
        <p:spPr>
          <a:xfrm>
            <a:off x="2103120" y="2875788"/>
            <a:ext cx="18288" cy="530352"/>
          </a:xfrm>
          <a:prstGeom prst="rect">
            <a:avLst/>
          </a:prstGeom>
          <a:solidFill>
            <a:srgbClr val="FFFFFF"/>
          </a:solidFill>
          <a:ln w="6350">
            <a:solidFill>
              <a:srgbClr val="FFFFFF"/>
            </a:solidFill>
            <a:prstDash val="solid"/>
          </a:ln>
        </p:spPr>
        <p:txBody>
          <a:bodyPr/>
          <a:lstStyle/>
          <a:p>
            <a:endParaRPr lang="en-SA"/>
          </a:p>
        </p:txBody>
      </p:sp>
      <p:sp>
        <p:nvSpPr>
          <p:cNvPr id="21" name="Text 19"/>
          <p:cNvSpPr/>
          <p:nvPr/>
        </p:nvSpPr>
        <p:spPr>
          <a:xfrm>
            <a:off x="2240280" y="2930652"/>
            <a:ext cx="6263640" cy="457200"/>
          </a:xfrm>
          <a:prstGeom prst="rect">
            <a:avLst/>
          </a:prstGeom>
          <a:noFill/>
          <a:ln/>
        </p:spPr>
        <p:txBody>
          <a:bodyPr wrap="square" lIns="0" tIns="0" rIns="0" bIns="0" rtlCol="0" anchor="ctr"/>
          <a:lstStyle/>
          <a:p>
            <a:r>
              <a:rPr lang="en-US" sz="1300" dirty="0">
                <a:solidFill>
                  <a:srgbClr val="F1EDE5"/>
                </a:solidFill>
                <a:latin typeface="Calibri" pitchFamily="34" charset="0"/>
                <a:ea typeface="Calibri" pitchFamily="34" charset="-122"/>
                <a:cs typeface="Calibri" pitchFamily="34" charset="-120"/>
              </a:rPr>
              <a:t>monitor  ·  shared_state  ·  emergency_handler  ·  </a:t>
            </a:r>
            <a:r>
              <a:rPr lang="en-US" sz="1300" dirty="0" err="1">
                <a:solidFill>
                  <a:srgbClr val="F1EDE5"/>
                </a:solidFill>
                <a:latin typeface="Calibri" pitchFamily="34" charset="0"/>
                <a:ea typeface="Calibri" pitchFamily="34" charset="-122"/>
                <a:cs typeface="Calibri" pitchFamily="34" charset="-120"/>
              </a:rPr>
              <a:t>human_confirmation</a:t>
            </a:r>
            <a:r>
              <a:rPr lang="zh-CN" altLang="en-US" sz="1300" dirty="0">
                <a:solidFill>
                  <a:srgbClr val="F1EDE5"/>
                </a:solidFill>
                <a:latin typeface="Calibri" pitchFamily="34" charset="0"/>
                <a:ea typeface="Calibri" pitchFamily="34" charset="-122"/>
                <a:cs typeface="Calibri" pitchFamily="34" charset="-120"/>
              </a:rPr>
              <a:t> </a:t>
            </a:r>
            <a:r>
              <a:rPr lang="en-US" sz="1300" dirty="0">
                <a:solidFill>
                  <a:srgbClr val="F1EDE5"/>
                </a:solidFill>
                <a:latin typeface="Calibri" pitchFamily="34" charset="0"/>
                <a:ea typeface="Calibri" pitchFamily="34" charset="-122"/>
                <a:cs typeface="Calibri" pitchFamily="34" charset="-120"/>
              </a:rPr>
              <a:t>·</a:t>
            </a:r>
            <a:r>
              <a:rPr lang="zh-CN" altLang="en-US" sz="1300" dirty="0">
                <a:solidFill>
                  <a:srgbClr val="F1EDE5"/>
                </a:solidFill>
                <a:latin typeface="Calibri" pitchFamily="34" charset="0"/>
                <a:ea typeface="Calibri" pitchFamily="34" charset="-122"/>
                <a:cs typeface="Calibri" pitchFamily="34" charset="-120"/>
              </a:rPr>
              <a:t> </a:t>
            </a:r>
            <a:r>
              <a:rPr lang="en-US" altLang="zh-CN" sz="1300" dirty="0" err="1">
                <a:solidFill>
                  <a:srgbClr val="F1EDE5"/>
                </a:solidFill>
                <a:latin typeface="Calibri" pitchFamily="34" charset="0"/>
                <a:ea typeface="Calibri" pitchFamily="34" charset="-122"/>
                <a:cs typeface="Calibri" pitchFamily="34" charset="-120"/>
              </a:rPr>
              <a:t>gated_pipeline</a:t>
            </a:r>
            <a:endParaRPr lang="en-US" sz="1300" dirty="0"/>
          </a:p>
        </p:txBody>
      </p:sp>
      <p:sp>
        <p:nvSpPr>
          <p:cNvPr id="22" name="Shape 20"/>
          <p:cNvSpPr/>
          <p:nvPr/>
        </p:nvSpPr>
        <p:spPr>
          <a:xfrm>
            <a:off x="4462272" y="3515868"/>
            <a:ext cx="219456" cy="91440"/>
          </a:xfrm>
          <a:prstGeom prst="rect">
            <a:avLst/>
          </a:prstGeom>
          <a:solidFill>
            <a:srgbClr val="EAE5D8"/>
          </a:solidFill>
          <a:ln w="12700">
            <a:solidFill>
              <a:srgbClr val="EAE5D8"/>
            </a:solidFill>
            <a:prstDash val="solid"/>
          </a:ln>
        </p:spPr>
        <p:txBody>
          <a:bodyPr/>
          <a:lstStyle/>
          <a:p>
            <a:endParaRPr lang="en-SA"/>
          </a:p>
        </p:txBody>
      </p:sp>
      <p:sp>
        <p:nvSpPr>
          <p:cNvPr id="23" name="Shape 21"/>
          <p:cNvSpPr/>
          <p:nvPr/>
        </p:nvSpPr>
        <p:spPr>
          <a:xfrm>
            <a:off x="457200" y="3589020"/>
            <a:ext cx="8229600" cy="749808"/>
          </a:xfrm>
          <a:prstGeom prst="rect">
            <a:avLst/>
          </a:prstGeom>
          <a:solidFill>
            <a:srgbClr val="C8973E"/>
          </a:solidFill>
          <a:ln w="12700">
            <a:solidFill>
              <a:srgbClr val="C8973E"/>
            </a:solidFill>
            <a:prstDash val="solid"/>
          </a:ln>
          <a:effectLst>
            <a:outerShdw blurRad="101600" dist="38100" dir="8100000" algn="bl" rotWithShape="0">
              <a:srgbClr val="000000">
                <a:alpha val="13000"/>
              </a:srgbClr>
            </a:outerShdw>
          </a:effectLst>
        </p:spPr>
        <p:txBody>
          <a:bodyPr/>
          <a:lstStyle/>
          <a:p>
            <a:endParaRPr lang="en-SA"/>
          </a:p>
        </p:txBody>
      </p:sp>
      <p:sp>
        <p:nvSpPr>
          <p:cNvPr id="24" name="Text 22"/>
          <p:cNvSpPr/>
          <p:nvPr/>
        </p:nvSpPr>
        <p:spPr>
          <a:xfrm>
            <a:off x="594360" y="3680460"/>
            <a:ext cx="1371600" cy="347472"/>
          </a:xfrm>
          <a:prstGeom prst="rect">
            <a:avLst/>
          </a:prstGeom>
          <a:noFill/>
          <a:ln/>
        </p:spPr>
        <p:txBody>
          <a:bodyPr wrap="square" lIns="0" tIns="0" rIns="0" bIns="0" rtlCol="0" anchor="ctr"/>
          <a:lstStyle/>
          <a:p>
            <a:pPr marL="0" indent="0" algn="l">
              <a:buNone/>
            </a:pPr>
            <a:r>
              <a:rPr lang="en-US" sz="1800" b="1" dirty="0">
                <a:solidFill>
                  <a:srgbClr val="0F172A"/>
                </a:solidFill>
                <a:latin typeface="Cambria" pitchFamily="34" charset="0"/>
                <a:ea typeface="Cambria" pitchFamily="34" charset="-122"/>
                <a:cs typeface="Cambria" pitchFamily="34" charset="-120"/>
              </a:rPr>
              <a:t>Adapter</a:t>
            </a:r>
            <a:endParaRPr lang="en-US" sz="1800" dirty="0"/>
          </a:p>
        </p:txBody>
      </p:sp>
      <p:sp>
        <p:nvSpPr>
          <p:cNvPr id="25" name="Text 23"/>
          <p:cNvSpPr/>
          <p:nvPr/>
        </p:nvSpPr>
        <p:spPr>
          <a:xfrm>
            <a:off x="594360" y="4046220"/>
            <a:ext cx="1371600" cy="237744"/>
          </a:xfrm>
          <a:prstGeom prst="rect">
            <a:avLst/>
          </a:prstGeom>
          <a:noFill/>
          <a:ln/>
        </p:spPr>
        <p:txBody>
          <a:bodyPr wrap="square" lIns="0" tIns="0" rIns="0" bIns="0" rtlCol="0" anchor="ctr"/>
          <a:lstStyle/>
          <a:p>
            <a:pPr marL="0" indent="0" algn="l">
              <a:buNone/>
            </a:pPr>
            <a:r>
              <a:rPr lang="en-US" sz="1100" dirty="0">
                <a:solidFill>
                  <a:srgbClr val="334155"/>
                </a:solidFill>
                <a:latin typeface="Calibri" pitchFamily="34" charset="0"/>
                <a:ea typeface="Calibri" pitchFamily="34" charset="-122"/>
                <a:cs typeface="Calibri" pitchFamily="34" charset="-120"/>
              </a:rPr>
              <a:t>Execution Backend</a:t>
            </a:r>
            <a:endParaRPr lang="en-US" sz="1100" dirty="0"/>
          </a:p>
        </p:txBody>
      </p:sp>
      <p:sp>
        <p:nvSpPr>
          <p:cNvPr id="26" name="Shape 24"/>
          <p:cNvSpPr/>
          <p:nvPr/>
        </p:nvSpPr>
        <p:spPr>
          <a:xfrm>
            <a:off x="2103120" y="3698748"/>
            <a:ext cx="18288" cy="530352"/>
          </a:xfrm>
          <a:prstGeom prst="rect">
            <a:avLst/>
          </a:prstGeom>
          <a:solidFill>
            <a:srgbClr val="1E293B"/>
          </a:solidFill>
          <a:ln w="6350">
            <a:solidFill>
              <a:srgbClr val="1E293B"/>
            </a:solidFill>
            <a:prstDash val="solid"/>
          </a:ln>
        </p:spPr>
        <p:txBody>
          <a:bodyPr/>
          <a:lstStyle/>
          <a:p>
            <a:endParaRPr lang="en-SA"/>
          </a:p>
        </p:txBody>
      </p:sp>
      <p:sp>
        <p:nvSpPr>
          <p:cNvPr id="27" name="Text 25"/>
          <p:cNvSpPr/>
          <p:nvPr/>
        </p:nvSpPr>
        <p:spPr>
          <a:xfrm>
            <a:off x="2240280" y="3753612"/>
            <a:ext cx="6263640" cy="457200"/>
          </a:xfrm>
          <a:prstGeom prst="rect">
            <a:avLst/>
          </a:prstGeom>
          <a:noFill/>
          <a:ln/>
        </p:spPr>
        <p:txBody>
          <a:bodyPr wrap="square" lIns="0" tIns="0" rIns="0" bIns="0" rtlCol="0" anchor="ctr"/>
          <a:lstStyle/>
          <a:p>
            <a:pPr marL="0" indent="0" algn="l">
              <a:buNone/>
            </a:pPr>
            <a:r>
              <a:rPr lang="en-US" sz="1300" dirty="0">
                <a:solidFill>
                  <a:srgbClr val="1E293B"/>
                </a:solidFill>
                <a:latin typeface="Courier New" pitchFamily="34" charset="0"/>
                <a:ea typeface="Courier New" pitchFamily="34" charset="-122"/>
                <a:cs typeface="Courier New" pitchFamily="34" charset="-120"/>
              </a:rPr>
              <a:t>✦ </a:t>
            </a:r>
            <a:r>
              <a:rPr lang="en-US" sz="1300" dirty="0" err="1">
                <a:solidFill>
                  <a:srgbClr val="1E293B"/>
                </a:solidFill>
                <a:latin typeface="Courier New" pitchFamily="34" charset="0"/>
                <a:ea typeface="Courier New" pitchFamily="34" charset="-122"/>
                <a:cs typeface="Courier New" pitchFamily="34" charset="-120"/>
              </a:rPr>
              <a:t>GenericAgent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8F5E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973E"/>
          </a:solidFill>
          <a:ln w="12700">
            <a:solidFill>
              <a:srgbClr val="C8973E"/>
            </a:solidFill>
            <a:prstDash val="solid"/>
          </a:ln>
        </p:spPr>
        <p:txBody>
          <a:bodyPr/>
          <a:lstStyle/>
          <a:p>
            <a:endParaRPr lang="en-SA"/>
          </a:p>
        </p:txBody>
      </p:sp>
      <p:sp>
        <p:nvSpPr>
          <p:cNvPr id="3" name="Text 1"/>
          <p:cNvSpPr/>
          <p:nvPr/>
        </p:nvSpPr>
        <p:spPr>
          <a:xfrm>
            <a:off x="457200" y="182880"/>
            <a:ext cx="8229600" cy="566928"/>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Historical Governance Modeling Examples</a:t>
            </a:r>
            <a:endParaRPr lang="en-US" sz="2600" dirty="0"/>
          </a:p>
        </p:txBody>
      </p:sp>
      <p:sp>
        <p:nvSpPr>
          <p:cNvPr id="4" name="Shape 2"/>
          <p:cNvSpPr/>
          <p:nvPr/>
        </p:nvSpPr>
        <p:spPr>
          <a:xfrm>
            <a:off x="457200" y="804672"/>
            <a:ext cx="8229600" cy="13716"/>
          </a:xfrm>
          <a:prstGeom prst="rect">
            <a:avLst/>
          </a:prstGeom>
          <a:solidFill>
            <a:srgbClr val="EAE5D8"/>
          </a:solidFill>
          <a:ln w="12700">
            <a:solidFill>
              <a:srgbClr val="EAE5D8"/>
            </a:solidFill>
            <a:prstDash val="solid"/>
          </a:ln>
        </p:spPr>
        <p:txBody>
          <a:bodyPr/>
          <a:lstStyle/>
          <a:p>
            <a:endParaRPr lang="en-SA"/>
          </a:p>
        </p:txBody>
      </p:sp>
      <p:sp>
        <p:nvSpPr>
          <p:cNvPr id="5" name="Shape 3"/>
          <p:cNvSpPr/>
          <p:nvPr/>
        </p:nvSpPr>
        <p:spPr>
          <a:xfrm>
            <a:off x="457200" y="960120"/>
            <a:ext cx="3886200" cy="1828800"/>
          </a:xfrm>
          <a:prstGeom prst="rect">
            <a:avLst/>
          </a:prstGeom>
          <a:solidFill>
            <a:srgbClr val="0F172A"/>
          </a:solidFill>
          <a:ln w="12700">
            <a:solidFill>
              <a:srgbClr val="0F172A"/>
            </a:solidFill>
            <a:prstDash val="solid"/>
          </a:ln>
          <a:effectLst>
            <a:outerShdw blurRad="101600" dist="38100" dir="8100000" algn="bl" rotWithShape="0">
              <a:srgbClr val="000000">
                <a:alpha val="13000"/>
              </a:srgbClr>
            </a:outerShdw>
          </a:effectLst>
        </p:spPr>
        <p:txBody>
          <a:bodyPr/>
          <a:lstStyle/>
          <a:p>
            <a:endParaRPr lang="en-SA"/>
          </a:p>
        </p:txBody>
      </p:sp>
      <p:sp>
        <p:nvSpPr>
          <p:cNvPr id="6" name="Text 4"/>
          <p:cNvSpPr/>
          <p:nvPr/>
        </p:nvSpPr>
        <p:spPr>
          <a:xfrm>
            <a:off x="594360" y="1051560"/>
            <a:ext cx="2286000" cy="365760"/>
          </a:xfrm>
          <a:prstGeom prst="rect">
            <a:avLst/>
          </a:prstGeom>
          <a:noFill/>
          <a:ln/>
        </p:spPr>
        <p:txBody>
          <a:bodyPr wrap="square" lIns="0" tIns="0" rIns="0" bIns="0" rtlCol="0" anchor="ctr"/>
          <a:lstStyle/>
          <a:p>
            <a:pPr marL="0" indent="0" algn="l">
              <a:buNone/>
            </a:pPr>
            <a:r>
              <a:rPr lang="en-US" sz="1600" b="1" dirty="0">
                <a:solidFill>
                  <a:srgbClr val="C8973E"/>
                </a:solidFill>
                <a:latin typeface="Cambria" pitchFamily="34" charset="0"/>
                <a:ea typeface="Cambria" pitchFamily="34" charset="-122"/>
                <a:cs typeface="Cambria" pitchFamily="34" charset="-120"/>
              </a:rPr>
              <a:t>Mongol Empire</a:t>
            </a:r>
            <a:endParaRPr lang="en-US" sz="1600" dirty="0"/>
          </a:p>
        </p:txBody>
      </p:sp>
      <p:sp>
        <p:nvSpPr>
          <p:cNvPr id="9" name="Shape 7"/>
          <p:cNvSpPr/>
          <p:nvPr/>
        </p:nvSpPr>
        <p:spPr>
          <a:xfrm>
            <a:off x="594360" y="1463040"/>
            <a:ext cx="1417320" cy="246888"/>
          </a:xfrm>
          <a:prstGeom prst="rect">
            <a:avLst/>
          </a:prstGeom>
          <a:solidFill>
            <a:srgbClr val="FFFFFF">
              <a:alpha val="20000"/>
            </a:srgbClr>
          </a:solidFill>
          <a:ln w="6350">
            <a:solidFill>
              <a:srgbClr val="FFFFFF"/>
            </a:solidFill>
            <a:prstDash val="solid"/>
          </a:ln>
        </p:spPr>
        <p:txBody>
          <a:bodyPr/>
          <a:lstStyle/>
          <a:p>
            <a:endParaRPr lang="en-SA"/>
          </a:p>
        </p:txBody>
      </p:sp>
      <p:sp>
        <p:nvSpPr>
          <p:cNvPr id="10" name="Text 8"/>
          <p:cNvSpPr/>
          <p:nvPr/>
        </p:nvSpPr>
        <p:spPr>
          <a:xfrm>
            <a:off x="594360" y="1463040"/>
            <a:ext cx="1417320" cy="246888"/>
          </a:xfrm>
          <a:prstGeom prst="rect">
            <a:avLst/>
          </a:prstGeom>
          <a:noFill/>
          <a:ln/>
        </p:spPr>
        <p:txBody>
          <a:bodyPr wrap="square" lIns="0" tIns="0" rIns="0" bIns="0" rtlCol="0" anchor="ctr"/>
          <a:lstStyle/>
          <a:p>
            <a:pPr marL="0" indent="0" algn="ctr">
              <a:buNone/>
            </a:pPr>
            <a:r>
              <a:rPr lang="en-US" sz="900" dirty="0">
                <a:solidFill>
                  <a:srgbClr val="F1EDE5"/>
                </a:solidFill>
                <a:latin typeface="Courier New" pitchFamily="34" charset="0"/>
                <a:ea typeface="Courier New" pitchFamily="34" charset="-122"/>
                <a:cs typeface="Courier New" pitchFamily="34" charset="-120"/>
              </a:rPr>
              <a:t>pipeline</a:t>
            </a:r>
            <a:endParaRPr lang="en-US" sz="900" dirty="0"/>
          </a:p>
        </p:txBody>
      </p:sp>
      <p:sp>
        <p:nvSpPr>
          <p:cNvPr id="11" name="Text 9"/>
          <p:cNvSpPr/>
          <p:nvPr/>
        </p:nvSpPr>
        <p:spPr>
          <a:xfrm>
            <a:off x="594360" y="1783080"/>
            <a:ext cx="3611880" cy="411480"/>
          </a:xfrm>
          <a:prstGeom prst="rect">
            <a:avLst/>
          </a:prstGeom>
          <a:noFill/>
          <a:ln/>
        </p:spPr>
        <p:txBody>
          <a:bodyPr wrap="square" lIns="0" tIns="0" rIns="0" bIns="0"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Khan's Order → Imperial Secretariat → Tumen → Mingghan → Jaghun → Arban</a:t>
            </a:r>
            <a:endParaRPr lang="en-US" sz="1050" dirty="0"/>
          </a:p>
        </p:txBody>
      </p:sp>
      <p:sp>
        <p:nvSpPr>
          <p:cNvPr id="12" name="Text 10"/>
          <p:cNvSpPr/>
          <p:nvPr/>
        </p:nvSpPr>
        <p:spPr>
          <a:xfrm>
            <a:off x="594360" y="2258568"/>
            <a:ext cx="3611880" cy="411480"/>
          </a:xfrm>
          <a:prstGeom prst="rect">
            <a:avLst/>
          </a:prstGeom>
          <a:noFill/>
          <a:ln/>
        </p:spPr>
        <p:txBody>
          <a:bodyPr wrap="square" lIns="0" tIns="0" rIns="0" bIns="0" rtlCol="0" anchor="ctr"/>
          <a:lstStyle/>
          <a:p>
            <a:pPr marL="0" indent="0" algn="l">
              <a:buNone/>
            </a:pPr>
            <a:r>
              <a:rPr lang="en-US" sz="1100" i="1" dirty="0">
                <a:solidFill>
                  <a:srgbClr val="F0DEB4"/>
                </a:solidFill>
                <a:latin typeface="Calibri" pitchFamily="34" charset="0"/>
                <a:ea typeface="Calibri" pitchFamily="34" charset="-122"/>
                <a:cs typeface="Calibri" pitchFamily="34" charset="-120"/>
              </a:rPr>
              <a:t>Flat command chain, orders reach directly to end, no approval bottlenecks</a:t>
            </a:r>
            <a:endParaRPr lang="en-US" sz="1100" dirty="0"/>
          </a:p>
        </p:txBody>
      </p:sp>
      <p:sp>
        <p:nvSpPr>
          <p:cNvPr id="13" name="Shape 11"/>
          <p:cNvSpPr/>
          <p:nvPr/>
        </p:nvSpPr>
        <p:spPr>
          <a:xfrm>
            <a:off x="4800600" y="960120"/>
            <a:ext cx="3886200" cy="1828800"/>
          </a:xfrm>
          <a:prstGeom prst="rect">
            <a:avLst/>
          </a:prstGeom>
          <a:solidFill>
            <a:srgbClr val="1E293B"/>
          </a:solidFill>
          <a:ln w="12700">
            <a:solidFill>
              <a:srgbClr val="1E293B"/>
            </a:solidFill>
            <a:prstDash val="solid"/>
          </a:ln>
          <a:effectLst>
            <a:outerShdw blurRad="101600" dist="38100" dir="8100000" algn="bl" rotWithShape="0">
              <a:srgbClr val="000000">
                <a:alpha val="13000"/>
              </a:srgbClr>
            </a:outerShdw>
          </a:effectLst>
        </p:spPr>
        <p:txBody>
          <a:bodyPr/>
          <a:lstStyle/>
          <a:p>
            <a:endParaRPr lang="en-SA"/>
          </a:p>
        </p:txBody>
      </p:sp>
      <p:sp>
        <p:nvSpPr>
          <p:cNvPr id="14" name="Text 12"/>
          <p:cNvSpPr/>
          <p:nvPr/>
        </p:nvSpPr>
        <p:spPr>
          <a:xfrm>
            <a:off x="4937760" y="1051560"/>
            <a:ext cx="2286000" cy="365760"/>
          </a:xfrm>
          <a:prstGeom prst="rect">
            <a:avLst/>
          </a:prstGeom>
          <a:noFill/>
          <a:ln/>
        </p:spPr>
        <p:txBody>
          <a:bodyPr wrap="square" lIns="0" tIns="0" rIns="0" bIns="0" rtlCol="0" anchor="ctr"/>
          <a:lstStyle/>
          <a:p>
            <a:pPr marL="0" indent="0" algn="l">
              <a:buNone/>
            </a:pPr>
            <a:r>
              <a:rPr lang="en-US" sz="1600" b="1" dirty="0">
                <a:solidFill>
                  <a:srgbClr val="C8973E"/>
                </a:solidFill>
                <a:latin typeface="Cambria" pitchFamily="34" charset="0"/>
                <a:ea typeface="Cambria" pitchFamily="34" charset="-122"/>
                <a:cs typeface="Cambria" pitchFamily="34" charset="-120"/>
              </a:rPr>
              <a:t>Tang Three-Chancellery System</a:t>
            </a:r>
            <a:endParaRPr lang="en-US" sz="1600" dirty="0"/>
          </a:p>
        </p:txBody>
      </p:sp>
      <p:sp>
        <p:nvSpPr>
          <p:cNvPr id="17" name="Shape 15"/>
          <p:cNvSpPr/>
          <p:nvPr/>
        </p:nvSpPr>
        <p:spPr>
          <a:xfrm>
            <a:off x="4937760" y="1463040"/>
            <a:ext cx="1417320" cy="246888"/>
          </a:xfrm>
          <a:prstGeom prst="rect">
            <a:avLst/>
          </a:prstGeom>
          <a:solidFill>
            <a:srgbClr val="FFFFFF">
              <a:alpha val="20000"/>
            </a:srgbClr>
          </a:solidFill>
          <a:ln w="6350">
            <a:solidFill>
              <a:srgbClr val="FFFFFF"/>
            </a:solidFill>
            <a:prstDash val="solid"/>
          </a:ln>
        </p:spPr>
        <p:txBody>
          <a:bodyPr/>
          <a:lstStyle/>
          <a:p>
            <a:endParaRPr lang="en-SA"/>
          </a:p>
        </p:txBody>
      </p:sp>
      <p:sp>
        <p:nvSpPr>
          <p:cNvPr id="18" name="Text 16"/>
          <p:cNvSpPr/>
          <p:nvPr/>
        </p:nvSpPr>
        <p:spPr>
          <a:xfrm>
            <a:off x="4937760" y="1463040"/>
            <a:ext cx="1417320" cy="246888"/>
          </a:xfrm>
          <a:prstGeom prst="rect">
            <a:avLst/>
          </a:prstGeom>
          <a:noFill/>
          <a:ln/>
        </p:spPr>
        <p:txBody>
          <a:bodyPr wrap="square" lIns="0" tIns="0" rIns="0" bIns="0" rtlCol="0" anchor="ctr"/>
          <a:lstStyle/>
          <a:p>
            <a:pPr marL="0" indent="0" algn="ctr">
              <a:buNone/>
            </a:pPr>
            <a:r>
              <a:rPr lang="en-US" sz="900" dirty="0">
                <a:solidFill>
                  <a:srgbClr val="F1EDE5"/>
                </a:solidFill>
                <a:latin typeface="Courier New" pitchFamily="34" charset="0"/>
                <a:ea typeface="Courier New" pitchFamily="34" charset="-122"/>
                <a:cs typeface="Courier New" pitchFamily="34" charset="-120"/>
              </a:rPr>
              <a:t>gated_pipeline</a:t>
            </a:r>
            <a:endParaRPr lang="en-US" sz="900" dirty="0"/>
          </a:p>
        </p:txBody>
      </p:sp>
      <p:sp>
        <p:nvSpPr>
          <p:cNvPr id="19" name="Text 17"/>
          <p:cNvSpPr/>
          <p:nvPr/>
        </p:nvSpPr>
        <p:spPr>
          <a:xfrm>
            <a:off x="4937760" y="1783080"/>
            <a:ext cx="3611880" cy="411480"/>
          </a:xfrm>
          <a:prstGeom prst="rect">
            <a:avLst/>
          </a:prstGeom>
          <a:noFill/>
          <a:ln/>
        </p:spPr>
        <p:txBody>
          <a:bodyPr wrap="square" lIns="0" tIns="0" rIns="0" bIns="0"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Emperor → Zhongshu (Draft) → Menxia (Review) → Shangshu → Six Ministries</a:t>
            </a:r>
            <a:endParaRPr lang="en-US" sz="1050" dirty="0"/>
          </a:p>
        </p:txBody>
      </p:sp>
      <p:sp>
        <p:nvSpPr>
          <p:cNvPr id="20" name="Text 18"/>
          <p:cNvSpPr/>
          <p:nvPr/>
        </p:nvSpPr>
        <p:spPr>
          <a:xfrm>
            <a:off x="4937760" y="2258568"/>
            <a:ext cx="3611880" cy="411480"/>
          </a:xfrm>
          <a:prstGeom prst="rect">
            <a:avLst/>
          </a:prstGeom>
          <a:noFill/>
          <a:ln/>
        </p:spPr>
        <p:txBody>
          <a:bodyPr wrap="square" lIns="0" tIns="0" rIns="0" bIns="0" rtlCol="0" anchor="ctr"/>
          <a:lstStyle/>
          <a:p>
            <a:pPr marL="0" indent="0" algn="l">
              <a:buNone/>
            </a:pPr>
            <a:r>
              <a:rPr lang="en-US" sz="1100" i="1" dirty="0">
                <a:solidFill>
                  <a:srgbClr val="F0DEB4"/>
                </a:solidFill>
                <a:latin typeface="Calibri" pitchFamily="34" charset="0"/>
                <a:ea typeface="Calibri" pitchFamily="34" charset="-122"/>
                <a:cs typeface="Calibri" pitchFamily="34" charset="-120"/>
              </a:rPr>
              <a:t>Gated pipeline, Menxia can veto, quality assurance but high delay risk</a:t>
            </a:r>
            <a:endParaRPr lang="en-US" sz="1100" dirty="0"/>
          </a:p>
        </p:txBody>
      </p:sp>
      <p:sp>
        <p:nvSpPr>
          <p:cNvPr id="21" name="Shape 19"/>
          <p:cNvSpPr/>
          <p:nvPr/>
        </p:nvSpPr>
        <p:spPr>
          <a:xfrm>
            <a:off x="457200" y="2971800"/>
            <a:ext cx="3886200" cy="1828800"/>
          </a:xfrm>
          <a:prstGeom prst="rect">
            <a:avLst/>
          </a:prstGeom>
          <a:solidFill>
            <a:srgbClr val="334155"/>
          </a:solidFill>
          <a:ln w="12700">
            <a:solidFill>
              <a:srgbClr val="334155"/>
            </a:solidFill>
            <a:prstDash val="solid"/>
          </a:ln>
          <a:effectLst>
            <a:outerShdw blurRad="101600" dist="38100" dir="8100000" algn="bl" rotWithShape="0">
              <a:srgbClr val="000000">
                <a:alpha val="13000"/>
              </a:srgbClr>
            </a:outerShdw>
          </a:effectLst>
        </p:spPr>
        <p:txBody>
          <a:bodyPr/>
          <a:lstStyle/>
          <a:p>
            <a:endParaRPr lang="en-SA"/>
          </a:p>
        </p:txBody>
      </p:sp>
      <p:sp>
        <p:nvSpPr>
          <p:cNvPr id="22" name="Text 20"/>
          <p:cNvSpPr/>
          <p:nvPr/>
        </p:nvSpPr>
        <p:spPr>
          <a:xfrm>
            <a:off x="594360" y="3063240"/>
            <a:ext cx="2286000" cy="365760"/>
          </a:xfrm>
          <a:prstGeom prst="rect">
            <a:avLst/>
          </a:prstGeom>
          <a:noFill/>
          <a:ln/>
        </p:spPr>
        <p:txBody>
          <a:bodyPr wrap="square" lIns="0" tIns="0" rIns="0" bIns="0" rtlCol="0" anchor="ctr"/>
          <a:lstStyle/>
          <a:p>
            <a:pPr marL="0" indent="0" algn="l">
              <a:buNone/>
            </a:pPr>
            <a:r>
              <a:rPr lang="en-US" sz="1600" b="1" dirty="0">
                <a:solidFill>
                  <a:srgbClr val="C8973E"/>
                </a:solidFill>
                <a:latin typeface="Cambria" pitchFamily="34" charset="0"/>
                <a:ea typeface="Cambria" pitchFamily="34" charset="-122"/>
                <a:cs typeface="Cambria" pitchFamily="34" charset="-120"/>
              </a:rPr>
              <a:t>Athenian Democracy</a:t>
            </a:r>
            <a:endParaRPr lang="en-US" sz="1600" dirty="0"/>
          </a:p>
        </p:txBody>
      </p:sp>
      <p:sp>
        <p:nvSpPr>
          <p:cNvPr id="25" name="Shape 23"/>
          <p:cNvSpPr/>
          <p:nvPr/>
        </p:nvSpPr>
        <p:spPr>
          <a:xfrm>
            <a:off x="594360" y="3474720"/>
            <a:ext cx="1417320" cy="246888"/>
          </a:xfrm>
          <a:prstGeom prst="rect">
            <a:avLst/>
          </a:prstGeom>
          <a:solidFill>
            <a:srgbClr val="FFFFFF">
              <a:alpha val="20000"/>
            </a:srgbClr>
          </a:solidFill>
          <a:ln w="6350">
            <a:solidFill>
              <a:srgbClr val="FFFFFF"/>
            </a:solidFill>
            <a:prstDash val="solid"/>
          </a:ln>
        </p:spPr>
        <p:txBody>
          <a:bodyPr/>
          <a:lstStyle/>
          <a:p>
            <a:endParaRPr lang="en-SA"/>
          </a:p>
        </p:txBody>
      </p:sp>
      <p:sp>
        <p:nvSpPr>
          <p:cNvPr id="26" name="Text 24"/>
          <p:cNvSpPr/>
          <p:nvPr/>
        </p:nvSpPr>
        <p:spPr>
          <a:xfrm>
            <a:off x="594360" y="3474720"/>
            <a:ext cx="1417320" cy="246888"/>
          </a:xfrm>
          <a:prstGeom prst="rect">
            <a:avLst/>
          </a:prstGeom>
          <a:noFill/>
          <a:ln/>
        </p:spPr>
        <p:txBody>
          <a:bodyPr wrap="square" lIns="0" tIns="0" rIns="0" bIns="0" rtlCol="0" anchor="ctr"/>
          <a:lstStyle/>
          <a:p>
            <a:pPr marL="0" indent="0" algn="ctr">
              <a:buNone/>
            </a:pPr>
            <a:r>
              <a:rPr lang="en-US" sz="900" dirty="0">
                <a:solidFill>
                  <a:srgbClr val="F1EDE5"/>
                </a:solidFill>
                <a:latin typeface="Courier New" pitchFamily="34" charset="0"/>
                <a:ea typeface="Courier New" pitchFamily="34" charset="-122"/>
                <a:cs typeface="Courier New" pitchFamily="34" charset="-120"/>
              </a:rPr>
              <a:t>consensus</a:t>
            </a:r>
            <a:endParaRPr lang="en-US" sz="900" dirty="0"/>
          </a:p>
        </p:txBody>
      </p:sp>
      <p:sp>
        <p:nvSpPr>
          <p:cNvPr id="27" name="Text 25"/>
          <p:cNvSpPr/>
          <p:nvPr/>
        </p:nvSpPr>
        <p:spPr>
          <a:xfrm>
            <a:off x="594360" y="3794760"/>
            <a:ext cx="3611880" cy="411480"/>
          </a:xfrm>
          <a:prstGeom prst="rect">
            <a:avLst/>
          </a:prstGeom>
          <a:noFill/>
          <a:ln/>
        </p:spPr>
        <p:txBody>
          <a:bodyPr wrap="square" lIns="0" tIns="0" rIns="0" bIns="0"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Citizen Assembly (ekklesia) full vote → strategos executes</a:t>
            </a:r>
            <a:endParaRPr lang="en-US" sz="1050" dirty="0"/>
          </a:p>
        </p:txBody>
      </p:sp>
      <p:sp>
        <p:nvSpPr>
          <p:cNvPr id="28" name="Text 26"/>
          <p:cNvSpPr/>
          <p:nvPr/>
        </p:nvSpPr>
        <p:spPr>
          <a:xfrm>
            <a:off x="594360" y="4270248"/>
            <a:ext cx="3611880" cy="411480"/>
          </a:xfrm>
          <a:prstGeom prst="rect">
            <a:avLst/>
          </a:prstGeom>
          <a:noFill/>
          <a:ln/>
        </p:spPr>
        <p:txBody>
          <a:bodyPr wrap="square" lIns="0" tIns="0" rIns="0" bIns="0" rtlCol="0" anchor="ctr"/>
          <a:lstStyle/>
          <a:p>
            <a:pPr marL="0" indent="0" algn="l">
              <a:buNone/>
            </a:pPr>
            <a:r>
              <a:rPr lang="en-US" sz="1100" i="1" dirty="0">
                <a:solidFill>
                  <a:srgbClr val="F0DEB4"/>
                </a:solidFill>
                <a:latin typeface="Calibri" pitchFamily="34" charset="0"/>
                <a:ea typeface="Calibri" pitchFamily="34" charset="-122"/>
                <a:cs typeface="Calibri" pitchFamily="34" charset="-120"/>
              </a:rPr>
              <a:t>Full consensus mechanism, democratic but execution budget easily exhausted, high failure rate</a:t>
            </a:r>
            <a:endParaRPr lang="en-US" sz="1100" dirty="0"/>
          </a:p>
        </p:txBody>
      </p:sp>
      <p:sp>
        <p:nvSpPr>
          <p:cNvPr id="29" name="Shape 27"/>
          <p:cNvSpPr/>
          <p:nvPr/>
        </p:nvSpPr>
        <p:spPr>
          <a:xfrm>
            <a:off x="4800600" y="2971800"/>
            <a:ext cx="3886200" cy="1828800"/>
          </a:xfrm>
          <a:prstGeom prst="rect">
            <a:avLst/>
          </a:prstGeom>
          <a:solidFill>
            <a:srgbClr val="64748B"/>
          </a:solidFill>
          <a:ln w="12700">
            <a:solidFill>
              <a:srgbClr val="64748B"/>
            </a:solidFill>
            <a:prstDash val="solid"/>
          </a:ln>
          <a:effectLst>
            <a:outerShdw blurRad="101600" dist="38100" dir="8100000" algn="bl" rotWithShape="0">
              <a:srgbClr val="000000">
                <a:alpha val="13000"/>
              </a:srgbClr>
            </a:outerShdw>
          </a:effectLst>
        </p:spPr>
        <p:txBody>
          <a:bodyPr/>
          <a:lstStyle/>
          <a:p>
            <a:endParaRPr lang="en-SA"/>
          </a:p>
        </p:txBody>
      </p:sp>
      <p:sp>
        <p:nvSpPr>
          <p:cNvPr id="30" name="Text 28"/>
          <p:cNvSpPr/>
          <p:nvPr/>
        </p:nvSpPr>
        <p:spPr>
          <a:xfrm>
            <a:off x="4937760" y="3063240"/>
            <a:ext cx="2286000" cy="365760"/>
          </a:xfrm>
          <a:prstGeom prst="rect">
            <a:avLst/>
          </a:prstGeom>
          <a:noFill/>
          <a:ln/>
        </p:spPr>
        <p:txBody>
          <a:bodyPr wrap="square" lIns="0" tIns="0" rIns="0" bIns="0" rtlCol="0" anchor="ctr"/>
          <a:lstStyle/>
          <a:p>
            <a:pPr marL="0" indent="0" algn="l">
              <a:buNone/>
            </a:pPr>
            <a:r>
              <a:rPr lang="en-US" sz="1600" b="1" dirty="0">
                <a:solidFill>
                  <a:srgbClr val="C8973E"/>
                </a:solidFill>
                <a:latin typeface="Cambria" pitchFamily="34" charset="0"/>
                <a:ea typeface="Cambria" pitchFamily="34" charset="-122"/>
                <a:cs typeface="Cambria" pitchFamily="34" charset="-120"/>
              </a:rPr>
              <a:t>US Federal System</a:t>
            </a:r>
            <a:endParaRPr lang="en-US" sz="1600" dirty="0"/>
          </a:p>
        </p:txBody>
      </p:sp>
      <p:sp>
        <p:nvSpPr>
          <p:cNvPr id="33" name="Shape 31"/>
          <p:cNvSpPr/>
          <p:nvPr/>
        </p:nvSpPr>
        <p:spPr>
          <a:xfrm>
            <a:off x="4937760" y="3474720"/>
            <a:ext cx="1417320" cy="246888"/>
          </a:xfrm>
          <a:prstGeom prst="rect">
            <a:avLst/>
          </a:prstGeom>
          <a:solidFill>
            <a:srgbClr val="FFFFFF">
              <a:alpha val="20000"/>
            </a:srgbClr>
          </a:solidFill>
          <a:ln w="6350">
            <a:solidFill>
              <a:srgbClr val="FFFFFF"/>
            </a:solidFill>
            <a:prstDash val="solid"/>
          </a:ln>
        </p:spPr>
        <p:txBody>
          <a:bodyPr/>
          <a:lstStyle/>
          <a:p>
            <a:endParaRPr lang="en-SA"/>
          </a:p>
        </p:txBody>
      </p:sp>
      <p:sp>
        <p:nvSpPr>
          <p:cNvPr id="34" name="Text 32"/>
          <p:cNvSpPr/>
          <p:nvPr/>
        </p:nvSpPr>
        <p:spPr>
          <a:xfrm>
            <a:off x="4937760" y="3474720"/>
            <a:ext cx="1417320" cy="246888"/>
          </a:xfrm>
          <a:prstGeom prst="rect">
            <a:avLst/>
          </a:prstGeom>
          <a:noFill/>
          <a:ln/>
        </p:spPr>
        <p:txBody>
          <a:bodyPr wrap="square" lIns="0" tIns="0" rIns="0" bIns="0" rtlCol="0" anchor="ctr"/>
          <a:lstStyle/>
          <a:p>
            <a:pPr marL="0" indent="0" algn="ctr">
              <a:buNone/>
            </a:pPr>
            <a:r>
              <a:rPr lang="en-US" sz="900" dirty="0">
                <a:solidFill>
                  <a:srgbClr val="F1EDE5"/>
                </a:solidFill>
                <a:latin typeface="Courier New" pitchFamily="34" charset="0"/>
                <a:ea typeface="Courier New" pitchFamily="34" charset="-122"/>
                <a:cs typeface="Courier New" pitchFamily="34" charset="-120"/>
              </a:rPr>
              <a:t>gated_pipeline</a:t>
            </a:r>
            <a:endParaRPr lang="en-US" sz="900" dirty="0"/>
          </a:p>
        </p:txBody>
      </p:sp>
      <p:sp>
        <p:nvSpPr>
          <p:cNvPr id="35" name="Text 33"/>
          <p:cNvSpPr/>
          <p:nvPr/>
        </p:nvSpPr>
        <p:spPr>
          <a:xfrm>
            <a:off x="4937760" y="3794760"/>
            <a:ext cx="3611880" cy="411480"/>
          </a:xfrm>
          <a:prstGeom prst="rect">
            <a:avLst/>
          </a:prstGeom>
          <a:noFill/>
          <a:ln/>
        </p:spPr>
        <p:txBody>
          <a:bodyPr wrap="square" lIns="0" tIns="0" rIns="0" bIns="0" rtlCol="0" anchor="ctr"/>
          <a:lstStyle/>
          <a:p>
            <a:pPr marL="0" indent="0" algn="l">
              <a:buNone/>
            </a:pPr>
            <a:r>
              <a:rPr lang="en-US" sz="1050" dirty="0">
                <a:solidFill>
                  <a:srgbClr val="94A3B8"/>
                </a:solidFill>
                <a:latin typeface="Calibri" pitchFamily="34" charset="0"/>
                <a:ea typeface="Calibri" pitchFamily="34" charset="-122"/>
                <a:cs typeface="Calibri" pitchFamily="34" charset="-120"/>
              </a:rPr>
              <a:t>Legislators propose → Committee review → Executive agencies (agency)</a:t>
            </a:r>
            <a:endParaRPr lang="en-US" sz="1050" dirty="0"/>
          </a:p>
        </p:txBody>
      </p:sp>
      <p:sp>
        <p:nvSpPr>
          <p:cNvPr id="36" name="Text 34"/>
          <p:cNvSpPr/>
          <p:nvPr/>
        </p:nvSpPr>
        <p:spPr>
          <a:xfrm>
            <a:off x="4937760" y="4270248"/>
            <a:ext cx="3611880" cy="411480"/>
          </a:xfrm>
          <a:prstGeom prst="rect">
            <a:avLst/>
          </a:prstGeom>
          <a:noFill/>
          <a:ln/>
        </p:spPr>
        <p:txBody>
          <a:bodyPr wrap="square" lIns="0" tIns="0" rIns="0" bIns="0" rtlCol="0" anchor="ctr"/>
          <a:lstStyle/>
          <a:p>
            <a:pPr marL="0" indent="0" algn="l">
              <a:buNone/>
            </a:pPr>
            <a:r>
              <a:rPr lang="en-US" sz="1100" i="1" dirty="0">
                <a:solidFill>
                  <a:srgbClr val="F0DEB4"/>
                </a:solidFill>
                <a:latin typeface="Calibri" pitchFamily="34" charset="0"/>
                <a:ea typeface="Calibri" pitchFamily="34" charset="-122"/>
                <a:cs typeface="Calibri" pitchFamily="34" charset="-120"/>
              </a:rPr>
              <a:t>Multi-layer gated approval, committees can reject proposals, severely drains execution capacity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C8973E"/>
          </a:solidFill>
          <a:ln w="12700">
            <a:solidFill>
              <a:srgbClr val="C8973E"/>
            </a:solidFill>
            <a:prstDash val="solid"/>
          </a:ln>
        </p:spPr>
        <p:txBody>
          <a:bodyPr/>
          <a:lstStyle/>
          <a:p>
            <a:endParaRPr lang="en-SA"/>
          </a:p>
        </p:txBody>
      </p:sp>
      <p:sp>
        <p:nvSpPr>
          <p:cNvPr id="3" name="Text 1"/>
          <p:cNvSpPr/>
          <p:nvPr/>
        </p:nvSpPr>
        <p:spPr>
          <a:xfrm>
            <a:off x="320040" y="182880"/>
            <a:ext cx="8412480" cy="566928"/>
          </a:xfrm>
          <a:prstGeom prst="rect">
            <a:avLst/>
          </a:prstGeom>
          <a:noFill/>
          <a:ln/>
        </p:spPr>
        <p:txBody>
          <a:bodyPr wrap="square" lIns="0" tIns="0" rIns="0" bIns="0" rtlCol="0" anchor="ctr"/>
          <a:lstStyle/>
          <a:p>
            <a:pPr marL="0" indent="0" algn="l">
              <a:buNone/>
            </a:pPr>
            <a:r>
              <a:rPr lang="en-US" sz="2600" b="1" dirty="0">
                <a:solidFill>
                  <a:srgbClr val="F1EDE5"/>
                </a:solidFill>
                <a:latin typeface="Cambria" pitchFamily="34" charset="0"/>
                <a:ea typeface="Cambria" pitchFamily="34" charset="-122"/>
                <a:cs typeface="Cambria" pitchFamily="34" charset="-120"/>
              </a:rPr>
              <a:t>Demo: Trace Visualization</a:t>
            </a:r>
            <a:endParaRPr lang="en-US" sz="2600" dirty="0"/>
          </a:p>
        </p:txBody>
      </p:sp>
      <p:sp>
        <p:nvSpPr>
          <p:cNvPr id="4" name="Shape 2"/>
          <p:cNvSpPr/>
          <p:nvPr/>
        </p:nvSpPr>
        <p:spPr>
          <a:xfrm>
            <a:off x="6217920" y="182880"/>
            <a:ext cx="2606040" cy="384048"/>
          </a:xfrm>
          <a:prstGeom prst="rect">
            <a:avLst/>
          </a:prstGeom>
          <a:solidFill>
            <a:srgbClr val="C8973E"/>
          </a:solidFill>
          <a:ln w="12700">
            <a:solidFill>
              <a:srgbClr val="C8973E"/>
            </a:solidFill>
            <a:prstDash val="solid"/>
          </a:ln>
        </p:spPr>
        <p:txBody>
          <a:bodyPr/>
          <a:lstStyle/>
          <a:p>
            <a:endParaRPr lang="en-SA"/>
          </a:p>
        </p:txBody>
      </p:sp>
      <p:sp>
        <p:nvSpPr>
          <p:cNvPr id="5" name="Text 3"/>
          <p:cNvSpPr/>
          <p:nvPr/>
        </p:nvSpPr>
        <p:spPr>
          <a:xfrm>
            <a:off x="6217920" y="182880"/>
            <a:ext cx="2606040" cy="384048"/>
          </a:xfrm>
          <a:prstGeom prst="rect">
            <a:avLst/>
          </a:prstGeom>
          <a:noFill/>
          <a:ln/>
        </p:spPr>
        <p:txBody>
          <a:bodyPr wrap="square" lIns="0" tIns="0" rIns="0" bIns="0" rtlCol="0" anchor="ctr"/>
          <a:lstStyle/>
          <a:p>
            <a:pPr marL="0" indent="0" algn="ctr">
              <a:buNone/>
            </a:pPr>
            <a:r>
              <a:rPr lang="en-US" sz="1100" b="1" dirty="0">
                <a:solidFill>
                  <a:srgbClr val="0F172A"/>
                </a:solidFill>
                <a:latin typeface="Courier New" pitchFamily="34" charset="0"/>
                <a:ea typeface="Courier New" pitchFamily="34" charset="-122"/>
                <a:cs typeface="Courier New" pitchFamily="34" charset="-120"/>
              </a:rPr>
              <a:t>task_10_workflow</a:t>
            </a:r>
          </a:p>
          <a:p>
            <a:pPr marL="0" indent="0" algn="ctr">
              <a:buNone/>
            </a:pPr>
            <a:r>
              <a:rPr lang="en-US" sz="1100" b="1" dirty="0">
                <a:solidFill>
                  <a:srgbClr val="0F172A"/>
                </a:solidFill>
                <a:latin typeface="Courier New" pitchFamily="34" charset="0"/>
                <a:ea typeface="Courier New" pitchFamily="34" charset="-122"/>
                <a:cs typeface="Courier New" pitchFamily="34" charset="-120"/>
              </a:rPr>
              <a:t>Score 98/100</a:t>
            </a:r>
            <a:endParaRPr lang="en-US" sz="1100" dirty="0"/>
          </a:p>
        </p:txBody>
      </p:sp>
      <p:sp>
        <p:nvSpPr>
          <p:cNvPr id="6" name="Text 4"/>
          <p:cNvSpPr/>
          <p:nvPr/>
        </p:nvSpPr>
        <p:spPr>
          <a:xfrm>
            <a:off x="320040" y="713232"/>
            <a:ext cx="8503920" cy="274320"/>
          </a:xfrm>
          <a:prstGeom prst="rect">
            <a:avLst/>
          </a:prstGeom>
          <a:noFill/>
          <a:ln/>
        </p:spPr>
        <p:txBody>
          <a:bodyPr wrap="square" lIns="0" tIns="0" rIns="0" bIns="0" rtlCol="0" anchor="ctr"/>
          <a:lstStyle/>
          <a:p>
            <a:pPr marL="0" indent="0" algn="l">
              <a:buNone/>
            </a:pPr>
            <a:r>
              <a:rPr lang="en-US" sz="1200" dirty="0">
                <a:solidFill>
                  <a:srgbClr val="94A3B8"/>
                </a:solidFill>
                <a:latin typeface="Calibri" pitchFamily="34" charset="0"/>
                <a:ea typeface="Calibri" pitchFamily="34" charset="-122"/>
                <a:cs typeface="Calibri" pitchFamily="34" charset="-120"/>
              </a:rPr>
              <a:t>Mongol Empire  ·  Multi-step API Workflow  ·  6-stage Military Command Chain</a:t>
            </a:r>
            <a:endParaRPr lang="en-US" sz="1200" dirty="0"/>
          </a:p>
        </p:txBody>
      </p:sp>
      <p:sp>
        <p:nvSpPr>
          <p:cNvPr id="7" name="Shape 5"/>
          <p:cNvSpPr/>
          <p:nvPr/>
        </p:nvSpPr>
        <p:spPr>
          <a:xfrm>
            <a:off x="754380" y="1115568"/>
            <a:ext cx="1024128" cy="658368"/>
          </a:xfrm>
          <a:prstGeom prst="rect">
            <a:avLst/>
          </a:prstGeom>
          <a:solidFill>
            <a:srgbClr val="1E293B"/>
          </a:solidFill>
          <a:ln w="12700">
            <a:solidFill>
              <a:srgbClr val="334155"/>
            </a:solidFill>
            <a:prstDash val="solid"/>
          </a:ln>
          <a:effectLst>
            <a:outerShdw blurRad="101600" dist="38100" dir="8100000" algn="bl" rotWithShape="0">
              <a:srgbClr val="000000">
                <a:alpha val="13000"/>
              </a:srgbClr>
            </a:outerShdw>
          </a:effectLst>
        </p:spPr>
        <p:txBody>
          <a:bodyPr/>
          <a:lstStyle/>
          <a:p>
            <a:endParaRPr lang="en-SA"/>
          </a:p>
        </p:txBody>
      </p:sp>
      <p:sp>
        <p:nvSpPr>
          <p:cNvPr id="8" name="Shape 6"/>
          <p:cNvSpPr/>
          <p:nvPr/>
        </p:nvSpPr>
        <p:spPr>
          <a:xfrm>
            <a:off x="754380" y="1115568"/>
            <a:ext cx="1024128" cy="38405"/>
          </a:xfrm>
          <a:prstGeom prst="rect">
            <a:avLst/>
          </a:prstGeom>
          <a:solidFill>
            <a:srgbClr val="C8973E"/>
          </a:solidFill>
          <a:ln w="12700">
            <a:solidFill>
              <a:srgbClr val="C8973E"/>
            </a:solidFill>
            <a:prstDash val="solid"/>
          </a:ln>
        </p:spPr>
        <p:txBody>
          <a:bodyPr/>
          <a:lstStyle/>
          <a:p>
            <a:endParaRPr lang="en-SA"/>
          </a:p>
        </p:txBody>
      </p:sp>
      <p:sp>
        <p:nvSpPr>
          <p:cNvPr id="9" name="Text 7"/>
          <p:cNvSpPr/>
          <p:nvPr/>
        </p:nvSpPr>
        <p:spPr>
          <a:xfrm>
            <a:off x="800100" y="1170432"/>
            <a:ext cx="932688" cy="274320"/>
          </a:xfrm>
          <a:prstGeom prst="rect">
            <a:avLst/>
          </a:prstGeom>
          <a:noFill/>
          <a:ln/>
        </p:spPr>
        <p:txBody>
          <a:bodyPr wrap="square" lIns="0" tIns="0" rIns="0" bIns="0" rtlCol="0" anchor="ctr"/>
          <a:lstStyle/>
          <a:p>
            <a:pPr marL="0" indent="0" algn="ctr">
              <a:buNone/>
            </a:pPr>
            <a:r>
              <a:rPr lang="en-US" sz="1150" b="1" dirty="0">
                <a:solidFill>
                  <a:srgbClr val="F1EDE5"/>
                </a:solidFill>
                <a:latin typeface="Cambria" pitchFamily="34" charset="0"/>
                <a:ea typeface="Cambria" pitchFamily="34" charset="-122"/>
                <a:cs typeface="Cambria" pitchFamily="34" charset="-120"/>
              </a:rPr>
              <a:t>Khan's Order</a:t>
            </a:r>
            <a:endParaRPr lang="en-US" sz="1150" dirty="0"/>
          </a:p>
        </p:txBody>
      </p:sp>
      <p:sp>
        <p:nvSpPr>
          <p:cNvPr id="10" name="Text 8"/>
          <p:cNvSpPr/>
          <p:nvPr/>
        </p:nvSpPr>
        <p:spPr>
          <a:xfrm>
            <a:off x="800100" y="1463040"/>
            <a:ext cx="932688" cy="246888"/>
          </a:xfrm>
          <a:prstGeom prst="rect">
            <a:avLst/>
          </a:prstGeom>
          <a:noFill/>
          <a:ln/>
        </p:spPr>
        <p:txBody>
          <a:bodyPr wrap="square" lIns="0" tIns="0" rIns="0" bIns="0" rtlCol="0" anchor="ctr"/>
          <a:lstStyle/>
          <a:p>
            <a:pPr marL="0" indent="0" algn="ctr">
              <a:buNone/>
            </a:pPr>
            <a:r>
              <a:rPr lang="en-US" sz="850" dirty="0">
                <a:solidFill>
                  <a:srgbClr val="94A3B8"/>
                </a:solidFill>
                <a:latin typeface="Courier New" pitchFamily="34" charset="0"/>
                <a:ea typeface="Courier New" pitchFamily="34" charset="-122"/>
                <a:cs typeface="Courier New" pitchFamily="34" charset="-120"/>
              </a:rPr>
              <a:t>khagan</a:t>
            </a:r>
            <a:endParaRPr lang="en-US" sz="850" dirty="0"/>
          </a:p>
        </p:txBody>
      </p:sp>
      <p:sp>
        <p:nvSpPr>
          <p:cNvPr id="12" name="Shape 10"/>
          <p:cNvSpPr/>
          <p:nvPr/>
        </p:nvSpPr>
        <p:spPr>
          <a:xfrm>
            <a:off x="754380" y="1837944"/>
            <a:ext cx="1024128" cy="566928"/>
          </a:xfrm>
          <a:prstGeom prst="rect">
            <a:avLst/>
          </a:prstGeom>
          <a:solidFill>
            <a:srgbClr val="0F172A"/>
          </a:solidFill>
          <a:ln w="6350">
            <a:solidFill>
              <a:srgbClr val="334155"/>
            </a:solidFill>
            <a:prstDash val="solid"/>
          </a:ln>
        </p:spPr>
        <p:txBody>
          <a:bodyPr/>
          <a:lstStyle/>
          <a:p>
            <a:endParaRPr lang="en-SA"/>
          </a:p>
        </p:txBody>
      </p:sp>
      <p:sp>
        <p:nvSpPr>
          <p:cNvPr id="13" name="Text 11"/>
          <p:cNvSpPr/>
          <p:nvPr/>
        </p:nvSpPr>
        <p:spPr>
          <a:xfrm>
            <a:off x="800100" y="1865376"/>
            <a:ext cx="932688" cy="530352"/>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Check workspace</a:t>
            </a:r>
            <a:endParaRPr lang="en-US" sz="950" dirty="0"/>
          </a:p>
          <a:p>
            <a:pPr marL="0" indent="0" algn="ctr">
              <a:buNone/>
            </a:pPr>
            <a:r>
              <a:rPr lang="en-US" sz="950" dirty="0">
                <a:solidFill>
                  <a:srgbClr val="94A3B8"/>
                </a:solidFill>
                <a:latin typeface="Calibri" pitchFamily="34" charset="0"/>
                <a:ea typeface="Calibri" pitchFamily="34" charset="-122"/>
                <a:cs typeface="Calibri" pitchFamily="34" charset="-120"/>
              </a:rPr>
              <a:t>Issue command</a:t>
            </a:r>
            <a:endParaRPr lang="en-US" sz="950" dirty="0"/>
          </a:p>
        </p:txBody>
      </p:sp>
      <p:sp>
        <p:nvSpPr>
          <p:cNvPr id="15" name="Shape 13"/>
          <p:cNvSpPr/>
          <p:nvPr/>
        </p:nvSpPr>
        <p:spPr>
          <a:xfrm>
            <a:off x="2715768" y="1115568"/>
            <a:ext cx="1024128" cy="658368"/>
          </a:xfrm>
          <a:prstGeom prst="rect">
            <a:avLst/>
          </a:prstGeom>
          <a:solidFill>
            <a:srgbClr val="1E293B"/>
          </a:solidFill>
          <a:ln w="12700">
            <a:solidFill>
              <a:srgbClr val="334155"/>
            </a:solidFill>
            <a:prstDash val="solid"/>
          </a:ln>
          <a:effectLst>
            <a:outerShdw blurRad="101600" dist="38100" dir="8100000" algn="bl" rotWithShape="0">
              <a:srgbClr val="000000">
                <a:alpha val="13000"/>
              </a:srgbClr>
            </a:outerShdw>
          </a:effectLst>
        </p:spPr>
        <p:txBody>
          <a:bodyPr/>
          <a:lstStyle/>
          <a:p>
            <a:endParaRPr lang="en-SA"/>
          </a:p>
        </p:txBody>
      </p:sp>
      <p:sp>
        <p:nvSpPr>
          <p:cNvPr id="16" name="Shape 14"/>
          <p:cNvSpPr/>
          <p:nvPr/>
        </p:nvSpPr>
        <p:spPr>
          <a:xfrm>
            <a:off x="2715768" y="1115568"/>
            <a:ext cx="1024128" cy="38405"/>
          </a:xfrm>
          <a:prstGeom prst="rect">
            <a:avLst/>
          </a:prstGeom>
          <a:solidFill>
            <a:srgbClr val="C8973E"/>
          </a:solidFill>
          <a:ln w="12700">
            <a:solidFill>
              <a:srgbClr val="C8973E"/>
            </a:solidFill>
            <a:prstDash val="solid"/>
          </a:ln>
        </p:spPr>
        <p:txBody>
          <a:bodyPr/>
          <a:lstStyle/>
          <a:p>
            <a:endParaRPr lang="en-SA"/>
          </a:p>
        </p:txBody>
      </p:sp>
      <p:sp>
        <p:nvSpPr>
          <p:cNvPr id="17" name="Text 15"/>
          <p:cNvSpPr/>
          <p:nvPr/>
        </p:nvSpPr>
        <p:spPr>
          <a:xfrm>
            <a:off x="2761488" y="1170432"/>
            <a:ext cx="932688" cy="274320"/>
          </a:xfrm>
          <a:prstGeom prst="rect">
            <a:avLst/>
          </a:prstGeom>
          <a:noFill/>
          <a:ln/>
        </p:spPr>
        <p:txBody>
          <a:bodyPr wrap="square" lIns="0" tIns="0" rIns="0" bIns="0" rtlCol="0" anchor="ctr"/>
          <a:lstStyle/>
          <a:p>
            <a:pPr marL="0" indent="0" algn="ctr">
              <a:buNone/>
            </a:pPr>
            <a:r>
              <a:rPr lang="en-US" sz="1150" b="1" dirty="0">
                <a:solidFill>
                  <a:srgbClr val="F1EDE5"/>
                </a:solidFill>
                <a:latin typeface="Cambria" pitchFamily="34" charset="0"/>
                <a:ea typeface="Cambria" pitchFamily="34" charset="-122"/>
                <a:cs typeface="Cambria" pitchFamily="34" charset="-120"/>
              </a:rPr>
              <a:t>Imperial Planning</a:t>
            </a:r>
            <a:endParaRPr lang="en-US" sz="1150" dirty="0"/>
          </a:p>
        </p:txBody>
      </p:sp>
      <p:sp>
        <p:nvSpPr>
          <p:cNvPr id="18" name="Text 16"/>
          <p:cNvSpPr/>
          <p:nvPr/>
        </p:nvSpPr>
        <p:spPr>
          <a:xfrm>
            <a:off x="2761488" y="1463040"/>
            <a:ext cx="932688" cy="246888"/>
          </a:xfrm>
          <a:prstGeom prst="rect">
            <a:avLst/>
          </a:prstGeom>
          <a:noFill/>
          <a:ln/>
        </p:spPr>
        <p:txBody>
          <a:bodyPr wrap="square" lIns="0" tIns="0" rIns="0" bIns="0" rtlCol="0" anchor="ctr"/>
          <a:lstStyle/>
          <a:p>
            <a:pPr marL="0" indent="0" algn="ctr">
              <a:buNone/>
            </a:pPr>
            <a:r>
              <a:rPr lang="en-US" sz="850" dirty="0" err="1">
                <a:solidFill>
                  <a:srgbClr val="94A3B8"/>
                </a:solidFill>
                <a:latin typeface="Courier New" pitchFamily="34" charset="0"/>
                <a:ea typeface="Courier New" pitchFamily="34" charset="-122"/>
                <a:cs typeface="Courier New" pitchFamily="34" charset="-120"/>
              </a:rPr>
              <a:t>imperial_sec</a:t>
            </a:r>
            <a:endParaRPr lang="en-US" sz="850" dirty="0"/>
          </a:p>
        </p:txBody>
      </p:sp>
      <p:sp>
        <p:nvSpPr>
          <p:cNvPr id="20" name="Shape 18"/>
          <p:cNvSpPr/>
          <p:nvPr/>
        </p:nvSpPr>
        <p:spPr>
          <a:xfrm>
            <a:off x="2715768" y="1837944"/>
            <a:ext cx="1024128" cy="566928"/>
          </a:xfrm>
          <a:prstGeom prst="rect">
            <a:avLst/>
          </a:prstGeom>
          <a:solidFill>
            <a:srgbClr val="0F172A"/>
          </a:solidFill>
          <a:ln w="6350">
            <a:solidFill>
              <a:srgbClr val="334155"/>
            </a:solidFill>
            <a:prstDash val="solid"/>
          </a:ln>
        </p:spPr>
        <p:txBody>
          <a:bodyPr/>
          <a:lstStyle/>
          <a:p>
            <a:endParaRPr lang="en-SA"/>
          </a:p>
        </p:txBody>
      </p:sp>
      <p:sp>
        <p:nvSpPr>
          <p:cNvPr id="21" name="Text 19"/>
          <p:cNvSpPr/>
          <p:nvPr/>
        </p:nvSpPr>
        <p:spPr>
          <a:xfrm>
            <a:off x="2761488" y="1865376"/>
            <a:ext cx="932688" cy="530352"/>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Define 3-step plan</a:t>
            </a:r>
            <a:endParaRPr lang="en-US" sz="950" dirty="0"/>
          </a:p>
          <a:p>
            <a:pPr marL="0" indent="0" algn="ctr">
              <a:buNone/>
            </a:pPr>
            <a:r>
              <a:rPr lang="en-US" sz="950" dirty="0">
                <a:solidFill>
                  <a:srgbClr val="94A3B8"/>
                </a:solidFill>
                <a:latin typeface="Calibri" pitchFamily="34" charset="0"/>
                <a:ea typeface="Calibri" pitchFamily="34" charset="-122"/>
                <a:cs typeface="Calibri" pitchFamily="34" charset="-120"/>
              </a:rPr>
              <a:t>Execute plan</a:t>
            </a:r>
            <a:endParaRPr lang="en-US" sz="950" dirty="0"/>
          </a:p>
        </p:txBody>
      </p:sp>
      <p:sp>
        <p:nvSpPr>
          <p:cNvPr id="23" name="Shape 21"/>
          <p:cNvSpPr/>
          <p:nvPr/>
        </p:nvSpPr>
        <p:spPr>
          <a:xfrm>
            <a:off x="4677156" y="1112380"/>
            <a:ext cx="1024128" cy="658368"/>
          </a:xfrm>
          <a:prstGeom prst="rect">
            <a:avLst/>
          </a:prstGeom>
          <a:solidFill>
            <a:srgbClr val="1E293B"/>
          </a:solidFill>
          <a:ln w="12700">
            <a:solidFill>
              <a:srgbClr val="334155"/>
            </a:solidFill>
            <a:prstDash val="solid"/>
          </a:ln>
          <a:effectLst>
            <a:outerShdw blurRad="101600" dist="38100" dir="8100000" algn="bl" rotWithShape="0">
              <a:srgbClr val="000000">
                <a:alpha val="13000"/>
              </a:srgbClr>
            </a:outerShdw>
          </a:effectLst>
        </p:spPr>
        <p:txBody>
          <a:bodyPr/>
          <a:lstStyle/>
          <a:p>
            <a:endParaRPr lang="en-SA"/>
          </a:p>
        </p:txBody>
      </p:sp>
      <p:sp>
        <p:nvSpPr>
          <p:cNvPr id="24" name="Shape 22"/>
          <p:cNvSpPr/>
          <p:nvPr/>
        </p:nvSpPr>
        <p:spPr>
          <a:xfrm>
            <a:off x="4677156" y="1112380"/>
            <a:ext cx="1024128" cy="38405"/>
          </a:xfrm>
          <a:prstGeom prst="rect">
            <a:avLst/>
          </a:prstGeom>
          <a:solidFill>
            <a:srgbClr val="C8973E"/>
          </a:solidFill>
          <a:ln w="12700">
            <a:solidFill>
              <a:srgbClr val="C8973E"/>
            </a:solidFill>
            <a:prstDash val="solid"/>
          </a:ln>
        </p:spPr>
        <p:txBody>
          <a:bodyPr/>
          <a:lstStyle/>
          <a:p>
            <a:endParaRPr lang="en-SA"/>
          </a:p>
        </p:txBody>
      </p:sp>
      <p:sp>
        <p:nvSpPr>
          <p:cNvPr id="25" name="Text 23"/>
          <p:cNvSpPr/>
          <p:nvPr/>
        </p:nvSpPr>
        <p:spPr>
          <a:xfrm>
            <a:off x="4722876" y="1167244"/>
            <a:ext cx="932688" cy="274320"/>
          </a:xfrm>
          <a:prstGeom prst="rect">
            <a:avLst/>
          </a:prstGeom>
          <a:noFill/>
          <a:ln/>
        </p:spPr>
        <p:txBody>
          <a:bodyPr wrap="square" lIns="0" tIns="0" rIns="0" bIns="0" rtlCol="0" anchor="ctr"/>
          <a:lstStyle/>
          <a:p>
            <a:pPr marL="0" indent="0" algn="ctr">
              <a:buNone/>
            </a:pPr>
            <a:r>
              <a:rPr lang="en-US" sz="1150" b="1" dirty="0">
                <a:solidFill>
                  <a:srgbClr val="F1EDE5"/>
                </a:solidFill>
                <a:latin typeface="Cambria" pitchFamily="34" charset="0"/>
                <a:ea typeface="Cambria" pitchFamily="34" charset="-122"/>
                <a:cs typeface="Cambria" pitchFamily="34" charset="-120"/>
              </a:rPr>
              <a:t>Tumen Execute</a:t>
            </a:r>
            <a:endParaRPr lang="en-US" sz="1150" dirty="0"/>
          </a:p>
        </p:txBody>
      </p:sp>
      <p:sp>
        <p:nvSpPr>
          <p:cNvPr id="26" name="Text 24"/>
          <p:cNvSpPr/>
          <p:nvPr/>
        </p:nvSpPr>
        <p:spPr>
          <a:xfrm>
            <a:off x="4722876" y="1459852"/>
            <a:ext cx="932688" cy="246888"/>
          </a:xfrm>
          <a:prstGeom prst="rect">
            <a:avLst/>
          </a:prstGeom>
          <a:noFill/>
          <a:ln/>
        </p:spPr>
        <p:txBody>
          <a:bodyPr wrap="square" lIns="0" tIns="0" rIns="0" bIns="0" rtlCol="0" anchor="ctr"/>
          <a:lstStyle/>
          <a:p>
            <a:pPr marL="0" indent="0" algn="ctr">
              <a:buNone/>
            </a:pPr>
            <a:r>
              <a:rPr lang="en-US" sz="850" dirty="0" err="1">
                <a:solidFill>
                  <a:srgbClr val="94A3B8"/>
                </a:solidFill>
                <a:latin typeface="Courier New" pitchFamily="34" charset="0"/>
                <a:ea typeface="Courier New" pitchFamily="34" charset="-122"/>
                <a:cs typeface="Courier New" pitchFamily="34" charset="-120"/>
              </a:rPr>
              <a:t>tumen_cmd</a:t>
            </a:r>
            <a:endParaRPr lang="en-US" sz="850" dirty="0"/>
          </a:p>
        </p:txBody>
      </p:sp>
      <p:sp>
        <p:nvSpPr>
          <p:cNvPr id="28" name="Shape 26"/>
          <p:cNvSpPr/>
          <p:nvPr/>
        </p:nvSpPr>
        <p:spPr>
          <a:xfrm>
            <a:off x="4677156" y="1834756"/>
            <a:ext cx="1024128" cy="566928"/>
          </a:xfrm>
          <a:prstGeom prst="rect">
            <a:avLst/>
          </a:prstGeom>
          <a:solidFill>
            <a:srgbClr val="0F172A"/>
          </a:solidFill>
          <a:ln w="6350">
            <a:solidFill>
              <a:srgbClr val="334155"/>
            </a:solidFill>
            <a:prstDash val="solid"/>
          </a:ln>
        </p:spPr>
        <p:txBody>
          <a:bodyPr/>
          <a:lstStyle/>
          <a:p>
            <a:endParaRPr lang="en-SA"/>
          </a:p>
        </p:txBody>
      </p:sp>
      <p:sp>
        <p:nvSpPr>
          <p:cNvPr id="29" name="Text 27"/>
          <p:cNvSpPr/>
          <p:nvPr/>
        </p:nvSpPr>
        <p:spPr>
          <a:xfrm>
            <a:off x="4722876" y="1862188"/>
            <a:ext cx="932688" cy="530352"/>
          </a:xfrm>
          <a:prstGeom prst="rect">
            <a:avLst/>
          </a:prstGeom>
          <a:noFill/>
          <a:ln/>
        </p:spPr>
        <p:txBody>
          <a:bodyPr wrap="square" lIns="0" tIns="0" rIns="0" bIns="0" rtlCol="0" anchor="ctr"/>
          <a:lstStyle/>
          <a:p>
            <a:pPr marL="0" indent="0" algn="ctr">
              <a:buNone/>
            </a:pPr>
            <a:r>
              <a:rPr lang="en-US" sz="950" dirty="0" err="1">
                <a:solidFill>
                  <a:srgbClr val="94A3B8"/>
                </a:solidFill>
                <a:latin typeface="Calibri" pitchFamily="34" charset="0"/>
                <a:ea typeface="Calibri" pitchFamily="34" charset="-122"/>
                <a:cs typeface="Calibri" pitchFamily="34" charset="-120"/>
              </a:rPr>
              <a:t>Oversee execution scheduling</a:t>
            </a:r>
            <a:endParaRPr lang="en-US" sz="950" dirty="0"/>
          </a:p>
        </p:txBody>
      </p:sp>
      <p:sp>
        <p:nvSpPr>
          <p:cNvPr id="31" name="Shape 29"/>
          <p:cNvSpPr/>
          <p:nvPr/>
        </p:nvSpPr>
        <p:spPr>
          <a:xfrm>
            <a:off x="6638544" y="1108059"/>
            <a:ext cx="1024128" cy="658368"/>
          </a:xfrm>
          <a:prstGeom prst="rect">
            <a:avLst/>
          </a:prstGeom>
          <a:solidFill>
            <a:srgbClr val="1E293B"/>
          </a:solidFill>
          <a:ln w="12700">
            <a:solidFill>
              <a:srgbClr val="334155"/>
            </a:solidFill>
            <a:prstDash val="solid"/>
          </a:ln>
          <a:effectLst>
            <a:outerShdw blurRad="101600" dist="38100" dir="8100000" algn="bl" rotWithShape="0">
              <a:srgbClr val="000000">
                <a:alpha val="13000"/>
              </a:srgbClr>
            </a:outerShdw>
          </a:effectLst>
        </p:spPr>
        <p:txBody>
          <a:bodyPr/>
          <a:lstStyle/>
          <a:p>
            <a:endParaRPr lang="en-SA"/>
          </a:p>
        </p:txBody>
      </p:sp>
      <p:sp>
        <p:nvSpPr>
          <p:cNvPr id="32" name="Shape 30"/>
          <p:cNvSpPr/>
          <p:nvPr/>
        </p:nvSpPr>
        <p:spPr>
          <a:xfrm>
            <a:off x="6638544" y="1108059"/>
            <a:ext cx="1024128" cy="38405"/>
          </a:xfrm>
          <a:prstGeom prst="rect">
            <a:avLst/>
          </a:prstGeom>
          <a:solidFill>
            <a:srgbClr val="C8973E"/>
          </a:solidFill>
          <a:ln w="12700">
            <a:solidFill>
              <a:srgbClr val="C8973E"/>
            </a:solidFill>
            <a:prstDash val="solid"/>
          </a:ln>
        </p:spPr>
        <p:txBody>
          <a:bodyPr/>
          <a:lstStyle/>
          <a:p>
            <a:endParaRPr lang="en-SA"/>
          </a:p>
        </p:txBody>
      </p:sp>
      <p:sp>
        <p:nvSpPr>
          <p:cNvPr id="33" name="Text 31"/>
          <p:cNvSpPr/>
          <p:nvPr/>
        </p:nvSpPr>
        <p:spPr>
          <a:xfrm>
            <a:off x="6684264" y="1162923"/>
            <a:ext cx="932688" cy="274320"/>
          </a:xfrm>
          <a:prstGeom prst="rect">
            <a:avLst/>
          </a:prstGeom>
          <a:noFill/>
          <a:ln/>
        </p:spPr>
        <p:txBody>
          <a:bodyPr wrap="square" lIns="0" tIns="0" rIns="0" bIns="0" rtlCol="0" anchor="ctr"/>
          <a:lstStyle/>
          <a:p>
            <a:pPr marL="0" indent="0" algn="ctr">
              <a:buNone/>
            </a:pPr>
            <a:r>
              <a:rPr lang="en-US" sz="1150" b="1" dirty="0">
                <a:solidFill>
                  <a:srgbClr val="F1EDE5"/>
                </a:solidFill>
                <a:latin typeface="Cambria" pitchFamily="34" charset="0"/>
                <a:ea typeface="Cambria" pitchFamily="34" charset="-122"/>
                <a:cs typeface="Cambria" pitchFamily="34" charset="-120"/>
              </a:rPr>
              <a:t>Mingghan Execute</a:t>
            </a:r>
            <a:endParaRPr lang="en-US" sz="1150" dirty="0"/>
          </a:p>
        </p:txBody>
      </p:sp>
      <p:sp>
        <p:nvSpPr>
          <p:cNvPr id="34" name="Text 32"/>
          <p:cNvSpPr/>
          <p:nvPr/>
        </p:nvSpPr>
        <p:spPr>
          <a:xfrm>
            <a:off x="6684264" y="1455531"/>
            <a:ext cx="932688" cy="246888"/>
          </a:xfrm>
          <a:prstGeom prst="rect">
            <a:avLst/>
          </a:prstGeom>
          <a:noFill/>
          <a:ln/>
        </p:spPr>
        <p:txBody>
          <a:bodyPr wrap="square" lIns="0" tIns="0" rIns="0" bIns="0" rtlCol="0" anchor="ctr"/>
          <a:lstStyle/>
          <a:p>
            <a:pPr marL="0" indent="0" algn="ctr">
              <a:buNone/>
            </a:pPr>
            <a:r>
              <a:rPr lang="en-US" sz="850" dirty="0" err="1">
                <a:solidFill>
                  <a:srgbClr val="94A3B8"/>
                </a:solidFill>
                <a:latin typeface="Courier New" pitchFamily="34" charset="0"/>
                <a:ea typeface="Courier New" pitchFamily="34" charset="-122"/>
                <a:cs typeface="Courier New" pitchFamily="34" charset="-120"/>
              </a:rPr>
              <a:t>mingghan_cmd</a:t>
            </a:r>
            <a:endParaRPr lang="en-US" sz="850" dirty="0"/>
          </a:p>
        </p:txBody>
      </p:sp>
      <p:sp>
        <p:nvSpPr>
          <p:cNvPr id="36" name="Shape 34"/>
          <p:cNvSpPr/>
          <p:nvPr/>
        </p:nvSpPr>
        <p:spPr>
          <a:xfrm>
            <a:off x="6638544" y="1830435"/>
            <a:ext cx="1024128" cy="566928"/>
          </a:xfrm>
          <a:prstGeom prst="rect">
            <a:avLst/>
          </a:prstGeom>
          <a:solidFill>
            <a:srgbClr val="0F172A"/>
          </a:solidFill>
          <a:ln w="6350">
            <a:solidFill>
              <a:srgbClr val="334155"/>
            </a:solidFill>
            <a:prstDash val="solid"/>
          </a:ln>
        </p:spPr>
        <p:txBody>
          <a:bodyPr/>
          <a:lstStyle/>
          <a:p>
            <a:endParaRPr lang="en-SA"/>
          </a:p>
        </p:txBody>
      </p:sp>
      <p:sp>
        <p:nvSpPr>
          <p:cNvPr id="37" name="Text 35"/>
          <p:cNvSpPr/>
          <p:nvPr/>
        </p:nvSpPr>
        <p:spPr>
          <a:xfrm>
            <a:off x="6684264" y="1857867"/>
            <a:ext cx="932688" cy="530352"/>
          </a:xfrm>
          <a:prstGeom prst="rect">
            <a:avLst/>
          </a:prstGeom>
          <a:noFill/>
          <a:ln/>
        </p:spPr>
        <p:txBody>
          <a:bodyPr wrap="square" lIns="0" tIns="0" rIns="0" bIns="0" rtlCol="0" anchor="ctr"/>
          <a:lstStyle/>
          <a:p>
            <a:pPr marL="0" indent="0" algn="ctr">
              <a:buNone/>
            </a:pPr>
            <a:r>
              <a:rPr lang="en-US" sz="950" dirty="0" err="1">
                <a:solidFill>
                  <a:srgbClr val="94A3B8"/>
                </a:solidFill>
                <a:latin typeface="Calibri" pitchFamily="34" charset="0"/>
                <a:ea typeface="Calibri" pitchFamily="34" charset="-122"/>
                <a:cs typeface="Calibri" pitchFamily="34" charset="-120"/>
              </a:rPr>
              <a:t>Aggregate three Jaghun subtask results</a:t>
            </a:r>
            <a:endParaRPr lang="en-US" sz="950" dirty="0"/>
          </a:p>
        </p:txBody>
      </p:sp>
      <p:sp>
        <p:nvSpPr>
          <p:cNvPr id="39" name="Shape 37"/>
          <p:cNvSpPr/>
          <p:nvPr/>
        </p:nvSpPr>
        <p:spPr>
          <a:xfrm>
            <a:off x="5660136" y="2588695"/>
            <a:ext cx="1024128" cy="658368"/>
          </a:xfrm>
          <a:prstGeom prst="rect">
            <a:avLst/>
          </a:prstGeom>
          <a:solidFill>
            <a:srgbClr val="1E293B"/>
          </a:solidFill>
          <a:ln w="12700">
            <a:solidFill>
              <a:srgbClr val="334155"/>
            </a:solidFill>
            <a:prstDash val="solid"/>
          </a:ln>
          <a:effectLst>
            <a:outerShdw blurRad="101600" dist="38100" dir="8100000" algn="bl" rotWithShape="0">
              <a:srgbClr val="000000">
                <a:alpha val="13000"/>
              </a:srgbClr>
            </a:outerShdw>
          </a:effectLst>
        </p:spPr>
        <p:txBody>
          <a:bodyPr/>
          <a:lstStyle/>
          <a:p>
            <a:endParaRPr lang="en-SA"/>
          </a:p>
        </p:txBody>
      </p:sp>
      <p:sp>
        <p:nvSpPr>
          <p:cNvPr id="40" name="Shape 38"/>
          <p:cNvSpPr/>
          <p:nvPr/>
        </p:nvSpPr>
        <p:spPr>
          <a:xfrm>
            <a:off x="5660136" y="2588695"/>
            <a:ext cx="1024128" cy="38405"/>
          </a:xfrm>
          <a:prstGeom prst="rect">
            <a:avLst/>
          </a:prstGeom>
          <a:solidFill>
            <a:srgbClr val="C8973E"/>
          </a:solidFill>
          <a:ln w="12700">
            <a:solidFill>
              <a:srgbClr val="C8973E"/>
            </a:solidFill>
            <a:prstDash val="solid"/>
          </a:ln>
        </p:spPr>
        <p:txBody>
          <a:bodyPr/>
          <a:lstStyle/>
          <a:p>
            <a:endParaRPr lang="en-SA"/>
          </a:p>
        </p:txBody>
      </p:sp>
      <p:sp>
        <p:nvSpPr>
          <p:cNvPr id="41" name="Text 39"/>
          <p:cNvSpPr/>
          <p:nvPr/>
        </p:nvSpPr>
        <p:spPr>
          <a:xfrm>
            <a:off x="5705856" y="2643559"/>
            <a:ext cx="932688" cy="274320"/>
          </a:xfrm>
          <a:prstGeom prst="rect">
            <a:avLst/>
          </a:prstGeom>
          <a:noFill/>
          <a:ln/>
        </p:spPr>
        <p:txBody>
          <a:bodyPr wrap="square" lIns="0" tIns="0" rIns="0" bIns="0" rtlCol="0" anchor="ctr"/>
          <a:lstStyle/>
          <a:p>
            <a:pPr marL="0" indent="0" algn="ctr">
              <a:buNone/>
            </a:pPr>
            <a:r>
              <a:rPr lang="en-US" sz="1150" b="1" dirty="0">
                <a:solidFill>
                  <a:srgbClr val="F1EDE5"/>
                </a:solidFill>
                <a:latin typeface="Cambria" pitchFamily="34" charset="0"/>
                <a:ea typeface="Cambria" pitchFamily="34" charset="-122"/>
                <a:cs typeface="Cambria" pitchFamily="34" charset="-120"/>
              </a:rPr>
              <a:t>Jaghun Execute</a:t>
            </a:r>
            <a:endParaRPr lang="en-US" sz="1150" dirty="0"/>
          </a:p>
        </p:txBody>
      </p:sp>
      <p:sp>
        <p:nvSpPr>
          <p:cNvPr id="42" name="Text 40"/>
          <p:cNvSpPr/>
          <p:nvPr/>
        </p:nvSpPr>
        <p:spPr>
          <a:xfrm>
            <a:off x="5705856" y="2936167"/>
            <a:ext cx="932688" cy="246888"/>
          </a:xfrm>
          <a:prstGeom prst="rect">
            <a:avLst/>
          </a:prstGeom>
          <a:noFill/>
          <a:ln/>
        </p:spPr>
        <p:txBody>
          <a:bodyPr wrap="square" lIns="0" tIns="0" rIns="0" bIns="0" rtlCol="0" anchor="ctr"/>
          <a:lstStyle/>
          <a:p>
            <a:pPr marL="0" indent="0" algn="ctr">
              <a:buNone/>
            </a:pPr>
            <a:r>
              <a:rPr lang="en-US" sz="850" dirty="0" err="1">
                <a:solidFill>
                  <a:srgbClr val="94A3B8"/>
                </a:solidFill>
                <a:latin typeface="Courier New" pitchFamily="34" charset="0"/>
                <a:ea typeface="Courier New" pitchFamily="34" charset="-122"/>
                <a:cs typeface="Courier New" pitchFamily="34" charset="-120"/>
              </a:rPr>
              <a:t>jaghun_cmd</a:t>
            </a:r>
            <a:endParaRPr lang="en-US" sz="850" dirty="0"/>
          </a:p>
        </p:txBody>
      </p:sp>
      <p:sp>
        <p:nvSpPr>
          <p:cNvPr id="44" name="Shape 42"/>
          <p:cNvSpPr/>
          <p:nvPr/>
        </p:nvSpPr>
        <p:spPr>
          <a:xfrm>
            <a:off x="5660136" y="3311071"/>
            <a:ext cx="1024128" cy="566928"/>
          </a:xfrm>
          <a:prstGeom prst="rect">
            <a:avLst/>
          </a:prstGeom>
          <a:solidFill>
            <a:srgbClr val="0F172A"/>
          </a:solidFill>
          <a:ln w="6350">
            <a:solidFill>
              <a:srgbClr val="334155"/>
            </a:solidFill>
            <a:prstDash val="solid"/>
          </a:ln>
        </p:spPr>
        <p:txBody>
          <a:bodyPr/>
          <a:lstStyle/>
          <a:p>
            <a:endParaRPr lang="en-SA"/>
          </a:p>
        </p:txBody>
      </p:sp>
      <p:sp>
        <p:nvSpPr>
          <p:cNvPr id="45" name="Text 43"/>
          <p:cNvSpPr/>
          <p:nvPr/>
        </p:nvSpPr>
        <p:spPr>
          <a:xfrm>
            <a:off x="5705856" y="3338503"/>
            <a:ext cx="932688" cy="530352"/>
          </a:xfrm>
          <a:prstGeom prst="rect">
            <a:avLst/>
          </a:prstGeom>
          <a:noFill/>
          <a:ln/>
        </p:spPr>
        <p:txBody>
          <a:bodyPr wrap="square" lIns="0" tIns="0" rIns="0" bIns="0" rtlCol="0" anchor="ctr"/>
          <a:lstStyle/>
          <a:p>
            <a:pPr marL="0" indent="0" algn="ctr">
              <a:buNone/>
            </a:pPr>
            <a:r>
              <a:rPr lang="en-US" sz="950" dirty="0" err="1">
                <a:solidFill>
                  <a:srgbClr val="94A3B8"/>
                </a:solidFill>
                <a:latin typeface="Calibri" pitchFamily="34" charset="0"/>
                <a:ea typeface="Calibri" pitchFamily="34" charset="-122"/>
                <a:cs typeface="Calibri" pitchFamily="34" charset="-120"/>
              </a:rPr>
              <a:t>Break down into Arban-level subtasks</a:t>
            </a:r>
            <a:endParaRPr lang="en-US" sz="950" dirty="0"/>
          </a:p>
        </p:txBody>
      </p:sp>
      <p:sp>
        <p:nvSpPr>
          <p:cNvPr id="47" name="Shape 45"/>
          <p:cNvSpPr/>
          <p:nvPr/>
        </p:nvSpPr>
        <p:spPr>
          <a:xfrm>
            <a:off x="3694176" y="2586627"/>
            <a:ext cx="1024128" cy="658368"/>
          </a:xfrm>
          <a:prstGeom prst="rect">
            <a:avLst/>
          </a:prstGeom>
          <a:solidFill>
            <a:srgbClr val="1E293B"/>
          </a:solidFill>
          <a:ln w="12700">
            <a:solidFill>
              <a:srgbClr val="334155"/>
            </a:solidFill>
            <a:prstDash val="solid"/>
          </a:ln>
          <a:effectLst>
            <a:outerShdw blurRad="101600" dist="38100" dir="8100000" algn="bl" rotWithShape="0">
              <a:srgbClr val="000000">
                <a:alpha val="13000"/>
              </a:srgbClr>
            </a:outerShdw>
          </a:effectLst>
        </p:spPr>
        <p:txBody>
          <a:bodyPr/>
          <a:lstStyle/>
          <a:p>
            <a:endParaRPr lang="en-SA"/>
          </a:p>
        </p:txBody>
      </p:sp>
      <p:sp>
        <p:nvSpPr>
          <p:cNvPr id="48" name="Shape 46"/>
          <p:cNvSpPr/>
          <p:nvPr/>
        </p:nvSpPr>
        <p:spPr>
          <a:xfrm>
            <a:off x="3694176" y="2586627"/>
            <a:ext cx="1024128" cy="38405"/>
          </a:xfrm>
          <a:prstGeom prst="rect">
            <a:avLst/>
          </a:prstGeom>
          <a:solidFill>
            <a:srgbClr val="C8973E"/>
          </a:solidFill>
          <a:ln w="12700">
            <a:solidFill>
              <a:srgbClr val="C8973E"/>
            </a:solidFill>
            <a:prstDash val="solid"/>
          </a:ln>
        </p:spPr>
        <p:txBody>
          <a:bodyPr/>
          <a:lstStyle/>
          <a:p>
            <a:endParaRPr lang="en-SA"/>
          </a:p>
        </p:txBody>
      </p:sp>
      <p:sp>
        <p:nvSpPr>
          <p:cNvPr id="49" name="Text 47"/>
          <p:cNvSpPr/>
          <p:nvPr/>
        </p:nvSpPr>
        <p:spPr>
          <a:xfrm>
            <a:off x="3739896" y="2641491"/>
            <a:ext cx="932688" cy="274320"/>
          </a:xfrm>
          <a:prstGeom prst="rect">
            <a:avLst/>
          </a:prstGeom>
          <a:noFill/>
          <a:ln/>
        </p:spPr>
        <p:txBody>
          <a:bodyPr wrap="square" lIns="0" tIns="0" rIns="0" bIns="0" rtlCol="0" anchor="ctr"/>
          <a:lstStyle/>
          <a:p>
            <a:pPr marL="0" indent="0" algn="ctr">
              <a:buNone/>
            </a:pPr>
            <a:r>
              <a:rPr lang="en-US" sz="1150" b="1" dirty="0">
                <a:solidFill>
                  <a:srgbClr val="F1EDE5"/>
                </a:solidFill>
                <a:latin typeface="Cambria" pitchFamily="34" charset="0"/>
                <a:ea typeface="Cambria" pitchFamily="34" charset="-122"/>
                <a:cs typeface="Cambria" pitchFamily="34" charset="-120"/>
              </a:rPr>
              <a:t>Arban Mobilize</a:t>
            </a:r>
            <a:endParaRPr lang="en-US" sz="1150" dirty="0"/>
          </a:p>
        </p:txBody>
      </p:sp>
      <p:sp>
        <p:nvSpPr>
          <p:cNvPr id="50" name="Text 48"/>
          <p:cNvSpPr/>
          <p:nvPr/>
        </p:nvSpPr>
        <p:spPr>
          <a:xfrm>
            <a:off x="3739896" y="2934099"/>
            <a:ext cx="932688" cy="246888"/>
          </a:xfrm>
          <a:prstGeom prst="rect">
            <a:avLst/>
          </a:prstGeom>
          <a:noFill/>
          <a:ln/>
        </p:spPr>
        <p:txBody>
          <a:bodyPr wrap="square" lIns="0" tIns="0" rIns="0" bIns="0" rtlCol="0" anchor="ctr"/>
          <a:lstStyle/>
          <a:p>
            <a:pPr marL="0" indent="0" algn="ctr">
              <a:buNone/>
            </a:pPr>
            <a:r>
              <a:rPr lang="en-US" sz="850" dirty="0" err="1">
                <a:solidFill>
                  <a:srgbClr val="94A3B8"/>
                </a:solidFill>
                <a:latin typeface="Courier New" pitchFamily="34" charset="0"/>
                <a:ea typeface="Courier New" pitchFamily="34" charset="-122"/>
                <a:cs typeface="Courier New" pitchFamily="34" charset="-120"/>
              </a:rPr>
              <a:t>arban_cmd</a:t>
            </a:r>
            <a:endParaRPr lang="en-US" sz="850" dirty="0"/>
          </a:p>
        </p:txBody>
      </p:sp>
      <p:sp>
        <p:nvSpPr>
          <p:cNvPr id="51" name="Shape 49"/>
          <p:cNvSpPr/>
          <p:nvPr/>
        </p:nvSpPr>
        <p:spPr>
          <a:xfrm>
            <a:off x="3694176" y="3309003"/>
            <a:ext cx="1024128" cy="566928"/>
          </a:xfrm>
          <a:prstGeom prst="rect">
            <a:avLst/>
          </a:prstGeom>
          <a:solidFill>
            <a:srgbClr val="0F172A"/>
          </a:solidFill>
          <a:ln w="6350">
            <a:solidFill>
              <a:srgbClr val="334155"/>
            </a:solidFill>
            <a:prstDash val="solid"/>
          </a:ln>
        </p:spPr>
        <p:txBody>
          <a:bodyPr/>
          <a:lstStyle/>
          <a:p>
            <a:endParaRPr lang="en-SA"/>
          </a:p>
        </p:txBody>
      </p:sp>
      <p:sp>
        <p:nvSpPr>
          <p:cNvPr id="52" name="Text 50"/>
          <p:cNvSpPr/>
          <p:nvPr/>
        </p:nvSpPr>
        <p:spPr>
          <a:xfrm>
            <a:off x="3739896" y="3336435"/>
            <a:ext cx="932688" cy="530352"/>
          </a:xfrm>
          <a:prstGeom prst="rect">
            <a:avLst/>
          </a:prstGeom>
          <a:noFill/>
          <a:ln/>
        </p:spPr>
        <p:txBody>
          <a:bodyPr wrap="square" lIns="0" tIns="0" rIns="0" bIns="0" rtlCol="0" anchor="ctr"/>
          <a:lstStyle/>
          <a:p>
            <a:pPr marL="0" indent="0" algn="ctr">
              <a:buNone/>
            </a:pPr>
            <a:r>
              <a:rPr lang="en-US" sz="950" dirty="0" err="1">
                <a:solidFill>
                  <a:srgbClr val="94A3B8"/>
                </a:solidFill>
                <a:latin typeface="Calibri" pitchFamily="34" charset="0"/>
                <a:ea typeface="Calibri" pitchFamily="34" charset="-122"/>
                <a:cs typeface="Calibri" pitchFamily="34" charset="-120"/>
              </a:rPr>
              <a:t>End-node execution</a:t>
            </a:r>
            <a:r>
              <a:rPr lang="en-US" altLang="zh-CN" sz="950" dirty="0">
                <a:solidFill>
                  <a:srgbClr val="94A3B8"/>
                </a:solidFill>
                <a:latin typeface="Calibri" pitchFamily="34" charset="0"/>
                <a:ea typeface="Calibri" pitchFamily="34" charset="-122"/>
                <a:cs typeface="Calibri" pitchFamily="34" charset="-120"/>
              </a:rPr>
              <a:t>,</a:t>
            </a:r>
            <a:r>
              <a:rPr lang="zh-CN" altLang="en-US" sz="950" dirty="0">
                <a:solidFill>
                  <a:srgbClr val="94A3B8"/>
                </a:solidFill>
                <a:latin typeface="Calibri" pitchFamily="34" charset="0"/>
                <a:ea typeface="Calibri" pitchFamily="34" charset="-122"/>
                <a:cs typeface="Calibri" pitchFamily="34" charset="-120"/>
              </a:rPr>
              <a:t>Submit final report</a:t>
            </a:r>
            <a:endParaRPr lang="en-US" sz="950" dirty="0"/>
          </a:p>
        </p:txBody>
      </p:sp>
      <p:sp>
        <p:nvSpPr>
          <p:cNvPr id="55" name="Shape 53"/>
          <p:cNvSpPr/>
          <p:nvPr/>
        </p:nvSpPr>
        <p:spPr>
          <a:xfrm>
            <a:off x="1746140" y="2571749"/>
            <a:ext cx="1024127" cy="688187"/>
          </a:xfrm>
          <a:prstGeom prst="rect">
            <a:avLst/>
          </a:prstGeom>
          <a:solidFill>
            <a:srgbClr val="15803D"/>
          </a:solidFill>
          <a:ln w="12700">
            <a:solidFill>
              <a:srgbClr val="15803D"/>
            </a:solidFill>
            <a:prstDash val="solid"/>
          </a:ln>
          <a:effectLst>
            <a:outerShdw blurRad="101600" dist="38100" dir="8100000" algn="bl" rotWithShape="0">
              <a:srgbClr val="000000">
                <a:alpha val="13000"/>
              </a:srgbClr>
            </a:outerShdw>
          </a:effectLst>
        </p:spPr>
        <p:txBody>
          <a:bodyPr/>
          <a:lstStyle/>
          <a:p>
            <a:endParaRPr lang="en-SA"/>
          </a:p>
        </p:txBody>
      </p:sp>
      <p:sp>
        <p:nvSpPr>
          <p:cNvPr id="56" name="Text 54"/>
          <p:cNvSpPr/>
          <p:nvPr/>
        </p:nvSpPr>
        <p:spPr>
          <a:xfrm>
            <a:off x="1746140" y="2571750"/>
            <a:ext cx="1024127" cy="67531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 Complete</a:t>
            </a:r>
            <a:endParaRPr lang="en-US" sz="1400" dirty="0"/>
          </a:p>
        </p:txBody>
      </p:sp>
      <p:sp>
        <p:nvSpPr>
          <p:cNvPr id="57" name="Shape 55"/>
          <p:cNvSpPr/>
          <p:nvPr/>
        </p:nvSpPr>
        <p:spPr>
          <a:xfrm>
            <a:off x="1746140" y="3332358"/>
            <a:ext cx="1024127" cy="554373"/>
          </a:xfrm>
          <a:prstGeom prst="rect">
            <a:avLst/>
          </a:prstGeom>
          <a:solidFill>
            <a:srgbClr val="0F172A"/>
          </a:solidFill>
          <a:ln w="6350">
            <a:solidFill>
              <a:srgbClr val="15803D"/>
            </a:solidFill>
            <a:prstDash val="solid"/>
          </a:ln>
        </p:spPr>
        <p:txBody>
          <a:bodyPr/>
          <a:lstStyle/>
          <a:p>
            <a:endParaRPr lang="en-SA"/>
          </a:p>
        </p:txBody>
      </p:sp>
      <p:sp>
        <p:nvSpPr>
          <p:cNvPr id="58" name="Text 56"/>
          <p:cNvSpPr/>
          <p:nvPr/>
        </p:nvSpPr>
        <p:spPr>
          <a:xfrm>
            <a:off x="1746140" y="3321557"/>
            <a:ext cx="1024127" cy="554373"/>
          </a:xfrm>
          <a:prstGeom prst="rect">
            <a:avLst/>
          </a:prstGeom>
          <a:noFill/>
          <a:ln/>
        </p:spPr>
        <p:txBody>
          <a:bodyPr wrap="square" lIns="0" tIns="0" rIns="0" bIns="0" rtlCol="0" anchor="ctr"/>
          <a:lstStyle/>
          <a:p>
            <a:pPr marL="0" indent="0" algn="ctr">
              <a:buNone/>
            </a:pPr>
            <a:r>
              <a:rPr lang="en-US" sz="1100" b="1" dirty="0">
                <a:solidFill>
                  <a:srgbClr val="C8973E"/>
                </a:solidFill>
                <a:latin typeface="Cambria" pitchFamily="34" charset="0"/>
                <a:ea typeface="Cambria" pitchFamily="34" charset="-122"/>
                <a:cs typeface="Cambria" pitchFamily="34" charset="-120"/>
              </a:rPr>
              <a:t>Score</a:t>
            </a:r>
            <a:endParaRPr lang="en-US" sz="1100" dirty="0"/>
          </a:p>
          <a:p>
            <a:pPr marL="0" indent="0" algn="ctr">
              <a:buNone/>
            </a:pPr>
            <a:r>
              <a:rPr lang="en-US" sz="1100" b="1" dirty="0">
                <a:solidFill>
                  <a:srgbClr val="C8973E"/>
                </a:solidFill>
                <a:latin typeface="Cambria" pitchFamily="34" charset="0"/>
                <a:ea typeface="Cambria" pitchFamily="34" charset="-122"/>
                <a:cs typeface="Cambria" pitchFamily="34" charset="-120"/>
              </a:rPr>
              <a:t>98/100</a:t>
            </a:r>
            <a:endParaRPr lang="en-US" sz="1100" dirty="0"/>
          </a:p>
        </p:txBody>
      </p:sp>
      <p:sp>
        <p:nvSpPr>
          <p:cNvPr id="59" name="Shape 57"/>
          <p:cNvSpPr/>
          <p:nvPr/>
        </p:nvSpPr>
        <p:spPr>
          <a:xfrm>
            <a:off x="1371600" y="4073652"/>
            <a:ext cx="6400800" cy="713232"/>
          </a:xfrm>
          <a:prstGeom prst="rect">
            <a:avLst/>
          </a:prstGeom>
          <a:solidFill>
            <a:srgbClr val="1E293B"/>
          </a:solidFill>
          <a:ln w="19050">
            <a:solidFill>
              <a:srgbClr val="C8973E"/>
            </a:solidFill>
            <a:prstDash val="solid"/>
          </a:ln>
          <a:effectLst>
            <a:outerShdw blurRad="101600" dist="38100" dir="8100000" algn="bl" rotWithShape="0">
              <a:srgbClr val="000000">
                <a:alpha val="13000"/>
              </a:srgbClr>
            </a:outerShdw>
          </a:effectLst>
        </p:spPr>
        <p:txBody>
          <a:bodyPr/>
          <a:lstStyle/>
          <a:p>
            <a:endParaRPr lang="en-SA"/>
          </a:p>
        </p:txBody>
      </p:sp>
      <p:sp>
        <p:nvSpPr>
          <p:cNvPr id="60" name="Text 58"/>
          <p:cNvSpPr/>
          <p:nvPr/>
        </p:nvSpPr>
        <p:spPr>
          <a:xfrm>
            <a:off x="1371600" y="4128516"/>
            <a:ext cx="6400800" cy="603504"/>
          </a:xfrm>
          <a:prstGeom prst="rect">
            <a:avLst/>
          </a:prstGeom>
          <a:noFill/>
          <a:ln/>
        </p:spPr>
        <p:txBody>
          <a:bodyPr wrap="square" lIns="0" tIns="0" rIns="0" bIns="0" rtlCol="0" anchor="ctr"/>
          <a:lstStyle/>
          <a:p>
            <a:pPr marL="0" indent="0" algn="ctr">
              <a:buNone/>
            </a:pPr>
            <a:r>
              <a:rPr lang="en-US" sz="1500" b="1" dirty="0">
                <a:solidFill>
                  <a:srgbClr val="C8973E"/>
                </a:solidFill>
                <a:latin typeface="Calibri" pitchFamily="34" charset="0"/>
                <a:ea typeface="Calibri" pitchFamily="34" charset="-122"/>
                <a:cs typeface="Calibri" pitchFamily="34" charset="-120"/>
              </a:rPr>
              <a:t>6 stages</a:t>
            </a:r>
            <a:r>
              <a:rPr lang="en-US" sz="1500" dirty="0">
                <a:solidFill>
                  <a:srgbClr val="94A3B8"/>
                </a:solidFill>
                <a:latin typeface="Calibri" pitchFamily="34" charset="0"/>
                <a:ea typeface="Calibri" pitchFamily="34" charset="-122"/>
                <a:cs typeface="Calibri" pitchFamily="34" charset="-120"/>
              </a:rPr>
              <a:t>  ·  </a:t>
            </a:r>
            <a:r>
              <a:rPr lang="en-US" sz="1500" b="1" dirty="0" err="1">
                <a:solidFill>
                  <a:srgbClr val="F1EDE5"/>
                </a:solidFill>
                <a:latin typeface="Courier New" pitchFamily="34" charset="0"/>
                <a:ea typeface="Courier New" pitchFamily="34" charset="-122"/>
                <a:cs typeface="Courier New" pitchFamily="34" charset="-120"/>
              </a:rPr>
              <a:t>step by step</a:t>
            </a:r>
            <a:r>
              <a:rPr lang="zh-CN" altLang="en-US" sz="1500" b="1" dirty="0">
                <a:solidFill>
                  <a:srgbClr val="F1EDE5"/>
                </a:solidFill>
                <a:latin typeface="Courier New" pitchFamily="34" charset="0"/>
                <a:ea typeface="Courier New" pitchFamily="34" charset="-122"/>
                <a:cs typeface="Courier New" pitchFamily="34" charset="-120"/>
              </a:rPr>
              <a:t> </a:t>
            </a:r>
            <a:r>
              <a:rPr lang="en-US" sz="1500" dirty="0">
                <a:solidFill>
                  <a:srgbClr val="94A3B8"/>
                </a:solidFill>
                <a:latin typeface="Calibri" pitchFamily="34" charset="0"/>
                <a:ea typeface="Calibri" pitchFamily="34" charset="-122"/>
                <a:cs typeface="Calibri" pitchFamily="34" charset="-120"/>
              </a:rPr>
              <a:t>·  Zero rejections / Zero timeouts  ·  </a:t>
            </a:r>
            <a:r>
              <a:rPr lang="en-US" sz="1500" b="1" dirty="0">
                <a:solidFill>
                  <a:srgbClr val="C8973E"/>
                </a:solidFill>
                <a:latin typeface="Calibri" pitchFamily="34" charset="0"/>
                <a:ea typeface="Calibri" pitchFamily="34" charset="-122"/>
                <a:cs typeface="Calibri" pitchFamily="34" charset="-120"/>
              </a:rPr>
              <a:t>Score 98/100</a:t>
            </a:r>
            <a:endParaRPr lang="en-US" sz="1500" dirty="0"/>
          </a:p>
        </p:txBody>
      </p:sp>
      <p:cxnSp>
        <p:nvCxnSpPr>
          <p:cNvPr id="65" name="Straight Arrow Connector 64">
            <a:extLst>
              <a:ext uri="{FF2B5EF4-FFF2-40B4-BE49-F238E27FC236}">
                <a16:creationId xmlns:a16="http://schemas.microsoft.com/office/drawing/2014/main" id="{BF165A36-4086-36DB-5FEF-8970B7B84A03}"/>
              </a:ext>
            </a:extLst>
          </p:cNvPr>
          <p:cNvCxnSpPr>
            <a:stCxn id="7" idx="3"/>
            <a:endCxn id="15" idx="1"/>
          </p:cNvCxnSpPr>
          <p:nvPr/>
        </p:nvCxnSpPr>
        <p:spPr>
          <a:xfrm>
            <a:off x="1778508" y="1444752"/>
            <a:ext cx="937260" cy="0"/>
          </a:xfrm>
          <a:prstGeom prst="straightConnector1">
            <a:avLst/>
          </a:prstGeom>
          <a:ln w="25400">
            <a:solidFill>
              <a:srgbClr val="C8973E"/>
            </a:solidFill>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6A76E1E1-18B5-40B1-B685-DF8049CD3F13}"/>
              </a:ext>
            </a:extLst>
          </p:cNvPr>
          <p:cNvCxnSpPr/>
          <p:nvPr/>
        </p:nvCxnSpPr>
        <p:spPr>
          <a:xfrm>
            <a:off x="3739896" y="1463040"/>
            <a:ext cx="937260" cy="0"/>
          </a:xfrm>
          <a:prstGeom prst="straightConnector1">
            <a:avLst/>
          </a:prstGeom>
          <a:ln w="25400">
            <a:solidFill>
              <a:srgbClr val="C8973E"/>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AFAFC475-73FB-2A55-EE99-5A19DD0AF9DD}"/>
              </a:ext>
            </a:extLst>
          </p:cNvPr>
          <p:cNvCxnSpPr>
            <a:cxnSpLocks/>
            <a:stCxn id="23" idx="3"/>
            <a:endCxn id="31" idx="1"/>
          </p:cNvCxnSpPr>
          <p:nvPr/>
        </p:nvCxnSpPr>
        <p:spPr>
          <a:xfrm flipV="1">
            <a:off x="5701284" y="1437243"/>
            <a:ext cx="937260" cy="4321"/>
          </a:xfrm>
          <a:prstGeom prst="straightConnector1">
            <a:avLst/>
          </a:prstGeom>
          <a:ln w="25400">
            <a:solidFill>
              <a:srgbClr val="C8973E"/>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B277C510-F54D-3B6D-2095-7D35D4F8682E}"/>
              </a:ext>
            </a:extLst>
          </p:cNvPr>
          <p:cNvCxnSpPr>
            <a:cxnSpLocks/>
            <a:stCxn id="39" idx="1"/>
            <a:endCxn id="47" idx="3"/>
          </p:cNvCxnSpPr>
          <p:nvPr/>
        </p:nvCxnSpPr>
        <p:spPr>
          <a:xfrm flipH="1" flipV="1">
            <a:off x="4718304" y="2915811"/>
            <a:ext cx="941832" cy="2068"/>
          </a:xfrm>
          <a:prstGeom prst="straightConnector1">
            <a:avLst/>
          </a:prstGeom>
          <a:ln w="25400">
            <a:solidFill>
              <a:srgbClr val="C8973E"/>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AB9D6E1C-2353-E191-0FCF-F2D40595CF1F}"/>
              </a:ext>
            </a:extLst>
          </p:cNvPr>
          <p:cNvCxnSpPr>
            <a:cxnSpLocks/>
            <a:stCxn id="47" idx="1"/>
            <a:endCxn id="55" idx="3"/>
          </p:cNvCxnSpPr>
          <p:nvPr/>
        </p:nvCxnSpPr>
        <p:spPr>
          <a:xfrm flipH="1">
            <a:off x="2770267" y="2915811"/>
            <a:ext cx="923909" cy="32"/>
          </a:xfrm>
          <a:prstGeom prst="straightConnector1">
            <a:avLst/>
          </a:prstGeom>
          <a:ln w="25400">
            <a:solidFill>
              <a:srgbClr val="C8973E"/>
            </a:solidFill>
            <a:tailEnd type="triangle"/>
          </a:ln>
        </p:spPr>
        <p:style>
          <a:lnRef idx="1">
            <a:schemeClr val="accent1"/>
          </a:lnRef>
          <a:fillRef idx="0">
            <a:schemeClr val="accent1"/>
          </a:fillRef>
          <a:effectRef idx="0">
            <a:schemeClr val="accent1"/>
          </a:effectRef>
          <a:fontRef idx="minor">
            <a:schemeClr val="tx1"/>
          </a:fontRef>
        </p:style>
      </p:cxnSp>
      <p:cxnSp>
        <p:nvCxnSpPr>
          <p:cNvPr id="77" name="Elbow Connector 76">
            <a:extLst>
              <a:ext uri="{FF2B5EF4-FFF2-40B4-BE49-F238E27FC236}">
                <a16:creationId xmlns:a16="http://schemas.microsoft.com/office/drawing/2014/main" id="{CFC3B054-61F7-89AC-73B1-87D75F48E2A5}"/>
              </a:ext>
            </a:extLst>
          </p:cNvPr>
          <p:cNvCxnSpPr>
            <a:stCxn id="31" idx="3"/>
            <a:endCxn id="39" idx="3"/>
          </p:cNvCxnSpPr>
          <p:nvPr/>
        </p:nvCxnSpPr>
        <p:spPr>
          <a:xfrm flipH="1">
            <a:off x="6684264" y="1437243"/>
            <a:ext cx="978408" cy="1480636"/>
          </a:xfrm>
          <a:prstGeom prst="bentConnector3">
            <a:avLst>
              <a:gd name="adj1" fmla="val -23364"/>
            </a:avLst>
          </a:prstGeom>
          <a:ln w="25400">
            <a:solidFill>
              <a:srgbClr val="C8973E"/>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8F5E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973E"/>
          </a:solidFill>
          <a:ln w="12700">
            <a:solidFill>
              <a:srgbClr val="C8973E"/>
            </a:solidFill>
            <a:prstDash val="solid"/>
          </a:ln>
        </p:spPr>
        <p:txBody>
          <a:bodyPr/>
          <a:lstStyle/>
          <a:p>
            <a:endParaRPr lang="en-SA"/>
          </a:p>
        </p:txBody>
      </p:sp>
      <p:sp>
        <p:nvSpPr>
          <p:cNvPr id="3" name="Text 1"/>
          <p:cNvSpPr/>
          <p:nvPr/>
        </p:nvSpPr>
        <p:spPr>
          <a:xfrm>
            <a:off x="457200" y="182880"/>
            <a:ext cx="8229600" cy="566928"/>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PinchBench &amp; Evaluation Setup</a:t>
            </a:r>
            <a:endParaRPr lang="en-US" sz="2600" dirty="0"/>
          </a:p>
        </p:txBody>
      </p:sp>
      <p:sp>
        <p:nvSpPr>
          <p:cNvPr id="4" name="Shape 2"/>
          <p:cNvSpPr/>
          <p:nvPr/>
        </p:nvSpPr>
        <p:spPr>
          <a:xfrm>
            <a:off x="457200" y="804672"/>
            <a:ext cx="8229600" cy="13716"/>
          </a:xfrm>
          <a:prstGeom prst="rect">
            <a:avLst/>
          </a:prstGeom>
          <a:solidFill>
            <a:srgbClr val="EAE5D8"/>
          </a:solidFill>
          <a:ln w="12700">
            <a:solidFill>
              <a:srgbClr val="EAE5D8"/>
            </a:solidFill>
            <a:prstDash val="solid"/>
          </a:ln>
        </p:spPr>
        <p:txBody>
          <a:bodyPr/>
          <a:lstStyle/>
          <a:p>
            <a:endParaRPr lang="en-SA"/>
          </a:p>
        </p:txBody>
      </p:sp>
      <p:sp>
        <p:nvSpPr>
          <p:cNvPr id="5" name="Shape 3"/>
          <p:cNvSpPr/>
          <p:nvPr/>
        </p:nvSpPr>
        <p:spPr>
          <a:xfrm>
            <a:off x="457200" y="960120"/>
            <a:ext cx="4114800" cy="3749040"/>
          </a:xfrm>
          <a:prstGeom prst="rect">
            <a:avLst/>
          </a:prstGeom>
          <a:solidFill>
            <a:srgbClr val="FFFFFF"/>
          </a:solidFill>
          <a:ln w="12700">
            <a:solidFill>
              <a:srgbClr val="EAE5D8"/>
            </a:solidFill>
            <a:prstDash val="solid"/>
          </a:ln>
          <a:effectLst>
            <a:outerShdw blurRad="101600" dist="38100" dir="8100000" algn="bl" rotWithShape="0">
              <a:srgbClr val="000000">
                <a:alpha val="13000"/>
              </a:srgbClr>
            </a:outerShdw>
          </a:effectLst>
        </p:spPr>
        <p:txBody>
          <a:bodyPr/>
          <a:lstStyle/>
          <a:p>
            <a:endParaRPr lang="en-SA"/>
          </a:p>
        </p:txBody>
      </p:sp>
      <p:sp>
        <p:nvSpPr>
          <p:cNvPr id="6" name="Shape 4"/>
          <p:cNvSpPr/>
          <p:nvPr/>
        </p:nvSpPr>
        <p:spPr>
          <a:xfrm>
            <a:off x="457200" y="960120"/>
            <a:ext cx="59436" cy="3749040"/>
          </a:xfrm>
          <a:prstGeom prst="rect">
            <a:avLst/>
          </a:prstGeom>
          <a:solidFill>
            <a:srgbClr val="C8973E"/>
          </a:solidFill>
          <a:ln w="12700">
            <a:solidFill>
              <a:srgbClr val="C8973E"/>
            </a:solidFill>
            <a:prstDash val="solid"/>
          </a:ln>
        </p:spPr>
        <p:txBody>
          <a:bodyPr/>
          <a:lstStyle/>
          <a:p>
            <a:endParaRPr lang="en-SA"/>
          </a:p>
        </p:txBody>
      </p:sp>
      <p:sp>
        <p:nvSpPr>
          <p:cNvPr id="7" name="Text 5"/>
          <p:cNvSpPr/>
          <p:nvPr/>
        </p:nvSpPr>
        <p:spPr>
          <a:xfrm>
            <a:off x="658368" y="1060704"/>
            <a:ext cx="3749040" cy="365760"/>
          </a:xfrm>
          <a:prstGeom prst="rect">
            <a:avLst/>
          </a:prstGeom>
          <a:noFill/>
          <a:ln/>
        </p:spPr>
        <p:txBody>
          <a:bodyPr wrap="square" lIns="0" tIns="0" rIns="0" bIns="0" rtlCol="0" anchor="ctr"/>
          <a:lstStyle/>
          <a:p>
            <a:pPr marL="0" indent="0" algn="l">
              <a:buNone/>
            </a:pPr>
            <a:r>
              <a:rPr lang="en-US" sz="1400" b="1" dirty="0">
                <a:solidFill>
                  <a:srgbClr val="1E293B"/>
                </a:solidFill>
                <a:latin typeface="Cambria" pitchFamily="34" charset="0"/>
                <a:ea typeface="Cambria" pitchFamily="34" charset="-122"/>
                <a:cs typeface="Cambria" pitchFamily="34" charset="-120"/>
              </a:rPr>
              <a:t>What is PinchBench</a:t>
            </a:r>
            <a:endParaRPr lang="en-US" sz="1400" dirty="0"/>
          </a:p>
        </p:txBody>
      </p:sp>
      <p:sp>
        <p:nvSpPr>
          <p:cNvPr id="8" name="Text 6"/>
          <p:cNvSpPr/>
          <p:nvPr/>
        </p:nvSpPr>
        <p:spPr>
          <a:xfrm>
            <a:off x="658368" y="1536192"/>
            <a:ext cx="3730752" cy="2971800"/>
          </a:xfrm>
          <a:prstGeom prst="rect">
            <a:avLst/>
          </a:prstGeom>
          <a:noFill/>
          <a:ln/>
        </p:spPr>
        <p:txBody>
          <a:bodyPr wrap="square" lIns="0" tIns="0" rIns="0" bIns="0" rtlCol="0" anchor="t"/>
          <a:lstStyle/>
          <a:p>
            <a:pPr marL="0" indent="0" algn="l">
              <a:buNone/>
            </a:pPr>
            <a:r>
              <a:rPr lang="en-US" sz="1300" b="1" dirty="0">
                <a:solidFill>
                  <a:srgbClr val="1E293B"/>
                </a:solidFill>
                <a:latin typeface="Calibri" pitchFamily="34" charset="0"/>
                <a:ea typeface="Calibri" pitchFamily="34" charset="-122"/>
                <a:cs typeface="Calibri" pitchFamily="34" charset="-120"/>
              </a:rPr>
              <a:t>Open benchmark developed by kilo.ai</a:t>
            </a:r>
            <a:endParaRPr lang="en-US" sz="1300" dirty="0"/>
          </a:p>
          <a:p>
            <a:pPr marL="0" indent="0" algn="l">
              <a:buNone/>
            </a:pPr>
            <a:r>
              <a:rPr lang="en-US" sz="1300" dirty="0">
                <a:solidFill>
                  <a:srgbClr val="64748B"/>
                </a:solidFill>
                <a:latin typeface="Calibri" pitchFamily="34" charset="0"/>
                <a:ea typeface="Calibri" pitchFamily="34" charset="-122"/>
                <a:cs typeface="Calibri" pitchFamily="34" charset="-120"/>
              </a:rPr>
              <a:t>Evaluates LLM models as OpenClaw programming agents, covering real workflow tasks (scheduling, coding, email, research, file processing)</a:t>
            </a:r>
            <a:endParaRPr lang="en-US" sz="1300" dirty="0"/>
          </a:p>
          <a:p>
            <a:pPr marL="0" indent="0" algn="l">
              <a:buNone/>
            </a:pPr>
            <a:r>
              <a:rPr lang="en-US" sz="1300" dirty="0">
                <a:solidFill>
                  <a:srgbClr val="1E293B"/>
                </a:solidFill>
                <a:latin typeface="Calibri" pitchFamily="34" charset="0"/>
                <a:ea typeface="Calibri" pitchFamily="34" charset="-122"/>
                <a:cs typeface="Calibri" pitchFamily="34" charset="-120"/>
              </a:rPr>
              <a:t> </a:t>
            </a:r>
            <a:endParaRPr lang="en-US" sz="1300" dirty="0"/>
          </a:p>
          <a:p>
            <a:pPr marL="0" indent="0" algn="l">
              <a:buNone/>
            </a:pPr>
            <a:r>
              <a:rPr lang="en-US" sz="1300" b="1" dirty="0">
                <a:solidFill>
                  <a:srgbClr val="1E293B"/>
                </a:solidFill>
                <a:latin typeface="Calibri" pitchFamily="34" charset="0"/>
                <a:ea typeface="Calibri" pitchFamily="34" charset="-122"/>
                <a:cs typeface="Calibri" pitchFamily="34" charset="-120"/>
              </a:rPr>
              <a:t>Public Leaderboard</a:t>
            </a:r>
            <a:endParaRPr lang="en-US" sz="1300" dirty="0"/>
          </a:p>
          <a:p>
            <a:pPr marL="0" indent="0" algn="l">
              <a:buNone/>
            </a:pPr>
            <a:r>
              <a:rPr lang="en-US" sz="1300" dirty="0">
                <a:solidFill>
                  <a:srgbClr val="64748B"/>
                </a:solidFill>
                <a:latin typeface="Calibri" pitchFamily="34" charset="0"/>
                <a:ea typeface="Calibri" pitchFamily="34" charset="-122"/>
                <a:cs typeface="Calibri" pitchFamily="34" charset="-120"/>
              </a:rPr>
              <a:t>pinchbench.com  ·  As of March 2026: 49 models, 327 runs recorded</a:t>
            </a:r>
            <a:endParaRPr lang="en-US" sz="1300" dirty="0"/>
          </a:p>
          <a:p>
            <a:pPr marL="0" indent="0" algn="l">
              <a:buNone/>
            </a:pPr>
            <a:r>
              <a:rPr lang="en-US" sz="1300" dirty="0">
                <a:solidFill>
                  <a:srgbClr val="1E293B"/>
                </a:solidFill>
                <a:latin typeface="Calibri" pitchFamily="34" charset="0"/>
                <a:ea typeface="Calibri" pitchFamily="34" charset="-122"/>
                <a:cs typeface="Calibri" pitchFamily="34" charset="-120"/>
              </a:rPr>
              <a:t> </a:t>
            </a:r>
            <a:endParaRPr lang="en-US" sz="1300" dirty="0"/>
          </a:p>
          <a:p>
            <a:pPr marL="0" indent="0" algn="l">
              <a:buNone/>
            </a:pPr>
            <a:r>
              <a:rPr lang="en-US" sz="1300" b="1" dirty="0">
                <a:solidFill>
                  <a:srgbClr val="1E293B"/>
                </a:solidFill>
                <a:latin typeface="Calibri" pitchFamily="34" charset="0"/>
                <a:ea typeface="Calibri" pitchFamily="34" charset="-122"/>
                <a:cs typeface="Calibri" pitchFamily="34" charset="-120"/>
              </a:rPr>
              <a:t>How We Use It</a:t>
            </a:r>
            <a:endParaRPr lang="en-US" sz="1300" dirty="0"/>
          </a:p>
          <a:p>
            <a:pPr marL="0" indent="0" algn="l">
              <a:buNone/>
            </a:pPr>
            <a:r>
              <a:rPr lang="en-US" sz="1300" dirty="0">
                <a:solidFill>
                  <a:srgbClr val="64748B"/>
                </a:solidFill>
                <a:latin typeface="Calibri" pitchFamily="34" charset="0"/>
                <a:ea typeface="Calibri" pitchFamily="34" charset="-122"/>
                <a:cs typeface="Calibri" pitchFamily="34" charset="-120"/>
              </a:rPr>
              <a:t>Reuse its 22 standard tasks, fix the model, run 7 governance systems once each — measuring governance design impact only</a:t>
            </a:r>
            <a:endParaRPr lang="en-US" sz="1300" dirty="0"/>
          </a:p>
        </p:txBody>
      </p:sp>
      <p:sp>
        <p:nvSpPr>
          <p:cNvPr id="9" name="Shape 7"/>
          <p:cNvSpPr/>
          <p:nvPr/>
        </p:nvSpPr>
        <p:spPr>
          <a:xfrm>
            <a:off x="4846320" y="960120"/>
            <a:ext cx="1920240" cy="1325880"/>
          </a:xfrm>
          <a:prstGeom prst="rect">
            <a:avLst/>
          </a:prstGeom>
          <a:solidFill>
            <a:srgbClr val="0F172A"/>
          </a:solidFill>
          <a:ln w="12700">
            <a:solidFill>
              <a:srgbClr val="0F172A"/>
            </a:solidFill>
            <a:prstDash val="solid"/>
          </a:ln>
          <a:effectLst>
            <a:outerShdw blurRad="101600" dist="38100" dir="8100000" algn="bl" rotWithShape="0">
              <a:srgbClr val="000000">
                <a:alpha val="13000"/>
              </a:srgbClr>
            </a:outerShdw>
          </a:effectLst>
        </p:spPr>
        <p:txBody>
          <a:bodyPr/>
          <a:lstStyle/>
          <a:p>
            <a:endParaRPr lang="en-SA"/>
          </a:p>
        </p:txBody>
      </p:sp>
      <p:sp>
        <p:nvSpPr>
          <p:cNvPr id="10" name="Text 8"/>
          <p:cNvSpPr/>
          <p:nvPr/>
        </p:nvSpPr>
        <p:spPr>
          <a:xfrm>
            <a:off x="4846320" y="1033272"/>
            <a:ext cx="1920240" cy="594360"/>
          </a:xfrm>
          <a:prstGeom prst="rect">
            <a:avLst/>
          </a:prstGeom>
          <a:noFill/>
          <a:ln/>
        </p:spPr>
        <p:txBody>
          <a:bodyPr wrap="square" lIns="0" tIns="0" rIns="0" bIns="0" rtlCol="0" anchor="ctr"/>
          <a:lstStyle/>
          <a:p>
            <a:pPr marL="0" indent="0" algn="ctr">
              <a:buNone/>
            </a:pPr>
            <a:r>
              <a:rPr lang="en-US" sz="3200" b="1" dirty="0">
                <a:solidFill>
                  <a:srgbClr val="C8973E"/>
                </a:solidFill>
                <a:latin typeface="Cambria" pitchFamily="34" charset="0"/>
                <a:ea typeface="Cambria" pitchFamily="34" charset="-122"/>
                <a:cs typeface="Cambria" pitchFamily="34" charset="-120"/>
              </a:rPr>
              <a:t>22</a:t>
            </a:r>
            <a:endParaRPr lang="en-US" sz="3200" dirty="0"/>
          </a:p>
        </p:txBody>
      </p:sp>
      <p:sp>
        <p:nvSpPr>
          <p:cNvPr id="11" name="Text 9"/>
          <p:cNvSpPr/>
          <p:nvPr/>
        </p:nvSpPr>
        <p:spPr>
          <a:xfrm>
            <a:off x="4846320" y="1618488"/>
            <a:ext cx="1920240" cy="274320"/>
          </a:xfrm>
          <a:prstGeom prst="rect">
            <a:avLst/>
          </a:prstGeom>
          <a:noFill/>
          <a:ln/>
        </p:spPr>
        <p:txBody>
          <a:bodyPr wrap="square" lIns="0" tIns="0" rIns="0" bIns="0" rtlCol="0" anchor="ctr"/>
          <a:lstStyle/>
          <a:p>
            <a:pPr marL="0" indent="0" algn="ctr">
              <a:buNone/>
            </a:pPr>
            <a:r>
              <a:rPr lang="en-US" sz="1300" b="1" dirty="0">
                <a:solidFill>
                  <a:srgbClr val="F1EDE5"/>
                </a:solidFill>
                <a:latin typeface="Cambria" pitchFamily="34" charset="0"/>
                <a:ea typeface="Cambria" pitchFamily="34" charset="-122"/>
                <a:cs typeface="Cambria" pitchFamily="34" charset="-120"/>
              </a:rPr>
              <a:t>Test Tasks</a:t>
            </a:r>
            <a:endParaRPr lang="en-US" sz="1300" dirty="0"/>
          </a:p>
        </p:txBody>
      </p:sp>
      <p:sp>
        <p:nvSpPr>
          <p:cNvPr id="12" name="Text 10"/>
          <p:cNvSpPr/>
          <p:nvPr/>
        </p:nvSpPr>
        <p:spPr>
          <a:xfrm>
            <a:off x="4937760" y="1911096"/>
            <a:ext cx="1737360" cy="347472"/>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Covers file processing, research, coding, memory, and more</a:t>
            </a:r>
            <a:endParaRPr lang="en-US" sz="950" dirty="0"/>
          </a:p>
        </p:txBody>
      </p:sp>
      <p:sp>
        <p:nvSpPr>
          <p:cNvPr id="13" name="Shape 11"/>
          <p:cNvSpPr/>
          <p:nvPr/>
        </p:nvSpPr>
        <p:spPr>
          <a:xfrm>
            <a:off x="6903720" y="960120"/>
            <a:ext cx="1920240" cy="1325880"/>
          </a:xfrm>
          <a:prstGeom prst="rect">
            <a:avLst/>
          </a:prstGeom>
          <a:solidFill>
            <a:srgbClr val="0F172A"/>
          </a:solidFill>
          <a:ln w="12700">
            <a:solidFill>
              <a:srgbClr val="0F172A"/>
            </a:solidFill>
            <a:prstDash val="solid"/>
          </a:ln>
          <a:effectLst>
            <a:outerShdw blurRad="101600" dist="38100" dir="8100000" algn="bl" rotWithShape="0">
              <a:srgbClr val="000000">
                <a:alpha val="13000"/>
              </a:srgbClr>
            </a:outerShdw>
          </a:effectLst>
        </p:spPr>
        <p:txBody>
          <a:bodyPr/>
          <a:lstStyle/>
          <a:p>
            <a:endParaRPr lang="en-SA"/>
          </a:p>
        </p:txBody>
      </p:sp>
      <p:sp>
        <p:nvSpPr>
          <p:cNvPr id="14" name="Text 12"/>
          <p:cNvSpPr/>
          <p:nvPr/>
        </p:nvSpPr>
        <p:spPr>
          <a:xfrm>
            <a:off x="6903720" y="1033272"/>
            <a:ext cx="1920240" cy="594360"/>
          </a:xfrm>
          <a:prstGeom prst="rect">
            <a:avLst/>
          </a:prstGeom>
          <a:noFill/>
          <a:ln/>
        </p:spPr>
        <p:txBody>
          <a:bodyPr wrap="square" lIns="0" tIns="0" rIns="0" bIns="0" rtlCol="0" anchor="ctr"/>
          <a:lstStyle/>
          <a:p>
            <a:pPr marL="0" indent="0" algn="ctr">
              <a:buNone/>
            </a:pPr>
            <a:r>
              <a:rPr lang="en-US" sz="3200" b="1" dirty="0">
                <a:solidFill>
                  <a:srgbClr val="C8973E"/>
                </a:solidFill>
                <a:latin typeface="Cambria" pitchFamily="34" charset="0"/>
                <a:ea typeface="Cambria" pitchFamily="34" charset="-122"/>
                <a:cs typeface="Cambria" pitchFamily="34" charset="-120"/>
              </a:rPr>
              <a:t>7</a:t>
            </a:r>
            <a:endParaRPr lang="en-US" sz="3200" dirty="0"/>
          </a:p>
        </p:txBody>
      </p:sp>
      <p:sp>
        <p:nvSpPr>
          <p:cNvPr id="15" name="Text 13"/>
          <p:cNvSpPr/>
          <p:nvPr/>
        </p:nvSpPr>
        <p:spPr>
          <a:xfrm>
            <a:off x="6903720" y="1618488"/>
            <a:ext cx="1920240" cy="274320"/>
          </a:xfrm>
          <a:prstGeom prst="rect">
            <a:avLst/>
          </a:prstGeom>
          <a:noFill/>
          <a:ln/>
        </p:spPr>
        <p:txBody>
          <a:bodyPr wrap="square" lIns="0" tIns="0" rIns="0" bIns="0" rtlCol="0" anchor="ctr"/>
          <a:lstStyle/>
          <a:p>
            <a:pPr marL="0" indent="0" algn="ctr">
              <a:buNone/>
            </a:pPr>
            <a:r>
              <a:rPr lang="en-US" sz="1300" b="1" dirty="0">
                <a:solidFill>
                  <a:srgbClr val="F1EDE5"/>
                </a:solidFill>
                <a:latin typeface="Cambria" pitchFamily="34" charset="0"/>
                <a:ea typeface="Cambria" pitchFamily="34" charset="-122"/>
                <a:cs typeface="Cambria" pitchFamily="34" charset="-120"/>
              </a:rPr>
              <a:t>Historical Governance</a:t>
            </a:r>
            <a:endParaRPr lang="en-US" sz="1300" dirty="0"/>
          </a:p>
        </p:txBody>
      </p:sp>
      <p:sp>
        <p:nvSpPr>
          <p:cNvPr id="16" name="Text 14"/>
          <p:cNvSpPr/>
          <p:nvPr/>
        </p:nvSpPr>
        <p:spPr>
          <a:xfrm>
            <a:off x="6995160" y="1911096"/>
            <a:ext cx="1737360" cy="347472"/>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Mongol Empire / Tang / Athens / US Federal, etc.</a:t>
            </a:r>
            <a:endParaRPr lang="en-US" sz="950" dirty="0"/>
          </a:p>
        </p:txBody>
      </p:sp>
      <p:sp>
        <p:nvSpPr>
          <p:cNvPr id="17" name="Shape 15"/>
          <p:cNvSpPr/>
          <p:nvPr/>
        </p:nvSpPr>
        <p:spPr>
          <a:xfrm>
            <a:off x="4846320" y="2468880"/>
            <a:ext cx="1920240" cy="1325880"/>
          </a:xfrm>
          <a:prstGeom prst="rect">
            <a:avLst/>
          </a:prstGeom>
          <a:solidFill>
            <a:srgbClr val="0F172A"/>
          </a:solidFill>
          <a:ln w="12700">
            <a:solidFill>
              <a:srgbClr val="0F172A"/>
            </a:solidFill>
            <a:prstDash val="solid"/>
          </a:ln>
          <a:effectLst>
            <a:outerShdw blurRad="101600" dist="38100" dir="8100000" algn="bl" rotWithShape="0">
              <a:srgbClr val="000000">
                <a:alpha val="13000"/>
              </a:srgbClr>
            </a:outerShdw>
          </a:effectLst>
        </p:spPr>
        <p:txBody>
          <a:bodyPr/>
          <a:lstStyle/>
          <a:p>
            <a:endParaRPr lang="en-SA"/>
          </a:p>
        </p:txBody>
      </p:sp>
      <p:sp>
        <p:nvSpPr>
          <p:cNvPr id="18" name="Text 16"/>
          <p:cNvSpPr/>
          <p:nvPr/>
        </p:nvSpPr>
        <p:spPr>
          <a:xfrm>
            <a:off x="4846320" y="2542032"/>
            <a:ext cx="1920240" cy="594360"/>
          </a:xfrm>
          <a:prstGeom prst="rect">
            <a:avLst/>
          </a:prstGeom>
          <a:noFill/>
          <a:ln/>
        </p:spPr>
        <p:txBody>
          <a:bodyPr wrap="square" lIns="0" tIns="0" rIns="0" bIns="0" rtlCol="0" anchor="ctr"/>
          <a:lstStyle/>
          <a:p>
            <a:pPr marL="0" indent="0" algn="ctr">
              <a:buNone/>
            </a:pPr>
            <a:r>
              <a:rPr lang="en-US" sz="3200" b="1" dirty="0">
                <a:solidFill>
                  <a:srgbClr val="C8973E"/>
                </a:solidFill>
                <a:latin typeface="Cambria" pitchFamily="34" charset="0"/>
                <a:ea typeface="Cambria" pitchFamily="34" charset="-122"/>
                <a:cs typeface="Cambria" pitchFamily="34" charset="-120"/>
              </a:rPr>
              <a:t>154</a:t>
            </a:r>
            <a:endParaRPr lang="en-US" sz="3200" dirty="0"/>
          </a:p>
        </p:txBody>
      </p:sp>
      <p:sp>
        <p:nvSpPr>
          <p:cNvPr id="19" name="Text 17"/>
          <p:cNvSpPr/>
          <p:nvPr/>
        </p:nvSpPr>
        <p:spPr>
          <a:xfrm>
            <a:off x="4846320" y="3127248"/>
            <a:ext cx="1920240" cy="274320"/>
          </a:xfrm>
          <a:prstGeom prst="rect">
            <a:avLst/>
          </a:prstGeom>
          <a:noFill/>
          <a:ln/>
        </p:spPr>
        <p:txBody>
          <a:bodyPr wrap="square" lIns="0" tIns="0" rIns="0" bIns="0" rtlCol="0" anchor="ctr"/>
          <a:lstStyle/>
          <a:p>
            <a:pPr marL="0" indent="0" algn="ctr">
              <a:buNone/>
            </a:pPr>
            <a:r>
              <a:rPr lang="en-US" sz="1300" b="1" dirty="0">
                <a:solidFill>
                  <a:srgbClr val="F1EDE5"/>
                </a:solidFill>
                <a:latin typeface="Cambria" pitchFamily="34" charset="0"/>
                <a:ea typeface="Cambria" pitchFamily="34" charset="-122"/>
                <a:cs typeface="Cambria" pitchFamily="34" charset="-120"/>
              </a:rPr>
              <a:t>Total Runs</a:t>
            </a:r>
            <a:endParaRPr lang="en-US" sz="1300" dirty="0"/>
          </a:p>
        </p:txBody>
      </p:sp>
      <p:sp>
        <p:nvSpPr>
          <p:cNvPr id="20" name="Text 18"/>
          <p:cNvSpPr/>
          <p:nvPr/>
        </p:nvSpPr>
        <p:spPr>
          <a:xfrm>
            <a:off x="4937760" y="3419856"/>
            <a:ext cx="1737360" cy="347472"/>
          </a:xfrm>
          <a:prstGeom prst="rect">
            <a:avLst/>
          </a:prstGeom>
          <a:noFill/>
          <a:ln/>
        </p:spPr>
        <p:txBody>
          <a:bodyPr wrap="square" lIns="0" tIns="0" rIns="0" bIns="0" rtlCol="0" anchor="ctr"/>
          <a:lstStyle/>
          <a:p>
            <a:pPr marL="0" indent="0" algn="ctr">
              <a:buNone/>
            </a:pPr>
            <a:r>
              <a:rPr lang="en-US" sz="950" dirty="0">
                <a:solidFill>
                  <a:srgbClr val="94A3B8"/>
                </a:solidFill>
                <a:latin typeface="Calibri" pitchFamily="34" charset="0"/>
                <a:ea typeface="Calibri" pitchFamily="34" charset="-122"/>
                <a:cs typeface="Calibri" pitchFamily="34" charset="-120"/>
              </a:rPr>
              <a:t>Per system × Per task × 1 run</a:t>
            </a:r>
            <a:endParaRPr lang="en-US" sz="950" dirty="0"/>
          </a:p>
        </p:txBody>
      </p:sp>
      <p:sp>
        <p:nvSpPr>
          <p:cNvPr id="21" name="Shape 19"/>
          <p:cNvSpPr/>
          <p:nvPr/>
        </p:nvSpPr>
        <p:spPr>
          <a:xfrm>
            <a:off x="6903720" y="2468880"/>
            <a:ext cx="1920240" cy="1325880"/>
          </a:xfrm>
          <a:prstGeom prst="rect">
            <a:avLst/>
          </a:prstGeom>
          <a:solidFill>
            <a:srgbClr val="0F172A"/>
          </a:solidFill>
          <a:ln w="12700">
            <a:solidFill>
              <a:srgbClr val="0F172A"/>
            </a:solidFill>
            <a:prstDash val="solid"/>
          </a:ln>
          <a:effectLst>
            <a:outerShdw blurRad="101600" dist="38100" dir="8100000" algn="bl" rotWithShape="0">
              <a:srgbClr val="000000">
                <a:alpha val="13000"/>
              </a:srgbClr>
            </a:outerShdw>
          </a:effectLst>
        </p:spPr>
        <p:txBody>
          <a:bodyPr/>
          <a:lstStyle/>
          <a:p>
            <a:endParaRPr lang="en-SA"/>
          </a:p>
        </p:txBody>
      </p:sp>
      <p:sp>
        <p:nvSpPr>
          <p:cNvPr id="22" name="Text 20"/>
          <p:cNvSpPr/>
          <p:nvPr/>
        </p:nvSpPr>
        <p:spPr>
          <a:xfrm>
            <a:off x="6903720" y="2542032"/>
            <a:ext cx="1920240" cy="594360"/>
          </a:xfrm>
          <a:prstGeom prst="rect">
            <a:avLst/>
          </a:prstGeom>
          <a:noFill/>
          <a:ln/>
        </p:spPr>
        <p:txBody>
          <a:bodyPr wrap="square" lIns="0" tIns="0" rIns="0" bIns="0" rtlCol="0" anchor="ctr"/>
          <a:lstStyle/>
          <a:p>
            <a:pPr marL="0" indent="0" algn="ctr">
              <a:buNone/>
            </a:pPr>
            <a:r>
              <a:rPr lang="en-US" sz="3200" b="1" dirty="0">
                <a:solidFill>
                  <a:srgbClr val="C8973E"/>
                </a:solidFill>
                <a:latin typeface="Cambria" pitchFamily="34" charset="0"/>
                <a:ea typeface="Cambria" pitchFamily="34" charset="-122"/>
                <a:cs typeface="Cambria" pitchFamily="34" charset="-120"/>
              </a:rPr>
              <a:t>M2.5</a:t>
            </a:r>
            <a:endParaRPr lang="en-US" sz="3200" dirty="0"/>
          </a:p>
        </p:txBody>
      </p:sp>
      <p:sp>
        <p:nvSpPr>
          <p:cNvPr id="23" name="Text 21"/>
          <p:cNvSpPr/>
          <p:nvPr/>
        </p:nvSpPr>
        <p:spPr>
          <a:xfrm>
            <a:off x="6903720" y="3127248"/>
            <a:ext cx="1920240" cy="274320"/>
          </a:xfrm>
          <a:prstGeom prst="rect">
            <a:avLst/>
          </a:prstGeom>
          <a:noFill/>
          <a:ln/>
        </p:spPr>
        <p:txBody>
          <a:bodyPr wrap="square" lIns="0" tIns="0" rIns="0" bIns="0" rtlCol="0" anchor="ctr"/>
          <a:lstStyle/>
          <a:p>
            <a:pPr marL="0" indent="0" algn="ctr">
              <a:buNone/>
            </a:pPr>
            <a:r>
              <a:rPr lang="en-US" sz="1300" b="1" dirty="0">
                <a:solidFill>
                  <a:srgbClr val="F1EDE5"/>
                </a:solidFill>
                <a:latin typeface="Cambria" pitchFamily="34" charset="0"/>
                <a:ea typeface="Cambria" pitchFamily="34" charset="-122"/>
                <a:cs typeface="Cambria" pitchFamily="34" charset="-120"/>
              </a:rPr>
              <a:t>Model · MiniMax</a:t>
            </a:r>
            <a:endParaRPr lang="en-US" sz="1300" dirty="0"/>
          </a:p>
        </p:txBody>
      </p:sp>
      <p:sp>
        <p:nvSpPr>
          <p:cNvPr id="24" name="Text 22"/>
          <p:cNvSpPr/>
          <p:nvPr/>
        </p:nvSpPr>
        <p:spPr>
          <a:xfrm>
            <a:off x="6995160" y="3419856"/>
            <a:ext cx="1737360" cy="347472"/>
          </a:xfrm>
          <a:prstGeom prst="rect">
            <a:avLst/>
          </a:prstGeom>
          <a:noFill/>
          <a:ln/>
        </p:spPr>
        <p:txBody>
          <a:bodyPr wrap="square" lIns="0" tIns="0" rIns="0" bIns="0" rtlCol="0" anchor="ctr"/>
          <a:lstStyle/>
          <a:p>
            <a:pPr marL="0" indent="0" algn="ctr">
              <a:buNone/>
            </a:pPr>
            <a:r>
              <a:rPr lang="en-US" sz="950" dirty="0" err="1">
                <a:solidFill>
                  <a:srgbClr val="94A3B8"/>
                </a:solidFill>
                <a:latin typeface="Calibri" pitchFamily="34" charset="0"/>
                <a:ea typeface="Calibri" pitchFamily="34" charset="-122"/>
                <a:cs typeface="Calibri" pitchFamily="34" charset="-120"/>
              </a:rPr>
              <a:t>All via</a:t>
            </a:r>
            <a:r>
              <a:rPr lang="en-US" sz="950" dirty="0">
                <a:solidFill>
                  <a:srgbClr val="94A3B8"/>
                </a:solidFill>
                <a:latin typeface="Calibri" pitchFamily="34" charset="0"/>
                <a:ea typeface="Calibri" pitchFamily="34" charset="-122"/>
                <a:cs typeface="Calibri" pitchFamily="34" charset="-120"/>
              </a:rPr>
              <a:t> </a:t>
            </a:r>
            <a:r>
              <a:rPr lang="en-US" sz="950" dirty="0" err="1">
                <a:solidFill>
                  <a:srgbClr val="94A3B8"/>
                </a:solidFill>
                <a:latin typeface="Calibri" pitchFamily="34" charset="0"/>
                <a:ea typeface="Calibri" pitchFamily="34" charset="-122"/>
                <a:cs typeface="Calibri" pitchFamily="34" charset="-120"/>
              </a:rPr>
              <a:t>GenericAgent</a:t>
            </a:r>
            <a:r>
              <a:rPr lang="en-US" sz="950" dirty="0">
                <a:solidFill>
                  <a:srgbClr val="94A3B8"/>
                </a:solidFill>
                <a:latin typeface="Calibri" pitchFamily="34" charset="0"/>
                <a:ea typeface="Calibri" pitchFamily="34" charset="-122"/>
                <a:cs typeface="Calibri" pitchFamily="34" charset="-120"/>
              </a:rPr>
              <a:t> calls</a:t>
            </a:r>
            <a:endParaRPr lang="en-US" sz="950" dirty="0"/>
          </a:p>
        </p:txBody>
      </p:sp>
      <p:sp>
        <p:nvSpPr>
          <p:cNvPr id="25" name="Shape 23"/>
          <p:cNvSpPr/>
          <p:nvPr/>
        </p:nvSpPr>
        <p:spPr>
          <a:xfrm>
            <a:off x="4846320" y="4041648"/>
            <a:ext cx="3931920" cy="530352"/>
          </a:xfrm>
          <a:prstGeom prst="rect">
            <a:avLst/>
          </a:prstGeom>
          <a:solidFill>
            <a:srgbClr val="F0DEB4"/>
          </a:solidFill>
          <a:ln w="12700">
            <a:solidFill>
              <a:srgbClr val="C8973E"/>
            </a:solidFill>
            <a:prstDash val="solid"/>
          </a:ln>
        </p:spPr>
        <p:txBody>
          <a:bodyPr/>
          <a:lstStyle/>
          <a:p>
            <a:endParaRPr lang="en-SA"/>
          </a:p>
        </p:txBody>
      </p:sp>
      <p:sp>
        <p:nvSpPr>
          <p:cNvPr id="26" name="Text 24"/>
          <p:cNvSpPr/>
          <p:nvPr/>
        </p:nvSpPr>
        <p:spPr>
          <a:xfrm>
            <a:off x="4846320" y="4087368"/>
            <a:ext cx="3931920" cy="438912"/>
          </a:xfrm>
          <a:prstGeom prst="rect">
            <a:avLst/>
          </a:prstGeom>
          <a:noFill/>
          <a:ln/>
        </p:spPr>
        <p:txBody>
          <a:bodyPr wrap="square" lIns="0" tIns="0" rIns="0" bIns="0" rtlCol="0" anchor="ctr"/>
          <a:lstStyle/>
          <a:p>
            <a:pPr marL="0" indent="0" algn="ctr">
              <a:buNone/>
            </a:pPr>
            <a:r>
              <a:rPr lang="en-US" sz="1300" b="1" dirty="0">
                <a:solidFill>
                  <a:srgbClr val="0F172A"/>
                </a:solidFill>
                <a:latin typeface="Cambria" pitchFamily="34" charset="0"/>
                <a:ea typeface="Cambria" pitchFamily="34" charset="-122"/>
                <a:cs typeface="Cambria" pitchFamily="34" charset="-120"/>
              </a:rPr>
              <a:t>Control: Same model · Same tasks · Only governance changes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8F5EF"/>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973E"/>
          </a:solidFill>
          <a:ln w="12700">
            <a:solidFill>
              <a:srgbClr val="C8973E"/>
            </a:solidFill>
            <a:prstDash val="solid"/>
          </a:ln>
        </p:spPr>
        <p:txBody>
          <a:bodyPr/>
          <a:lstStyle/>
          <a:p>
            <a:endParaRPr lang="en-SA"/>
          </a:p>
        </p:txBody>
      </p:sp>
      <p:sp>
        <p:nvSpPr>
          <p:cNvPr id="3" name="Text 1"/>
          <p:cNvSpPr/>
          <p:nvPr/>
        </p:nvSpPr>
        <p:spPr>
          <a:xfrm>
            <a:off x="457200" y="182880"/>
            <a:ext cx="8229600" cy="566928"/>
          </a:xfrm>
          <a:prstGeom prst="rect">
            <a:avLst/>
          </a:prstGeom>
          <a:noFill/>
          <a:ln/>
        </p:spPr>
        <p:txBody>
          <a:bodyPr wrap="square" lIns="0" tIns="0" rIns="0" bIns="0"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Evaluation Results</a:t>
            </a:r>
            <a:endParaRPr lang="en-US" sz="2600" dirty="0"/>
          </a:p>
        </p:txBody>
      </p:sp>
      <p:sp>
        <p:nvSpPr>
          <p:cNvPr id="4" name="Shape 2"/>
          <p:cNvSpPr/>
          <p:nvPr/>
        </p:nvSpPr>
        <p:spPr>
          <a:xfrm>
            <a:off x="457200" y="804672"/>
            <a:ext cx="8229600" cy="13716"/>
          </a:xfrm>
          <a:prstGeom prst="rect">
            <a:avLst/>
          </a:prstGeom>
          <a:solidFill>
            <a:srgbClr val="EAE5D8"/>
          </a:solidFill>
          <a:ln w="12700">
            <a:solidFill>
              <a:srgbClr val="EAE5D8"/>
            </a:solidFill>
            <a:prstDash val="solid"/>
          </a:ln>
        </p:spPr>
        <p:txBody>
          <a:bodyPr/>
          <a:lstStyle/>
          <a:p>
            <a:endParaRPr lang="en-SA"/>
          </a:p>
        </p:txBody>
      </p:sp>
      <p:graphicFrame>
        <p:nvGraphicFramePr>
          <p:cNvPr id="5" name="Chart 0"/>
          <p:cNvGraphicFramePr/>
          <p:nvPr>
            <p:extLst>
              <p:ext uri="{D42A27DB-BD31-4B8C-83A1-F6EECF244321}">
                <p14:modId xmlns:p14="http://schemas.microsoft.com/office/powerpoint/2010/main" val="1064301594"/>
              </p:ext>
            </p:extLst>
          </p:nvPr>
        </p:nvGraphicFramePr>
        <p:xfrm>
          <a:off x="457200" y="914400"/>
          <a:ext cx="822960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457200" y="4553712"/>
            <a:ext cx="8229600" cy="384048"/>
          </a:xfrm>
          <a:prstGeom prst="rect">
            <a:avLst/>
          </a:prstGeom>
          <a:solidFill>
            <a:srgbClr val="0F172A"/>
          </a:solidFill>
          <a:ln w="12700">
            <a:solidFill>
              <a:srgbClr val="0F172A"/>
            </a:solidFill>
            <a:prstDash val="solid"/>
          </a:ln>
          <a:effectLst>
            <a:outerShdw blurRad="101600" dist="38100" dir="8100000" algn="bl" rotWithShape="0">
              <a:srgbClr val="000000">
                <a:alpha val="13000"/>
              </a:srgbClr>
            </a:outerShdw>
          </a:effectLst>
        </p:spPr>
        <p:txBody>
          <a:bodyPr/>
          <a:lstStyle/>
          <a:p>
            <a:endParaRPr lang="en-SA"/>
          </a:p>
        </p:txBody>
      </p:sp>
      <p:sp>
        <p:nvSpPr>
          <p:cNvPr id="7" name="Text 4"/>
          <p:cNvSpPr/>
          <p:nvPr/>
        </p:nvSpPr>
        <p:spPr>
          <a:xfrm>
            <a:off x="457200" y="4590288"/>
            <a:ext cx="8229600" cy="310896"/>
          </a:xfrm>
          <a:prstGeom prst="rect">
            <a:avLst/>
          </a:prstGeom>
          <a:noFill/>
          <a:ln/>
        </p:spPr>
        <p:txBody>
          <a:bodyPr wrap="square" lIns="0" tIns="0" rIns="0" bIns="0" rtlCol="0" anchor="ctr"/>
          <a:lstStyle/>
          <a:p>
            <a:pPr algn="ctr"/>
            <a:r>
              <a:rPr lang="en-US" sz="1300" b="1" dirty="0">
                <a:solidFill>
                  <a:srgbClr val="C8973E"/>
                </a:solidFill>
                <a:latin typeface="Calibri" pitchFamily="34" charset="0"/>
                <a:ea typeface="Calibri" pitchFamily="34" charset="-122"/>
                <a:cs typeface="Calibri" pitchFamily="34" charset="-120"/>
              </a:rPr>
              <a:t>Mongol Empire vs US Federal: gap of 33.4 pts</a:t>
            </a:r>
            <a:r>
              <a:rPr lang="en-US" sz="1300" dirty="0">
                <a:solidFill>
                  <a:srgbClr val="94A3B8"/>
                </a:solidFill>
                <a:latin typeface="Calibri" pitchFamily="34" charset="0"/>
                <a:ea typeface="Calibri" pitchFamily="34" charset="-122"/>
                <a:cs typeface="Calibri" pitchFamily="34" charset="-120"/>
              </a:rPr>
              <a:t>  ·  </a:t>
            </a:r>
            <a:r>
              <a:rPr lang="en-US" sz="1300" b="1" dirty="0">
                <a:solidFill>
                  <a:srgbClr val="C8973E"/>
                </a:solidFill>
                <a:latin typeface="Calibri" pitchFamily="34" charset="0"/>
                <a:ea typeface="Calibri" pitchFamily="34" charset="-122"/>
                <a:cs typeface="Calibri" pitchFamily="34" charset="-120"/>
              </a:rPr>
              <a:t>Best System vs GA(</a:t>
            </a:r>
            <a:r>
              <a:rPr lang="en-US" sz="1300" b="1" dirty="0" err="1">
                <a:solidFill>
                  <a:srgbClr val="C8973E"/>
                </a:solidFill>
                <a:latin typeface="Calibri" pitchFamily="34" charset="0"/>
                <a:ea typeface="Calibri" pitchFamily="34" charset="-122"/>
                <a:cs typeface="Calibri" pitchFamily="34" charset="-120"/>
              </a:rPr>
              <a:t>Single Agent</a:t>
            </a:r>
            <a:r>
              <a:rPr lang="en-US" sz="1300" b="1" dirty="0">
                <a:solidFill>
                  <a:srgbClr val="C8973E"/>
                </a:solidFill>
                <a:latin typeface="Calibri" pitchFamily="34" charset="0"/>
                <a:ea typeface="Calibri" pitchFamily="34" charset="-122"/>
                <a:cs typeface="Calibri" pitchFamily="34" charset="-120"/>
              </a:rPr>
              <a:t>): gap of 42.6 pts</a:t>
            </a:r>
            <a:r>
              <a:rPr lang="en-US" sz="1300" dirty="0">
                <a:solidFill>
                  <a:srgbClr val="94A3B8"/>
                </a:solidFill>
                <a:latin typeface="Calibri" pitchFamily="34" charset="0"/>
                <a:ea typeface="Calibri" pitchFamily="34" charset="-122"/>
                <a:cs typeface="Calibri" pitchFamily="34" charset="-120"/>
              </a:rPr>
              <a:t>  ·  </a:t>
            </a:r>
            <a:r>
              <a:rPr lang="en-US" sz="1300" dirty="0" err="1">
                <a:solidFill>
                  <a:srgbClr val="94A3B8"/>
                </a:solidFill>
                <a:latin typeface="Calibri" pitchFamily="34" charset="0"/>
                <a:ea typeface="Calibri" pitchFamily="34" charset="-122"/>
                <a:cs typeface="Calibri" pitchFamily="34" charset="-120"/>
              </a:rPr>
              <a:t>Governance brings significant gains to MAS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C8973E"/>
          </a:solidFill>
          <a:ln w="12700">
            <a:solidFill>
              <a:srgbClr val="C8973E"/>
            </a:solidFill>
            <a:prstDash val="solid"/>
          </a:ln>
        </p:spPr>
        <p:txBody>
          <a:bodyPr/>
          <a:lstStyle/>
          <a:p>
            <a:endParaRPr lang="en-SA"/>
          </a:p>
        </p:txBody>
      </p:sp>
      <p:sp>
        <p:nvSpPr>
          <p:cNvPr id="3" name="Text 1"/>
          <p:cNvSpPr/>
          <p:nvPr/>
        </p:nvSpPr>
        <p:spPr>
          <a:xfrm>
            <a:off x="320040" y="182880"/>
            <a:ext cx="8412480" cy="566928"/>
          </a:xfrm>
          <a:prstGeom prst="rect">
            <a:avLst/>
          </a:prstGeom>
          <a:noFill/>
          <a:ln/>
        </p:spPr>
        <p:txBody>
          <a:bodyPr wrap="square" lIns="0" tIns="0" rIns="0" bIns="0" rtlCol="0" anchor="ctr"/>
          <a:lstStyle/>
          <a:p>
            <a:pPr marL="0" indent="0" algn="l">
              <a:buNone/>
            </a:pPr>
            <a:r>
              <a:rPr lang="en-US" sz="2600" b="1" dirty="0">
                <a:solidFill>
                  <a:srgbClr val="F1EDE5"/>
                </a:solidFill>
                <a:latin typeface="Cambria" pitchFamily="34" charset="0"/>
                <a:ea typeface="Cambria" pitchFamily="34" charset="-122"/>
                <a:cs typeface="Cambria" pitchFamily="34" charset="-120"/>
              </a:rPr>
              <a:t>Case Study: Mongol Empire vs US Federal</a:t>
            </a:r>
            <a:endParaRPr lang="en-US" sz="2600" dirty="0"/>
          </a:p>
        </p:txBody>
      </p:sp>
      <p:sp>
        <p:nvSpPr>
          <p:cNvPr id="4" name="Text 2"/>
          <p:cNvSpPr/>
          <p:nvPr/>
        </p:nvSpPr>
        <p:spPr>
          <a:xfrm>
            <a:off x="320040" y="713232"/>
            <a:ext cx="8503920" cy="274320"/>
          </a:xfrm>
          <a:prstGeom prst="rect">
            <a:avLst/>
          </a:prstGeom>
          <a:noFill/>
          <a:ln/>
        </p:spPr>
        <p:txBody>
          <a:bodyPr wrap="square" lIns="0" tIns="0" rIns="0" bIns="0" rtlCol="0" anchor="ctr"/>
          <a:lstStyle/>
          <a:p>
            <a:pPr marL="0" indent="0" algn="l">
              <a:buNone/>
            </a:pPr>
            <a:r>
              <a:rPr lang="en-US" sz="1200" dirty="0">
                <a:solidFill>
                  <a:srgbClr val="94A3B8"/>
                </a:solidFill>
                <a:latin typeface="Calibri" pitchFamily="34" charset="0"/>
                <a:ea typeface="Calibri" pitchFamily="34" charset="-122"/>
                <a:cs typeface="Calibri" pitchFamily="34" charset="-120"/>
              </a:rPr>
              <a:t>Same task  task_10_workflow (Multi-step API Workflow)  ·  Same model  ·  Only governance changed</a:t>
            </a:r>
            <a:endParaRPr lang="en-US" sz="1200" dirty="0"/>
          </a:p>
        </p:txBody>
      </p:sp>
      <p:sp>
        <p:nvSpPr>
          <p:cNvPr id="5" name="Shape 3"/>
          <p:cNvSpPr/>
          <p:nvPr/>
        </p:nvSpPr>
        <p:spPr>
          <a:xfrm>
            <a:off x="320040" y="1060704"/>
            <a:ext cx="4023360" cy="3520440"/>
          </a:xfrm>
          <a:prstGeom prst="rect">
            <a:avLst/>
          </a:prstGeom>
          <a:solidFill>
            <a:srgbClr val="1E293B"/>
          </a:solidFill>
          <a:ln w="25400">
            <a:solidFill>
              <a:srgbClr val="15803D"/>
            </a:solidFill>
            <a:prstDash val="solid"/>
          </a:ln>
          <a:effectLst>
            <a:outerShdw blurRad="101600" dist="38100" dir="8100000" algn="bl" rotWithShape="0">
              <a:srgbClr val="000000">
                <a:alpha val="13000"/>
              </a:srgbClr>
            </a:outerShdw>
          </a:effectLst>
        </p:spPr>
        <p:txBody>
          <a:bodyPr/>
          <a:lstStyle/>
          <a:p>
            <a:endParaRPr lang="en-SA"/>
          </a:p>
        </p:txBody>
      </p:sp>
      <p:sp>
        <p:nvSpPr>
          <p:cNvPr id="6" name="Text 4"/>
          <p:cNvSpPr/>
          <p:nvPr/>
        </p:nvSpPr>
        <p:spPr>
          <a:xfrm>
            <a:off x="457200" y="1133856"/>
            <a:ext cx="2743200" cy="384048"/>
          </a:xfrm>
          <a:prstGeom prst="rect">
            <a:avLst/>
          </a:prstGeom>
          <a:noFill/>
          <a:ln/>
        </p:spPr>
        <p:txBody>
          <a:bodyPr wrap="square" lIns="0" tIns="0" rIns="0" bIns="0" rtlCol="0" anchor="ctr"/>
          <a:lstStyle/>
          <a:p>
            <a:pPr marL="0" indent="0" algn="l">
              <a:buNone/>
            </a:pPr>
            <a:r>
              <a:rPr lang="en-US" sz="1500" b="1" dirty="0">
                <a:solidFill>
                  <a:srgbClr val="C8973E"/>
                </a:solidFill>
                <a:latin typeface="Cambria" pitchFamily="34" charset="0"/>
                <a:ea typeface="Cambria" pitchFamily="34" charset="-122"/>
                <a:cs typeface="Cambria" pitchFamily="34" charset="-120"/>
              </a:rPr>
              <a:t>▲ Mongol Empire</a:t>
            </a:r>
            <a:endParaRPr lang="en-US" sz="1500" dirty="0"/>
          </a:p>
        </p:txBody>
      </p:sp>
      <p:sp>
        <p:nvSpPr>
          <p:cNvPr id="7" name="Shape 5"/>
          <p:cNvSpPr/>
          <p:nvPr/>
        </p:nvSpPr>
        <p:spPr>
          <a:xfrm>
            <a:off x="3246120" y="1133856"/>
            <a:ext cx="914400" cy="384048"/>
          </a:xfrm>
          <a:prstGeom prst="rect">
            <a:avLst/>
          </a:prstGeom>
          <a:solidFill>
            <a:srgbClr val="15803D"/>
          </a:solidFill>
          <a:ln w="12700">
            <a:solidFill>
              <a:srgbClr val="15803D"/>
            </a:solidFill>
            <a:prstDash val="solid"/>
          </a:ln>
        </p:spPr>
        <p:txBody>
          <a:bodyPr/>
          <a:lstStyle/>
          <a:p>
            <a:endParaRPr lang="en-SA"/>
          </a:p>
        </p:txBody>
      </p:sp>
      <p:sp>
        <p:nvSpPr>
          <p:cNvPr id="8" name="Text 6"/>
          <p:cNvSpPr/>
          <p:nvPr/>
        </p:nvSpPr>
        <p:spPr>
          <a:xfrm>
            <a:off x="3246120" y="1133856"/>
            <a:ext cx="9144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98 / 100</a:t>
            </a:r>
            <a:endParaRPr lang="en-US" sz="1300" dirty="0"/>
          </a:p>
        </p:txBody>
      </p:sp>
      <p:sp>
        <p:nvSpPr>
          <p:cNvPr id="9" name="Shape 7"/>
          <p:cNvSpPr/>
          <p:nvPr/>
        </p:nvSpPr>
        <p:spPr>
          <a:xfrm>
            <a:off x="457200" y="1645920"/>
            <a:ext cx="3566160" cy="237744"/>
          </a:xfrm>
          <a:prstGeom prst="rect">
            <a:avLst/>
          </a:prstGeom>
          <a:solidFill>
            <a:srgbClr val="334155"/>
          </a:solidFill>
          <a:ln w="12700">
            <a:solidFill>
              <a:srgbClr val="334155"/>
            </a:solidFill>
            <a:prstDash val="solid"/>
          </a:ln>
        </p:spPr>
        <p:txBody>
          <a:bodyPr/>
          <a:lstStyle/>
          <a:p>
            <a:endParaRPr lang="en-SA"/>
          </a:p>
        </p:txBody>
      </p:sp>
      <p:sp>
        <p:nvSpPr>
          <p:cNvPr id="10" name="Text 8"/>
          <p:cNvSpPr/>
          <p:nvPr/>
        </p:nvSpPr>
        <p:spPr>
          <a:xfrm>
            <a:off x="530352" y="1664208"/>
            <a:ext cx="3419856" cy="201168"/>
          </a:xfrm>
          <a:prstGeom prst="rect">
            <a:avLst/>
          </a:prstGeom>
          <a:noFill/>
          <a:ln/>
        </p:spPr>
        <p:txBody>
          <a:bodyPr wrap="square" lIns="0" tIns="0" rIns="0" bIns="0" rtlCol="0" anchor="ctr"/>
          <a:lstStyle/>
          <a:p>
            <a:pPr marL="0" indent="0" algn="l">
              <a:buNone/>
            </a:pPr>
            <a:r>
              <a:rPr lang="en-US" sz="1000" dirty="0">
                <a:solidFill>
                  <a:srgbClr val="F1EDE5"/>
                </a:solidFill>
                <a:latin typeface="Courier New" pitchFamily="34" charset="0"/>
                <a:ea typeface="Courier New" pitchFamily="34" charset="-122"/>
                <a:cs typeface="Courier New" pitchFamily="34" charset="-120"/>
              </a:rPr>
              <a:t>① khagan_order (Khan's Order)</a:t>
            </a:r>
            <a:endParaRPr lang="en-US" sz="1000" dirty="0"/>
          </a:p>
        </p:txBody>
      </p:sp>
      <p:sp>
        <p:nvSpPr>
          <p:cNvPr id="11" name="Shape 9"/>
          <p:cNvSpPr/>
          <p:nvPr/>
        </p:nvSpPr>
        <p:spPr>
          <a:xfrm>
            <a:off x="457200" y="1920240"/>
            <a:ext cx="3566160" cy="237744"/>
          </a:xfrm>
          <a:prstGeom prst="rect">
            <a:avLst/>
          </a:prstGeom>
          <a:solidFill>
            <a:srgbClr val="334155"/>
          </a:solidFill>
          <a:ln w="12700">
            <a:solidFill>
              <a:srgbClr val="334155"/>
            </a:solidFill>
            <a:prstDash val="solid"/>
          </a:ln>
        </p:spPr>
        <p:txBody>
          <a:bodyPr/>
          <a:lstStyle/>
          <a:p>
            <a:endParaRPr lang="en-SA"/>
          </a:p>
        </p:txBody>
      </p:sp>
      <p:sp>
        <p:nvSpPr>
          <p:cNvPr id="12" name="Text 10"/>
          <p:cNvSpPr/>
          <p:nvPr/>
        </p:nvSpPr>
        <p:spPr>
          <a:xfrm>
            <a:off x="530352" y="1938528"/>
            <a:ext cx="3419856" cy="201168"/>
          </a:xfrm>
          <a:prstGeom prst="rect">
            <a:avLst/>
          </a:prstGeom>
          <a:noFill/>
          <a:ln/>
        </p:spPr>
        <p:txBody>
          <a:bodyPr wrap="square" lIns="0" tIns="0" rIns="0" bIns="0" rtlCol="0" anchor="ctr"/>
          <a:lstStyle/>
          <a:p>
            <a:pPr marL="0" indent="0" algn="l">
              <a:buNone/>
            </a:pPr>
            <a:r>
              <a:rPr lang="en-US" sz="1000" dirty="0">
                <a:solidFill>
                  <a:srgbClr val="F1EDE5"/>
                </a:solidFill>
                <a:latin typeface="Courier New" pitchFamily="34" charset="0"/>
                <a:ea typeface="Courier New" pitchFamily="34" charset="-122"/>
                <a:cs typeface="Courier New" pitchFamily="34" charset="-120"/>
              </a:rPr>
              <a:t>② imperial_plan (Imperial Planning)</a:t>
            </a:r>
            <a:endParaRPr lang="en-US" sz="1000" dirty="0"/>
          </a:p>
        </p:txBody>
      </p:sp>
      <p:sp>
        <p:nvSpPr>
          <p:cNvPr id="13" name="Shape 11"/>
          <p:cNvSpPr/>
          <p:nvPr/>
        </p:nvSpPr>
        <p:spPr>
          <a:xfrm>
            <a:off x="457200" y="2194560"/>
            <a:ext cx="3566160" cy="237744"/>
          </a:xfrm>
          <a:prstGeom prst="rect">
            <a:avLst/>
          </a:prstGeom>
          <a:solidFill>
            <a:srgbClr val="334155"/>
          </a:solidFill>
          <a:ln w="12700">
            <a:solidFill>
              <a:srgbClr val="334155"/>
            </a:solidFill>
            <a:prstDash val="solid"/>
          </a:ln>
        </p:spPr>
        <p:txBody>
          <a:bodyPr/>
          <a:lstStyle/>
          <a:p>
            <a:endParaRPr lang="en-SA"/>
          </a:p>
        </p:txBody>
      </p:sp>
      <p:sp>
        <p:nvSpPr>
          <p:cNvPr id="14" name="Text 12"/>
          <p:cNvSpPr/>
          <p:nvPr/>
        </p:nvSpPr>
        <p:spPr>
          <a:xfrm>
            <a:off x="530352" y="2212848"/>
            <a:ext cx="3419856" cy="201168"/>
          </a:xfrm>
          <a:prstGeom prst="rect">
            <a:avLst/>
          </a:prstGeom>
          <a:noFill/>
          <a:ln/>
        </p:spPr>
        <p:txBody>
          <a:bodyPr wrap="square" lIns="0" tIns="0" rIns="0" bIns="0" rtlCol="0" anchor="ctr"/>
          <a:lstStyle/>
          <a:p>
            <a:pPr marL="0" indent="0" algn="l">
              <a:buNone/>
            </a:pPr>
            <a:r>
              <a:rPr lang="en-US" sz="1000" dirty="0">
                <a:solidFill>
                  <a:srgbClr val="F1EDE5"/>
                </a:solidFill>
                <a:latin typeface="Courier New" pitchFamily="34" charset="0"/>
                <a:ea typeface="Courier New" pitchFamily="34" charset="-122"/>
                <a:cs typeface="Courier New" pitchFamily="34" charset="-120"/>
              </a:rPr>
              <a:t>③ tumen_level_execute (Tumen Execute)</a:t>
            </a:r>
            <a:endParaRPr lang="en-US" sz="1000" dirty="0"/>
          </a:p>
        </p:txBody>
      </p:sp>
      <p:sp>
        <p:nvSpPr>
          <p:cNvPr id="15" name="Shape 13"/>
          <p:cNvSpPr/>
          <p:nvPr/>
        </p:nvSpPr>
        <p:spPr>
          <a:xfrm>
            <a:off x="457200" y="2468880"/>
            <a:ext cx="3566160" cy="237744"/>
          </a:xfrm>
          <a:prstGeom prst="rect">
            <a:avLst/>
          </a:prstGeom>
          <a:solidFill>
            <a:srgbClr val="334155"/>
          </a:solidFill>
          <a:ln w="12700">
            <a:solidFill>
              <a:srgbClr val="334155"/>
            </a:solidFill>
            <a:prstDash val="solid"/>
          </a:ln>
        </p:spPr>
        <p:txBody>
          <a:bodyPr/>
          <a:lstStyle/>
          <a:p>
            <a:endParaRPr lang="en-SA"/>
          </a:p>
        </p:txBody>
      </p:sp>
      <p:sp>
        <p:nvSpPr>
          <p:cNvPr id="16" name="Text 14"/>
          <p:cNvSpPr/>
          <p:nvPr/>
        </p:nvSpPr>
        <p:spPr>
          <a:xfrm>
            <a:off x="530352" y="2487168"/>
            <a:ext cx="3419856" cy="201168"/>
          </a:xfrm>
          <a:prstGeom prst="rect">
            <a:avLst/>
          </a:prstGeom>
          <a:noFill/>
          <a:ln/>
        </p:spPr>
        <p:txBody>
          <a:bodyPr wrap="square" lIns="0" tIns="0" rIns="0" bIns="0" rtlCol="0" anchor="ctr"/>
          <a:lstStyle/>
          <a:p>
            <a:pPr marL="0" indent="0" algn="l">
              <a:buNone/>
            </a:pPr>
            <a:r>
              <a:rPr lang="en-US" sz="1000" dirty="0">
                <a:solidFill>
                  <a:srgbClr val="F1EDE5"/>
                </a:solidFill>
                <a:latin typeface="Courier New" pitchFamily="34" charset="0"/>
                <a:ea typeface="Courier New" pitchFamily="34" charset="-122"/>
                <a:cs typeface="Courier New" pitchFamily="34" charset="-120"/>
              </a:rPr>
              <a:t>④ mingghan_level_execute (Mingghan Execute)</a:t>
            </a:r>
            <a:endParaRPr lang="en-US" sz="1000" dirty="0"/>
          </a:p>
        </p:txBody>
      </p:sp>
      <p:sp>
        <p:nvSpPr>
          <p:cNvPr id="17" name="Shape 15"/>
          <p:cNvSpPr/>
          <p:nvPr/>
        </p:nvSpPr>
        <p:spPr>
          <a:xfrm>
            <a:off x="457200" y="2743200"/>
            <a:ext cx="3566160" cy="237744"/>
          </a:xfrm>
          <a:prstGeom prst="rect">
            <a:avLst/>
          </a:prstGeom>
          <a:solidFill>
            <a:srgbClr val="334155"/>
          </a:solidFill>
          <a:ln w="12700">
            <a:solidFill>
              <a:srgbClr val="334155"/>
            </a:solidFill>
            <a:prstDash val="solid"/>
          </a:ln>
        </p:spPr>
        <p:txBody>
          <a:bodyPr/>
          <a:lstStyle/>
          <a:p>
            <a:endParaRPr lang="en-SA"/>
          </a:p>
        </p:txBody>
      </p:sp>
      <p:sp>
        <p:nvSpPr>
          <p:cNvPr id="18" name="Text 16"/>
          <p:cNvSpPr/>
          <p:nvPr/>
        </p:nvSpPr>
        <p:spPr>
          <a:xfrm>
            <a:off x="530352" y="2761488"/>
            <a:ext cx="3419856" cy="201168"/>
          </a:xfrm>
          <a:prstGeom prst="rect">
            <a:avLst/>
          </a:prstGeom>
          <a:noFill/>
          <a:ln/>
        </p:spPr>
        <p:txBody>
          <a:bodyPr wrap="square" lIns="0" tIns="0" rIns="0" bIns="0" rtlCol="0" anchor="ctr"/>
          <a:lstStyle/>
          <a:p>
            <a:pPr marL="0" indent="0" algn="l">
              <a:buNone/>
            </a:pPr>
            <a:r>
              <a:rPr lang="en-US" sz="1000" dirty="0">
                <a:solidFill>
                  <a:srgbClr val="F1EDE5"/>
                </a:solidFill>
                <a:latin typeface="Courier New" pitchFamily="34" charset="0"/>
                <a:ea typeface="Courier New" pitchFamily="34" charset="-122"/>
                <a:cs typeface="Courier New" pitchFamily="34" charset="-120"/>
              </a:rPr>
              <a:t>⑤ jaghun_level_execute (Jaghun Execute)</a:t>
            </a:r>
            <a:endParaRPr lang="en-US" sz="1000" dirty="0"/>
          </a:p>
        </p:txBody>
      </p:sp>
      <p:sp>
        <p:nvSpPr>
          <p:cNvPr id="19" name="Shape 17"/>
          <p:cNvSpPr/>
          <p:nvPr/>
        </p:nvSpPr>
        <p:spPr>
          <a:xfrm>
            <a:off x="457200" y="3017520"/>
            <a:ext cx="3566160" cy="237744"/>
          </a:xfrm>
          <a:prstGeom prst="rect">
            <a:avLst/>
          </a:prstGeom>
          <a:solidFill>
            <a:srgbClr val="334155"/>
          </a:solidFill>
          <a:ln w="12700">
            <a:solidFill>
              <a:srgbClr val="334155"/>
            </a:solidFill>
            <a:prstDash val="solid"/>
          </a:ln>
        </p:spPr>
        <p:txBody>
          <a:bodyPr/>
          <a:lstStyle/>
          <a:p>
            <a:endParaRPr lang="en-SA"/>
          </a:p>
        </p:txBody>
      </p:sp>
      <p:sp>
        <p:nvSpPr>
          <p:cNvPr id="20" name="Text 18"/>
          <p:cNvSpPr/>
          <p:nvPr/>
        </p:nvSpPr>
        <p:spPr>
          <a:xfrm>
            <a:off x="530352" y="3035808"/>
            <a:ext cx="3419856" cy="201168"/>
          </a:xfrm>
          <a:prstGeom prst="rect">
            <a:avLst/>
          </a:prstGeom>
          <a:noFill/>
          <a:ln/>
        </p:spPr>
        <p:txBody>
          <a:bodyPr wrap="square" lIns="0" tIns="0" rIns="0" bIns="0" rtlCol="0" anchor="ctr"/>
          <a:lstStyle/>
          <a:p>
            <a:pPr marL="0" indent="0" algn="l">
              <a:buNone/>
            </a:pPr>
            <a:r>
              <a:rPr lang="en-US" sz="1000" dirty="0">
                <a:solidFill>
                  <a:srgbClr val="F1EDE5"/>
                </a:solidFill>
                <a:latin typeface="Courier New" pitchFamily="34" charset="0"/>
                <a:ea typeface="Courier New" pitchFamily="34" charset="-122"/>
                <a:cs typeface="Courier New" pitchFamily="34" charset="-120"/>
              </a:rPr>
              <a:t>⑥ arban_level_execute (Arban Mobilize)</a:t>
            </a:r>
            <a:endParaRPr lang="en-US" sz="1000" dirty="0"/>
          </a:p>
        </p:txBody>
      </p:sp>
      <p:sp>
        <p:nvSpPr>
          <p:cNvPr id="21" name="Shape 19"/>
          <p:cNvSpPr/>
          <p:nvPr/>
        </p:nvSpPr>
        <p:spPr>
          <a:xfrm>
            <a:off x="457200" y="3291840"/>
            <a:ext cx="3566160" cy="237744"/>
          </a:xfrm>
          <a:prstGeom prst="rect">
            <a:avLst/>
          </a:prstGeom>
          <a:solidFill>
            <a:srgbClr val="15803D"/>
          </a:solidFill>
          <a:ln w="12700">
            <a:solidFill>
              <a:srgbClr val="15803D"/>
            </a:solidFill>
            <a:prstDash val="solid"/>
          </a:ln>
        </p:spPr>
        <p:txBody>
          <a:bodyPr/>
          <a:lstStyle/>
          <a:p>
            <a:endParaRPr lang="en-SA"/>
          </a:p>
        </p:txBody>
      </p:sp>
      <p:sp>
        <p:nvSpPr>
          <p:cNvPr id="22" name="Text 20"/>
          <p:cNvSpPr/>
          <p:nvPr/>
        </p:nvSpPr>
        <p:spPr>
          <a:xfrm>
            <a:off x="530352" y="3310128"/>
            <a:ext cx="3419856" cy="201168"/>
          </a:xfrm>
          <a:prstGeom prst="rect">
            <a:avLst/>
          </a:prstGeom>
          <a:noFill/>
          <a:ln/>
        </p:spPr>
        <p:txBody>
          <a:bodyPr wrap="square" lIns="0" tIns="0" rIns="0" bIns="0" rtlCol="0" anchor="ctr"/>
          <a:lstStyle/>
          <a:p>
            <a:pPr marL="0" indent="0" algn="l">
              <a:buNone/>
            </a:pPr>
            <a:r>
              <a:rPr lang="en-US" sz="1000" b="1" dirty="0">
                <a:solidFill>
                  <a:srgbClr val="FFFFFF"/>
                </a:solidFill>
                <a:latin typeface="Cambria" pitchFamily="34" charset="0"/>
                <a:ea typeface="Cambria" pitchFamily="34" charset="-122"/>
                <a:cs typeface="Cambria" pitchFamily="34" charset="-120"/>
              </a:rPr>
              <a:t>→  completed  ✓</a:t>
            </a:r>
            <a:endParaRPr lang="en-US" sz="1000" dirty="0"/>
          </a:p>
        </p:txBody>
      </p:sp>
      <p:sp>
        <p:nvSpPr>
          <p:cNvPr id="23" name="Text 21"/>
          <p:cNvSpPr/>
          <p:nvPr/>
        </p:nvSpPr>
        <p:spPr>
          <a:xfrm>
            <a:off x="457200" y="4251960"/>
            <a:ext cx="3657600" cy="256032"/>
          </a:xfrm>
          <a:prstGeom prst="rect">
            <a:avLst/>
          </a:prstGeom>
          <a:noFill/>
          <a:ln/>
        </p:spPr>
        <p:txBody>
          <a:bodyPr wrap="square" lIns="0" tIns="0" rIns="0" bIns="0" rtlCol="0" anchor="ctr"/>
          <a:lstStyle/>
          <a:p>
            <a:pPr marL="0" indent="0" algn="l">
              <a:buNone/>
            </a:pPr>
            <a:r>
              <a:rPr lang="en-US" sz="1050" i="1" dirty="0">
                <a:solidFill>
                  <a:srgbClr val="94A3B8"/>
                </a:solidFill>
                <a:latin typeface="Calibri" pitchFamily="34" charset="0"/>
                <a:ea typeface="Calibri" pitchFamily="34" charset="-122"/>
                <a:cs typeface="Calibri" pitchFamily="34" charset="-120"/>
              </a:rPr>
              <a:t>Command chain propagation, no interception, every step decision: next</a:t>
            </a:r>
            <a:endParaRPr lang="en-US" sz="1050" dirty="0"/>
          </a:p>
        </p:txBody>
      </p:sp>
      <p:sp>
        <p:nvSpPr>
          <p:cNvPr id="24" name="Shape 22"/>
          <p:cNvSpPr/>
          <p:nvPr/>
        </p:nvSpPr>
        <p:spPr>
          <a:xfrm>
            <a:off x="4800600" y="1060704"/>
            <a:ext cx="4023360" cy="3520440"/>
          </a:xfrm>
          <a:prstGeom prst="rect">
            <a:avLst/>
          </a:prstGeom>
          <a:solidFill>
            <a:srgbClr val="1E293B"/>
          </a:solidFill>
          <a:ln w="25400">
            <a:solidFill>
              <a:srgbClr val="DC2626"/>
            </a:solidFill>
            <a:prstDash val="solid"/>
          </a:ln>
          <a:effectLst>
            <a:outerShdw blurRad="101600" dist="38100" dir="8100000" algn="bl" rotWithShape="0">
              <a:srgbClr val="000000">
                <a:alpha val="13000"/>
              </a:srgbClr>
            </a:outerShdw>
          </a:effectLst>
        </p:spPr>
        <p:txBody>
          <a:bodyPr/>
          <a:lstStyle/>
          <a:p>
            <a:endParaRPr lang="en-SA"/>
          </a:p>
        </p:txBody>
      </p:sp>
      <p:sp>
        <p:nvSpPr>
          <p:cNvPr id="25" name="Text 23"/>
          <p:cNvSpPr/>
          <p:nvPr/>
        </p:nvSpPr>
        <p:spPr>
          <a:xfrm>
            <a:off x="4937760" y="1133856"/>
            <a:ext cx="2743200" cy="384048"/>
          </a:xfrm>
          <a:prstGeom prst="rect">
            <a:avLst/>
          </a:prstGeom>
          <a:noFill/>
          <a:ln/>
        </p:spPr>
        <p:txBody>
          <a:bodyPr wrap="square" lIns="0" tIns="0" rIns="0" bIns="0" rtlCol="0" anchor="ctr"/>
          <a:lstStyle/>
          <a:p>
            <a:pPr marL="0" indent="0" algn="l">
              <a:buNone/>
            </a:pPr>
            <a:r>
              <a:rPr lang="en-US" sz="1500" b="1" dirty="0">
                <a:solidFill>
                  <a:srgbClr val="DC2626"/>
                </a:solidFill>
                <a:latin typeface="Cambria" pitchFamily="34" charset="0"/>
                <a:ea typeface="Cambria" pitchFamily="34" charset="-122"/>
                <a:cs typeface="Cambria" pitchFamily="34" charset="-120"/>
              </a:rPr>
              <a:t>✕ US Federal</a:t>
            </a:r>
            <a:endParaRPr lang="en-US" sz="1500" dirty="0"/>
          </a:p>
        </p:txBody>
      </p:sp>
      <p:sp>
        <p:nvSpPr>
          <p:cNvPr id="26" name="Shape 24"/>
          <p:cNvSpPr/>
          <p:nvPr/>
        </p:nvSpPr>
        <p:spPr>
          <a:xfrm>
            <a:off x="7726680" y="1133856"/>
            <a:ext cx="914400" cy="384048"/>
          </a:xfrm>
          <a:prstGeom prst="rect">
            <a:avLst/>
          </a:prstGeom>
          <a:solidFill>
            <a:srgbClr val="DC2626"/>
          </a:solidFill>
          <a:ln w="12700">
            <a:solidFill>
              <a:srgbClr val="DC2626"/>
            </a:solidFill>
            <a:prstDash val="solid"/>
          </a:ln>
        </p:spPr>
        <p:txBody>
          <a:bodyPr/>
          <a:lstStyle/>
          <a:p>
            <a:endParaRPr lang="en-SA"/>
          </a:p>
        </p:txBody>
      </p:sp>
      <p:sp>
        <p:nvSpPr>
          <p:cNvPr id="27" name="Text 25"/>
          <p:cNvSpPr/>
          <p:nvPr/>
        </p:nvSpPr>
        <p:spPr>
          <a:xfrm>
            <a:off x="7726680" y="1133856"/>
            <a:ext cx="9144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mbria" pitchFamily="34" charset="0"/>
                <a:ea typeface="Cambria" pitchFamily="34" charset="-122"/>
                <a:cs typeface="Cambria" pitchFamily="34" charset="-120"/>
              </a:rPr>
              <a:t>0 / 100</a:t>
            </a:r>
            <a:endParaRPr lang="en-US" sz="1300" dirty="0"/>
          </a:p>
        </p:txBody>
      </p:sp>
      <p:sp>
        <p:nvSpPr>
          <p:cNvPr id="28" name="Shape 26"/>
          <p:cNvSpPr/>
          <p:nvPr/>
        </p:nvSpPr>
        <p:spPr>
          <a:xfrm>
            <a:off x="4937760" y="1645920"/>
            <a:ext cx="3657600" cy="237744"/>
          </a:xfrm>
          <a:prstGeom prst="rect">
            <a:avLst/>
          </a:prstGeom>
          <a:solidFill>
            <a:srgbClr val="334155"/>
          </a:solidFill>
          <a:ln w="12700">
            <a:solidFill>
              <a:srgbClr val="334155"/>
            </a:solidFill>
            <a:prstDash val="solid"/>
          </a:ln>
        </p:spPr>
        <p:txBody>
          <a:bodyPr/>
          <a:lstStyle/>
          <a:p>
            <a:endParaRPr lang="en-SA"/>
          </a:p>
        </p:txBody>
      </p:sp>
      <p:sp>
        <p:nvSpPr>
          <p:cNvPr id="29" name="Text 27"/>
          <p:cNvSpPr/>
          <p:nvPr/>
        </p:nvSpPr>
        <p:spPr>
          <a:xfrm>
            <a:off x="5010912" y="1664208"/>
            <a:ext cx="3511296" cy="201168"/>
          </a:xfrm>
          <a:prstGeom prst="rect">
            <a:avLst/>
          </a:prstGeom>
          <a:noFill/>
          <a:ln/>
        </p:spPr>
        <p:txBody>
          <a:bodyPr wrap="square" lIns="0" tIns="0" rIns="0" bIns="0" rtlCol="0" anchor="ctr"/>
          <a:lstStyle/>
          <a:p>
            <a:pPr marL="0" indent="0" algn="l">
              <a:buNone/>
            </a:pPr>
            <a:r>
              <a:rPr lang="en-US" sz="1000" dirty="0">
                <a:solidFill>
                  <a:srgbClr val="F1EDE5"/>
                </a:solidFill>
                <a:latin typeface="Courier New" pitchFamily="34" charset="0"/>
                <a:ea typeface="Courier New" pitchFamily="34" charset="-122"/>
                <a:cs typeface="Courier New" pitchFamily="34" charset="-120"/>
              </a:rPr>
              <a:t>① legislator_initiative (Legislator Proposal)</a:t>
            </a:r>
            <a:endParaRPr lang="en-US" sz="1000" dirty="0"/>
          </a:p>
        </p:txBody>
      </p:sp>
      <p:sp>
        <p:nvSpPr>
          <p:cNvPr id="30" name="Shape 28"/>
          <p:cNvSpPr/>
          <p:nvPr/>
        </p:nvSpPr>
        <p:spPr>
          <a:xfrm>
            <a:off x="4937760" y="1920240"/>
            <a:ext cx="3657600" cy="237744"/>
          </a:xfrm>
          <a:prstGeom prst="rect">
            <a:avLst/>
          </a:prstGeom>
          <a:solidFill>
            <a:srgbClr val="334155"/>
          </a:solidFill>
          <a:ln w="12700">
            <a:solidFill>
              <a:srgbClr val="334155"/>
            </a:solidFill>
            <a:prstDash val="solid"/>
          </a:ln>
        </p:spPr>
        <p:txBody>
          <a:bodyPr/>
          <a:lstStyle/>
          <a:p>
            <a:endParaRPr lang="en-SA"/>
          </a:p>
        </p:txBody>
      </p:sp>
      <p:sp>
        <p:nvSpPr>
          <p:cNvPr id="31" name="Text 29"/>
          <p:cNvSpPr/>
          <p:nvPr/>
        </p:nvSpPr>
        <p:spPr>
          <a:xfrm>
            <a:off x="5010912" y="1938528"/>
            <a:ext cx="3511296" cy="201168"/>
          </a:xfrm>
          <a:prstGeom prst="rect">
            <a:avLst/>
          </a:prstGeom>
          <a:noFill/>
          <a:ln/>
        </p:spPr>
        <p:txBody>
          <a:bodyPr wrap="square" lIns="0" tIns="0" rIns="0" bIns="0" rtlCol="0" anchor="ctr"/>
          <a:lstStyle/>
          <a:p>
            <a:pPr marL="0" indent="0" algn="l">
              <a:buNone/>
            </a:pPr>
            <a:r>
              <a:rPr lang="en-US" sz="1000" dirty="0">
                <a:solidFill>
                  <a:srgbClr val="F1EDE5"/>
                </a:solidFill>
                <a:latin typeface="Courier New" pitchFamily="34" charset="0"/>
                <a:ea typeface="Courier New" pitchFamily="34" charset="-122"/>
                <a:cs typeface="Courier New" pitchFamily="34" charset="-120"/>
              </a:rPr>
              <a:t>② committee_modify (Committee Review)</a:t>
            </a:r>
            <a:endParaRPr lang="en-US" sz="1000" dirty="0"/>
          </a:p>
        </p:txBody>
      </p:sp>
      <p:sp>
        <p:nvSpPr>
          <p:cNvPr id="32" name="Shape 30"/>
          <p:cNvSpPr/>
          <p:nvPr/>
        </p:nvSpPr>
        <p:spPr>
          <a:xfrm>
            <a:off x="4937760" y="2231136"/>
            <a:ext cx="3657600" cy="786384"/>
          </a:xfrm>
          <a:prstGeom prst="rect">
            <a:avLst/>
          </a:prstGeom>
          <a:solidFill>
            <a:srgbClr val="DC2626"/>
          </a:solidFill>
          <a:ln w="12700">
            <a:solidFill>
              <a:srgbClr val="DC2626"/>
            </a:solidFill>
            <a:prstDash val="solid"/>
          </a:ln>
          <a:effectLst>
            <a:outerShdw blurRad="101600" dist="38100" dir="8100000" algn="bl" rotWithShape="0">
              <a:srgbClr val="000000">
                <a:alpha val="13000"/>
              </a:srgbClr>
            </a:outerShdw>
          </a:effectLst>
        </p:spPr>
        <p:txBody>
          <a:bodyPr/>
          <a:lstStyle/>
          <a:p>
            <a:endParaRPr lang="en-SA"/>
          </a:p>
        </p:txBody>
      </p:sp>
      <p:sp>
        <p:nvSpPr>
          <p:cNvPr id="33" name="Text 31"/>
          <p:cNvSpPr/>
          <p:nvPr/>
        </p:nvSpPr>
        <p:spPr>
          <a:xfrm>
            <a:off x="5010912" y="2286000"/>
            <a:ext cx="3511296" cy="676656"/>
          </a:xfrm>
          <a:prstGeom prst="rect">
            <a:avLst/>
          </a:prstGeom>
          <a:noFill/>
          <a:ln/>
        </p:spPr>
        <p:txBody>
          <a:bodyPr wrap="square" lIns="0" tIns="0" rIns="0" bIns="0" rtlCol="0" anchor="ctr"/>
          <a:lstStyle/>
          <a:p>
            <a:pPr marL="0" indent="0" algn="l">
              <a:buNone/>
            </a:pPr>
            <a:r>
              <a:rPr lang="en-US" sz="1100" b="1" dirty="0">
                <a:solidFill>
                  <a:srgbClr val="FFFFFF"/>
                </a:solidFill>
                <a:latin typeface="Courier New" pitchFamily="34" charset="0"/>
                <a:ea typeface="Courier New" pitchFamily="34" charset="-122"/>
                <a:cs typeface="Courier New" pitchFamily="34" charset="-120"/>
              </a:rPr>
              <a:t>✕  committee_modify</a:t>
            </a:r>
            <a:endParaRPr lang="en-US" sz="1100" dirty="0"/>
          </a:p>
          <a:p>
            <a:pPr marL="0" indent="0" algn="l">
              <a:buNone/>
            </a:pPr>
            <a:r>
              <a:rPr lang="en-US" sz="1100" b="1" dirty="0">
                <a:solidFill>
                  <a:srgbClr val="FFFFFF"/>
                </a:solidFill>
                <a:latin typeface="Courier New" pitchFamily="34" charset="0"/>
                <a:ea typeface="Courier New" pitchFamily="34" charset="-122"/>
                <a:cs typeface="Courier New" pitchFamily="34" charset="-120"/>
              </a:rPr>
              <a:t>   decision: REJECT</a:t>
            </a:r>
            <a:endParaRPr lang="en-US" sz="1100" dirty="0"/>
          </a:p>
        </p:txBody>
      </p:sp>
      <p:sp>
        <p:nvSpPr>
          <p:cNvPr id="34" name="Shape 32"/>
          <p:cNvSpPr/>
          <p:nvPr/>
        </p:nvSpPr>
        <p:spPr>
          <a:xfrm>
            <a:off x="4937760" y="3090672"/>
            <a:ext cx="3657600" cy="1371600"/>
          </a:xfrm>
          <a:prstGeom prst="rect">
            <a:avLst/>
          </a:prstGeom>
          <a:solidFill>
            <a:srgbClr val="0F172A"/>
          </a:solidFill>
          <a:ln w="6350">
            <a:solidFill>
              <a:srgbClr val="DC2626"/>
            </a:solidFill>
            <a:prstDash val="solid"/>
          </a:ln>
        </p:spPr>
        <p:txBody>
          <a:bodyPr/>
          <a:lstStyle/>
          <a:p>
            <a:endParaRPr lang="en-SA"/>
          </a:p>
        </p:txBody>
      </p:sp>
      <p:sp>
        <p:nvSpPr>
          <p:cNvPr id="35" name="Text 33"/>
          <p:cNvSpPr/>
          <p:nvPr/>
        </p:nvSpPr>
        <p:spPr>
          <a:xfrm>
            <a:off x="5029200" y="3145536"/>
            <a:ext cx="3474720" cy="1261872"/>
          </a:xfrm>
          <a:prstGeom prst="rect">
            <a:avLst/>
          </a:prstGeom>
          <a:noFill/>
          <a:ln/>
        </p:spPr>
        <p:txBody>
          <a:bodyPr wrap="square" lIns="0" tIns="0" rIns="0" bIns="0" rtlCol="0" anchor="t"/>
          <a:lstStyle/>
          <a:p>
            <a:pPr marL="0" indent="0" algn="l">
              <a:buNone/>
            </a:pPr>
            <a:r>
              <a:rPr lang="en-US" sz="1100" b="1" dirty="0">
                <a:solidFill>
                  <a:srgbClr val="C8973E"/>
                </a:solidFill>
                <a:latin typeface="Calibri" pitchFamily="34" charset="0"/>
                <a:ea typeface="Calibri" pitchFamily="34" charset="-122"/>
                <a:cs typeface="Calibri" pitchFamily="34" charset="-120"/>
              </a:rPr>
              <a:t>Failure Reason
</a:t>
            </a:r>
            <a:endParaRPr lang="en-US" sz="1100" dirty="0"/>
          </a:p>
          <a:p>
            <a:pPr marL="0" indent="0" algn="l">
              <a:buNone/>
            </a:pPr>
            <a:r>
              <a:rPr lang="en-US" sz="1100" dirty="0" err="1">
                <a:solidFill>
                  <a:srgbClr val="F1EDE5"/>
                </a:solidFill>
                <a:latin typeface="Calibri" pitchFamily="34" charset="0"/>
                <a:ea typeface="Calibri" pitchFamily="34" charset="-122"/>
                <a:cs typeface="Calibri" pitchFamily="34" charset="-120"/>
              </a:rPr>
              <a:t>API output had incorrect format</a:t>
            </a:r>
            <a:r>
              <a:rPr lang="zh-CN" altLang="en-US" sz="1100" dirty="0">
                <a:solidFill>
                  <a:srgbClr val="F1EDE5"/>
                </a:solidFill>
                <a:latin typeface="Calibri" pitchFamily="34" charset="0"/>
                <a:ea typeface="Calibri" pitchFamily="34" charset="-122"/>
                <a:cs typeface="Calibri" pitchFamily="34" charset="-120"/>
              </a:rPr>
              <a:t>, blocked by </a:t>
            </a:r>
            <a:r>
              <a:rPr lang="en-US" altLang="zh-CN" sz="1100" dirty="0">
                <a:solidFill>
                  <a:srgbClr val="F1EDE5"/>
                </a:solidFill>
                <a:latin typeface="Calibri" pitchFamily="34" charset="0"/>
                <a:ea typeface="Calibri" pitchFamily="34" charset="-122"/>
                <a:cs typeface="Calibri" pitchFamily="34" charset="-120"/>
              </a:rPr>
              <a:t>committee</a:t>
            </a:r>
            <a:r>
              <a:rPr lang="zh-CN" altLang="en-US" sz="1100" dirty="0">
                <a:solidFill>
                  <a:srgbClr val="F1EDE5"/>
                </a:solidFill>
                <a:latin typeface="Calibri" pitchFamily="34" charset="0"/>
                <a:ea typeface="Calibri" pitchFamily="34" charset="-122"/>
                <a:cs typeface="Calibri" pitchFamily="34" charset="-120"/>
              </a:rPr>
              <a:t> </a:t>
            </a:r>
            <a:r>
              <a:rPr lang="en-US" altLang="zh-CN" sz="1100" dirty="0">
                <a:solidFill>
                  <a:srgbClr val="F1EDE5"/>
                </a:solidFill>
                <a:latin typeface="Calibri" pitchFamily="34" charset="0"/>
                <a:ea typeface="Calibri" pitchFamily="34" charset="-122"/>
                <a:cs typeface="Calibri" pitchFamily="34" charset="-120"/>
              </a:rPr>
              <a:t>agent</a:t>
            </a:r>
            <a:endParaRPr lang="en-US" sz="1100" dirty="0"/>
          </a:p>
        </p:txBody>
      </p:sp>
      <p:sp>
        <p:nvSpPr>
          <p:cNvPr id="36" name="Text 34"/>
          <p:cNvSpPr/>
          <p:nvPr/>
        </p:nvSpPr>
        <p:spPr>
          <a:xfrm>
            <a:off x="4937760" y="4238932"/>
            <a:ext cx="3749040" cy="256032"/>
          </a:xfrm>
          <a:prstGeom prst="rect">
            <a:avLst/>
          </a:prstGeom>
          <a:noFill/>
          <a:ln/>
        </p:spPr>
        <p:txBody>
          <a:bodyPr wrap="square" lIns="0" tIns="0" rIns="0" bIns="0" rtlCol="0" anchor="ctr"/>
          <a:lstStyle/>
          <a:p>
            <a:pPr marL="0" indent="0" algn="l">
              <a:buNone/>
            </a:pPr>
            <a:r>
              <a:rPr lang="en-US" sz="1050" i="1" dirty="0">
                <a:solidFill>
                  <a:srgbClr val="94A3B8"/>
                </a:solidFill>
                <a:latin typeface="Calibri" pitchFamily="34" charset="0"/>
                <a:ea typeface="Calibri" pitchFamily="34" charset="-122"/>
                <a:cs typeface="Calibri" pitchFamily="34" charset="-120"/>
              </a:rPr>
              <a:t>→ Bureaucratic approval blocked execution — a minor upstream format error caused total chain failure</a:t>
            </a:r>
            <a:endParaRPr lang="en-US" sz="1050" dirty="0"/>
          </a:p>
        </p:txBody>
      </p:sp>
      <p:sp>
        <p:nvSpPr>
          <p:cNvPr id="37" name="Shape 35"/>
          <p:cNvSpPr/>
          <p:nvPr/>
        </p:nvSpPr>
        <p:spPr>
          <a:xfrm>
            <a:off x="320040" y="4681728"/>
            <a:ext cx="8503920" cy="338328"/>
          </a:xfrm>
          <a:prstGeom prst="rect">
            <a:avLst/>
          </a:prstGeom>
          <a:solidFill>
            <a:srgbClr val="1E293B"/>
          </a:solidFill>
          <a:ln w="10160">
            <a:solidFill>
              <a:srgbClr val="C8973E"/>
            </a:solidFill>
            <a:prstDash val="solid"/>
          </a:ln>
        </p:spPr>
        <p:txBody>
          <a:bodyPr/>
          <a:lstStyle/>
          <a:p>
            <a:endParaRPr lang="en-SA"/>
          </a:p>
        </p:txBody>
      </p:sp>
      <p:sp>
        <p:nvSpPr>
          <p:cNvPr id="38" name="Text 36"/>
          <p:cNvSpPr/>
          <p:nvPr/>
        </p:nvSpPr>
        <p:spPr>
          <a:xfrm>
            <a:off x="320040" y="4709160"/>
            <a:ext cx="8503920" cy="283464"/>
          </a:xfrm>
          <a:prstGeom prst="rect">
            <a:avLst/>
          </a:prstGeom>
          <a:noFill/>
          <a:ln/>
        </p:spPr>
        <p:txBody>
          <a:bodyPr wrap="square" lIns="0" tIns="0" rIns="0" bIns="0" rtlCol="0" anchor="ctr"/>
          <a:lstStyle/>
          <a:p>
            <a:pPr marL="0" indent="0" algn="ctr">
              <a:buNone/>
            </a:pPr>
            <a:r>
              <a:rPr lang="en-US" sz="1250" b="1" dirty="0">
                <a:solidFill>
                  <a:srgbClr val="C8973E"/>
                </a:solidFill>
                <a:latin typeface="Cambria" pitchFamily="34" charset="0"/>
                <a:ea typeface="Cambria" pitchFamily="34" charset="-122"/>
                <a:cs typeface="Cambria" pitchFamily="34" charset="-120"/>
              </a:rPr>
              <a:t>Mongol Empire: command flows through the chain  ·  US Federal: died at committee — strikingly similar to real history</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C8973E"/>
          </a:solidFill>
          <a:ln w="12700">
            <a:solidFill>
              <a:srgbClr val="C8973E"/>
            </a:solidFill>
            <a:prstDash val="solid"/>
          </a:ln>
        </p:spPr>
        <p:txBody>
          <a:bodyPr/>
          <a:lstStyle/>
          <a:p>
            <a:endParaRPr lang="en-SA"/>
          </a:p>
        </p:txBody>
      </p:sp>
      <p:sp>
        <p:nvSpPr>
          <p:cNvPr id="3" name="Shape 1"/>
          <p:cNvSpPr/>
          <p:nvPr/>
        </p:nvSpPr>
        <p:spPr>
          <a:xfrm>
            <a:off x="9079992" y="0"/>
            <a:ext cx="64008" cy="5143500"/>
          </a:xfrm>
          <a:prstGeom prst="rect">
            <a:avLst/>
          </a:prstGeom>
          <a:solidFill>
            <a:srgbClr val="C8973E"/>
          </a:solidFill>
          <a:ln w="12700">
            <a:solidFill>
              <a:srgbClr val="C8973E"/>
            </a:solidFill>
            <a:prstDash val="solid"/>
          </a:ln>
        </p:spPr>
        <p:txBody>
          <a:bodyPr/>
          <a:lstStyle/>
          <a:p>
            <a:endParaRPr lang="en-SA"/>
          </a:p>
        </p:txBody>
      </p:sp>
      <p:sp>
        <p:nvSpPr>
          <p:cNvPr id="4" name="Text 2"/>
          <p:cNvSpPr/>
          <p:nvPr/>
        </p:nvSpPr>
        <p:spPr>
          <a:xfrm>
            <a:off x="320040" y="182880"/>
            <a:ext cx="8503920" cy="566928"/>
          </a:xfrm>
          <a:prstGeom prst="rect">
            <a:avLst/>
          </a:prstGeom>
          <a:noFill/>
          <a:ln/>
        </p:spPr>
        <p:txBody>
          <a:bodyPr wrap="square" lIns="0" tIns="0" rIns="0" bIns="0" rtlCol="0" anchor="ctr"/>
          <a:lstStyle/>
          <a:p>
            <a:pPr marL="0" indent="0" algn="l">
              <a:buNone/>
            </a:pPr>
            <a:r>
              <a:rPr lang="en-US" sz="2600" b="1" dirty="0">
                <a:solidFill>
                  <a:srgbClr val="F1EDE5"/>
                </a:solidFill>
                <a:latin typeface="Cambria" pitchFamily="34" charset="0"/>
                <a:ea typeface="Cambria" pitchFamily="34" charset="-122"/>
                <a:cs typeface="Cambria" pitchFamily="34" charset="-120"/>
              </a:rPr>
              <a:t>Conclusion &amp; Future Work</a:t>
            </a:r>
            <a:endParaRPr lang="en-US" sz="2600" dirty="0"/>
          </a:p>
        </p:txBody>
      </p:sp>
      <p:sp>
        <p:nvSpPr>
          <p:cNvPr id="5" name="Shape 3"/>
          <p:cNvSpPr/>
          <p:nvPr/>
        </p:nvSpPr>
        <p:spPr>
          <a:xfrm>
            <a:off x="320040" y="804672"/>
            <a:ext cx="8503920" cy="9144"/>
          </a:xfrm>
          <a:prstGeom prst="rect">
            <a:avLst/>
          </a:prstGeom>
          <a:solidFill>
            <a:srgbClr val="334155"/>
          </a:solidFill>
          <a:ln w="12700">
            <a:solidFill>
              <a:srgbClr val="334155"/>
            </a:solidFill>
            <a:prstDash val="solid"/>
          </a:ln>
        </p:spPr>
        <p:txBody>
          <a:bodyPr/>
          <a:lstStyle/>
          <a:p>
            <a:endParaRPr lang="en-SA"/>
          </a:p>
        </p:txBody>
      </p:sp>
      <p:sp>
        <p:nvSpPr>
          <p:cNvPr id="6" name="Shape 4"/>
          <p:cNvSpPr/>
          <p:nvPr/>
        </p:nvSpPr>
        <p:spPr>
          <a:xfrm>
            <a:off x="320040" y="987552"/>
            <a:ext cx="365760" cy="365760"/>
          </a:xfrm>
          <a:prstGeom prst="rect">
            <a:avLst/>
          </a:prstGeom>
          <a:solidFill>
            <a:srgbClr val="C8973E"/>
          </a:solidFill>
          <a:ln w="12700">
            <a:solidFill>
              <a:srgbClr val="C8973E"/>
            </a:solidFill>
            <a:prstDash val="solid"/>
          </a:ln>
        </p:spPr>
        <p:txBody>
          <a:bodyPr/>
          <a:lstStyle/>
          <a:p>
            <a:endParaRPr lang="en-SA"/>
          </a:p>
        </p:txBody>
      </p:sp>
      <p:sp>
        <p:nvSpPr>
          <p:cNvPr id="7" name="Text 5"/>
          <p:cNvSpPr/>
          <p:nvPr/>
        </p:nvSpPr>
        <p:spPr>
          <a:xfrm>
            <a:off x="320040" y="987552"/>
            <a:ext cx="365760" cy="365760"/>
          </a:xfrm>
          <a:prstGeom prst="rect">
            <a:avLst/>
          </a:prstGeom>
          <a:noFill/>
          <a:ln/>
        </p:spPr>
        <p:txBody>
          <a:bodyPr wrap="square" lIns="0" tIns="0" rIns="0" bIns="0" rtlCol="0" anchor="ctr"/>
          <a:lstStyle/>
          <a:p>
            <a:pPr marL="0" indent="0" algn="ctr">
              <a:buNone/>
            </a:pPr>
            <a:r>
              <a:rPr lang="en-US" sz="1400" dirty="0">
                <a:solidFill>
                  <a:srgbClr val="0F172A"/>
                </a:solidFill>
                <a:latin typeface="Cambria" pitchFamily="34" charset="0"/>
                <a:ea typeface="Cambria" pitchFamily="34" charset="-122"/>
                <a:cs typeface="Cambria" pitchFamily="34" charset="-120"/>
              </a:rPr>
              <a:t>✦</a:t>
            </a:r>
            <a:endParaRPr lang="en-US" sz="1400" dirty="0"/>
          </a:p>
        </p:txBody>
      </p:sp>
      <p:sp>
        <p:nvSpPr>
          <p:cNvPr id="8" name="Text 6"/>
          <p:cNvSpPr/>
          <p:nvPr/>
        </p:nvSpPr>
        <p:spPr>
          <a:xfrm>
            <a:off x="822960" y="987552"/>
            <a:ext cx="8001000" cy="512064"/>
          </a:xfrm>
          <a:prstGeom prst="rect">
            <a:avLst/>
          </a:prstGeom>
          <a:noFill/>
          <a:ln/>
        </p:spPr>
        <p:txBody>
          <a:bodyPr wrap="square" lIns="0" tIns="0" rIns="0" bIns="0" rtlCol="0" anchor="ctr"/>
          <a:lstStyle/>
          <a:p>
            <a:r>
              <a:rPr lang="en-US" sz="1400" dirty="0" err="1">
                <a:solidFill>
                  <a:srgbClr val="F1EDE5"/>
                </a:solidFill>
                <a:latin typeface="Calibri" pitchFamily="34" charset="0"/>
                <a:ea typeface="Calibri" pitchFamily="34" charset="-122"/>
                <a:cs typeface="Calibri" pitchFamily="34" charset="-120"/>
              </a:rPr>
              <a:t>Governance structure significantly impacts multi-agent collaboration efficiency</a:t>
            </a:r>
            <a:r>
              <a:rPr lang="en-US" sz="1400" dirty="0">
                <a:solidFill>
                  <a:srgbClr val="F1EDE5"/>
                </a:solidFill>
                <a:latin typeface="Calibri" pitchFamily="34" charset="0"/>
                <a:ea typeface="Calibri" pitchFamily="34" charset="-122"/>
                <a:cs typeface="Calibri" pitchFamily="34" charset="-120"/>
              </a:rPr>
              <a:t> — </a:t>
            </a:r>
            <a:r>
              <a:rPr lang="en-US" sz="1400" dirty="0" err="1">
                <a:solidFill>
                  <a:srgbClr val="F1EDE5"/>
                </a:solidFill>
                <a:latin typeface="Calibri" pitchFamily="34" charset="0"/>
                <a:ea typeface="Calibri" pitchFamily="34" charset="-122"/>
                <a:cs typeface="Calibri" pitchFamily="34" charset="-120"/>
              </a:rPr>
              <a:t>Gap between different </a:t>
            </a:r>
            <a:r>
              <a:rPr lang="zh-CN" altLang="en-US" sz="1400" dirty="0">
                <a:solidFill>
                  <a:srgbClr val="F1EDE5"/>
                </a:solidFill>
                <a:latin typeface="Calibri" pitchFamily="34" charset="0"/>
                <a:ea typeface="Calibri" pitchFamily="34" charset="-122"/>
                <a:cs typeface="Calibri" pitchFamily="34" charset="-120"/>
              </a:rPr>
              <a:t>systems reaches</a:t>
            </a:r>
            <a:r>
              <a:rPr lang="zh-CN" altLang="en-US" sz="1400" b="1" dirty="0">
                <a:solidFill>
                  <a:srgbClr val="F1EDE5"/>
                </a:solidFill>
                <a:latin typeface="Calibri" pitchFamily="34" charset="0"/>
                <a:ea typeface="Calibri" pitchFamily="34" charset="-122"/>
                <a:cs typeface="Calibri" pitchFamily="34" charset="-120"/>
              </a:rPr>
              <a:t> </a:t>
            </a:r>
            <a:r>
              <a:rPr lang="en-US" altLang="zh-CN" sz="1400" b="1" dirty="0">
                <a:solidFill>
                  <a:srgbClr val="F1EDE5"/>
                </a:solidFill>
                <a:latin typeface="Calibri" pitchFamily="34" charset="0"/>
                <a:ea typeface="Calibri" pitchFamily="34" charset="-122"/>
                <a:cs typeface="Calibri" pitchFamily="34" charset="-120"/>
              </a:rPr>
              <a:t>33.4 </a:t>
            </a:r>
            <a:r>
              <a:rPr lang="zh-CN" altLang="en-US" sz="1400" dirty="0">
                <a:solidFill>
                  <a:srgbClr val="F1EDE5"/>
                </a:solidFill>
                <a:latin typeface="Calibri" pitchFamily="34" charset="0"/>
                <a:ea typeface="Calibri" pitchFamily="34" charset="-122"/>
                <a:cs typeface="Calibri" pitchFamily="34" charset="-120"/>
              </a:rPr>
              <a:t>pts </a:t>
            </a:r>
            <a:endParaRPr lang="en-US" sz="1400" dirty="0"/>
          </a:p>
        </p:txBody>
      </p:sp>
      <p:sp>
        <p:nvSpPr>
          <p:cNvPr id="9" name="Shape 7"/>
          <p:cNvSpPr/>
          <p:nvPr/>
        </p:nvSpPr>
        <p:spPr>
          <a:xfrm>
            <a:off x="320040" y="1737360"/>
            <a:ext cx="365760" cy="365760"/>
          </a:xfrm>
          <a:prstGeom prst="rect">
            <a:avLst/>
          </a:prstGeom>
          <a:solidFill>
            <a:srgbClr val="C8973E"/>
          </a:solidFill>
          <a:ln w="12700">
            <a:solidFill>
              <a:srgbClr val="C8973E"/>
            </a:solidFill>
            <a:prstDash val="solid"/>
          </a:ln>
        </p:spPr>
        <p:txBody>
          <a:bodyPr/>
          <a:lstStyle/>
          <a:p>
            <a:endParaRPr lang="en-SA"/>
          </a:p>
        </p:txBody>
      </p:sp>
      <p:sp>
        <p:nvSpPr>
          <p:cNvPr id="10" name="Text 8"/>
          <p:cNvSpPr/>
          <p:nvPr/>
        </p:nvSpPr>
        <p:spPr>
          <a:xfrm>
            <a:off x="320040" y="1737360"/>
            <a:ext cx="365760" cy="365760"/>
          </a:xfrm>
          <a:prstGeom prst="rect">
            <a:avLst/>
          </a:prstGeom>
          <a:noFill/>
          <a:ln/>
        </p:spPr>
        <p:txBody>
          <a:bodyPr wrap="square" lIns="0" tIns="0" rIns="0" bIns="0" rtlCol="0" anchor="ctr"/>
          <a:lstStyle/>
          <a:p>
            <a:pPr marL="0" indent="0" algn="ctr">
              <a:buNone/>
            </a:pPr>
            <a:r>
              <a:rPr lang="en-US" sz="1400" dirty="0">
                <a:solidFill>
                  <a:srgbClr val="0F172A"/>
                </a:solidFill>
                <a:latin typeface="Cambria" pitchFamily="34" charset="0"/>
                <a:ea typeface="Cambria" pitchFamily="34" charset="-122"/>
                <a:cs typeface="Cambria" pitchFamily="34" charset="-120"/>
              </a:rPr>
              <a:t>✦</a:t>
            </a:r>
            <a:endParaRPr lang="en-US" sz="1400" dirty="0"/>
          </a:p>
        </p:txBody>
      </p:sp>
      <p:sp>
        <p:nvSpPr>
          <p:cNvPr id="11" name="Text 9"/>
          <p:cNvSpPr/>
          <p:nvPr/>
        </p:nvSpPr>
        <p:spPr>
          <a:xfrm>
            <a:off x="822960" y="1737360"/>
            <a:ext cx="8001000" cy="512064"/>
          </a:xfrm>
          <a:prstGeom prst="rect">
            <a:avLst/>
          </a:prstGeom>
          <a:noFill/>
          <a:ln/>
        </p:spPr>
        <p:txBody>
          <a:bodyPr wrap="square" lIns="0" tIns="0" rIns="0" bIns="0" rtlCol="0" anchor="ctr"/>
          <a:lstStyle/>
          <a:p>
            <a:pPr marL="0" indent="0" algn="l">
              <a:buNone/>
            </a:pPr>
            <a:r>
              <a:rPr lang="en-US" sz="1400" dirty="0" err="1">
                <a:solidFill>
                  <a:srgbClr val="F1EDE5"/>
                </a:solidFill>
                <a:latin typeface="Calibri" pitchFamily="34" charset="0"/>
                <a:ea typeface="Calibri" pitchFamily="34" charset="-122"/>
                <a:cs typeface="Calibri" pitchFamily="34" charset="-120"/>
              </a:rPr>
              <a:t>Sequential execution chains (pipeline) clearly outperform multi-layer approval (consensus</a:t>
            </a:r>
            <a:r>
              <a:rPr lang="en-US" sz="1400" dirty="0">
                <a:solidFill>
                  <a:srgbClr val="F1EDE5"/>
                </a:solidFill>
                <a:latin typeface="Calibri" pitchFamily="34" charset="0"/>
                <a:ea typeface="Calibri" pitchFamily="34" charset="-122"/>
                <a:cs typeface="Calibri" pitchFamily="34" charset="-120"/>
              </a:rPr>
              <a:t> / autonomous_cluster) on standard tasks</a:t>
            </a:r>
            <a:endParaRPr lang="en-US" sz="1400" dirty="0"/>
          </a:p>
        </p:txBody>
      </p:sp>
      <p:sp>
        <p:nvSpPr>
          <p:cNvPr id="12" name="Shape 10"/>
          <p:cNvSpPr/>
          <p:nvPr/>
        </p:nvSpPr>
        <p:spPr>
          <a:xfrm>
            <a:off x="320040" y="2487168"/>
            <a:ext cx="365760" cy="365760"/>
          </a:xfrm>
          <a:prstGeom prst="rect">
            <a:avLst/>
          </a:prstGeom>
          <a:solidFill>
            <a:srgbClr val="C8973E"/>
          </a:solidFill>
          <a:ln w="12700">
            <a:solidFill>
              <a:srgbClr val="C8973E"/>
            </a:solidFill>
            <a:prstDash val="solid"/>
          </a:ln>
        </p:spPr>
        <p:txBody>
          <a:bodyPr/>
          <a:lstStyle/>
          <a:p>
            <a:endParaRPr lang="en-SA"/>
          </a:p>
        </p:txBody>
      </p:sp>
      <p:sp>
        <p:nvSpPr>
          <p:cNvPr id="13" name="Text 11"/>
          <p:cNvSpPr/>
          <p:nvPr/>
        </p:nvSpPr>
        <p:spPr>
          <a:xfrm>
            <a:off x="320040" y="2487168"/>
            <a:ext cx="365760" cy="365760"/>
          </a:xfrm>
          <a:prstGeom prst="rect">
            <a:avLst/>
          </a:prstGeom>
          <a:noFill/>
          <a:ln/>
        </p:spPr>
        <p:txBody>
          <a:bodyPr wrap="square" lIns="0" tIns="0" rIns="0" bIns="0" rtlCol="0" anchor="ctr"/>
          <a:lstStyle/>
          <a:p>
            <a:pPr marL="0" indent="0" algn="ctr">
              <a:buNone/>
            </a:pPr>
            <a:r>
              <a:rPr lang="en-US" sz="1400" dirty="0">
                <a:solidFill>
                  <a:srgbClr val="0F172A"/>
                </a:solidFill>
                <a:latin typeface="Cambria" pitchFamily="34" charset="0"/>
                <a:ea typeface="Cambria" pitchFamily="34" charset="-122"/>
                <a:cs typeface="Cambria" pitchFamily="34" charset="-120"/>
              </a:rPr>
              <a:t>✦</a:t>
            </a:r>
            <a:endParaRPr lang="en-US" sz="1400" dirty="0"/>
          </a:p>
        </p:txBody>
      </p:sp>
      <p:sp>
        <p:nvSpPr>
          <p:cNvPr id="14" name="Text 12"/>
          <p:cNvSpPr/>
          <p:nvPr/>
        </p:nvSpPr>
        <p:spPr>
          <a:xfrm>
            <a:off x="822960" y="2487168"/>
            <a:ext cx="8001000" cy="512064"/>
          </a:xfrm>
          <a:prstGeom prst="rect">
            <a:avLst/>
          </a:prstGeom>
          <a:noFill/>
          <a:ln/>
        </p:spPr>
        <p:txBody>
          <a:bodyPr wrap="square" lIns="0" tIns="0" rIns="0" bIns="0" rtlCol="0" anchor="ctr"/>
          <a:lstStyle/>
          <a:p>
            <a:pPr marL="0" indent="0" algn="l">
              <a:buNone/>
            </a:pPr>
            <a:r>
              <a:rPr lang="en-US" sz="1400" dirty="0">
                <a:solidFill>
                  <a:srgbClr val="F1EDE5"/>
                </a:solidFill>
                <a:latin typeface="Calibri" pitchFamily="34" charset="0"/>
                <a:ea typeface="Calibri" pitchFamily="34" charset="-122"/>
                <a:cs typeface="Calibri" pitchFamily="34" charset="-120"/>
              </a:rPr>
              <a:t>The design wisdom of historical governance is transferable and experimentally verifiable in AI multi-agent scenarios</a:t>
            </a:r>
            <a:endParaRPr lang="en-US" sz="1400" dirty="0"/>
          </a:p>
        </p:txBody>
      </p:sp>
      <p:sp>
        <p:nvSpPr>
          <p:cNvPr id="15" name="Shape 13"/>
          <p:cNvSpPr/>
          <p:nvPr/>
        </p:nvSpPr>
        <p:spPr>
          <a:xfrm>
            <a:off x="320040" y="3337560"/>
            <a:ext cx="8503920" cy="9144"/>
          </a:xfrm>
          <a:prstGeom prst="rect">
            <a:avLst/>
          </a:prstGeom>
          <a:solidFill>
            <a:srgbClr val="334155"/>
          </a:solidFill>
          <a:ln w="12700">
            <a:solidFill>
              <a:srgbClr val="334155"/>
            </a:solidFill>
            <a:prstDash val="solid"/>
          </a:ln>
        </p:spPr>
        <p:txBody>
          <a:bodyPr/>
          <a:lstStyle/>
          <a:p>
            <a:endParaRPr lang="en-SA"/>
          </a:p>
        </p:txBody>
      </p:sp>
      <p:sp>
        <p:nvSpPr>
          <p:cNvPr id="16" name="Text 14"/>
          <p:cNvSpPr/>
          <p:nvPr/>
        </p:nvSpPr>
        <p:spPr>
          <a:xfrm>
            <a:off x="320040" y="3419856"/>
            <a:ext cx="1828800" cy="320040"/>
          </a:xfrm>
          <a:prstGeom prst="rect">
            <a:avLst/>
          </a:prstGeom>
          <a:noFill/>
          <a:ln/>
        </p:spPr>
        <p:txBody>
          <a:bodyPr wrap="square" lIns="0" tIns="0" rIns="0" bIns="0" rtlCol="0" anchor="ctr"/>
          <a:lstStyle/>
          <a:p>
            <a:pPr marL="0" indent="0" algn="l">
              <a:buNone/>
            </a:pPr>
            <a:r>
              <a:rPr lang="en-US" sz="1400" b="1" dirty="0">
                <a:solidFill>
                  <a:srgbClr val="C8973E"/>
                </a:solidFill>
                <a:latin typeface="Cambria" pitchFamily="34" charset="0"/>
                <a:ea typeface="Cambria" pitchFamily="34" charset="-122"/>
                <a:cs typeface="Cambria" pitchFamily="34" charset="-120"/>
              </a:rPr>
              <a:t>Next Steps</a:t>
            </a:r>
            <a:endParaRPr lang="en-US" sz="1400" dirty="0"/>
          </a:p>
        </p:txBody>
      </p:sp>
      <p:sp>
        <p:nvSpPr>
          <p:cNvPr id="17" name="Text 15"/>
          <p:cNvSpPr/>
          <p:nvPr/>
        </p:nvSpPr>
        <p:spPr>
          <a:xfrm>
            <a:off x="320040" y="3803904"/>
            <a:ext cx="8503920" cy="246888"/>
          </a:xfrm>
          <a:prstGeom prst="rect">
            <a:avLst/>
          </a:prstGeom>
          <a:noFill/>
          <a:ln/>
        </p:spPr>
        <p:txBody>
          <a:bodyPr wrap="square" lIns="0" tIns="0" rIns="0" bIns="0" rtlCol="0" anchor="ctr"/>
          <a:lstStyle/>
          <a:p>
            <a:r>
              <a:rPr lang="en-US" sz="1300" dirty="0">
                <a:solidFill>
                  <a:srgbClr val="94A3B8"/>
                </a:solidFill>
                <a:latin typeface="Calibri" pitchFamily="34" charset="0"/>
                <a:ea typeface="Calibri" pitchFamily="34" charset="-122"/>
                <a:cs typeface="Calibri" pitchFamily="34" charset="-120"/>
              </a:rPr>
              <a:t>→  </a:t>
            </a:r>
            <a:r>
              <a:rPr lang="en-US" sz="1300" dirty="0" err="1">
                <a:solidFill>
                  <a:srgbClr val="94A3B8"/>
                </a:solidFill>
                <a:latin typeface="Calibri" pitchFamily="34" charset="0"/>
                <a:ea typeface="Calibri" pitchFamily="34" charset="-122"/>
                <a:cs typeface="Calibri" pitchFamily="34" charset="-120"/>
              </a:rPr>
              <a:t>Test </a:t>
            </a:r>
            <a:r>
              <a:rPr lang="zh-CN" altLang="en-US" sz="1300" dirty="0">
                <a:solidFill>
                  <a:srgbClr val="94A3B8"/>
                </a:solidFill>
                <a:latin typeface="Calibri" pitchFamily="34" charset="0"/>
                <a:ea typeface="Calibri" pitchFamily="34" charset="-122"/>
                <a:cs typeface="Calibri" pitchFamily="34" charset="-120"/>
              </a:rPr>
              <a:t>more </a:t>
            </a:r>
            <a:r>
              <a:rPr lang="en-US" sz="1300" dirty="0">
                <a:solidFill>
                  <a:srgbClr val="94A3B8"/>
                </a:solidFill>
                <a:latin typeface="Calibri" pitchFamily="34" charset="0"/>
                <a:ea typeface="Calibri" pitchFamily="34" charset="-122"/>
                <a:cs typeface="Calibri" pitchFamily="34" charset="-120"/>
              </a:rPr>
              <a:t>Benchmarks, </a:t>
            </a:r>
            <a:r>
              <a:rPr lang="zh-CN" altLang="en-US" sz="1300" dirty="0">
                <a:solidFill>
                  <a:srgbClr val="94A3B8"/>
                </a:solidFill>
                <a:latin typeface="Calibri" pitchFamily="34" charset="0"/>
                <a:ea typeface="Calibri" pitchFamily="34" charset="-122"/>
                <a:cs typeface="Calibri" pitchFamily="34" charset="-120"/>
              </a:rPr>
              <a:t>verify stability of governance rankings</a:t>
            </a:r>
            <a:endParaRPr lang="en-US" sz="1300" dirty="0"/>
          </a:p>
        </p:txBody>
      </p:sp>
      <p:sp>
        <p:nvSpPr>
          <p:cNvPr id="18" name="Text 16"/>
          <p:cNvSpPr/>
          <p:nvPr/>
        </p:nvSpPr>
        <p:spPr>
          <a:xfrm>
            <a:off x="320040" y="4078224"/>
            <a:ext cx="8503920" cy="246888"/>
          </a:xfrm>
          <a:prstGeom prst="rect">
            <a:avLst/>
          </a:prstGeom>
          <a:noFill/>
          <a:ln/>
        </p:spPr>
        <p:txBody>
          <a:bodyPr wrap="square" lIns="0" tIns="0" rIns="0" bIns="0" rtlCol="0" anchor="ctr"/>
          <a:lstStyle/>
          <a:p>
            <a:r>
              <a:rPr lang="en-US" sz="1300" dirty="0">
                <a:solidFill>
                  <a:srgbClr val="94A3B8"/>
                </a:solidFill>
                <a:latin typeface="Calibri" pitchFamily="34" charset="0"/>
                <a:ea typeface="Calibri" pitchFamily="34" charset="-122"/>
                <a:cs typeface="Calibri" pitchFamily="34" charset="-120"/>
              </a:rPr>
              <a:t>→  </a:t>
            </a:r>
            <a:r>
              <a:rPr lang="en-US" sz="1300" dirty="0" err="1">
                <a:solidFill>
                  <a:srgbClr val="94A3B8"/>
                </a:solidFill>
                <a:latin typeface="Calibri" pitchFamily="34" charset="0"/>
                <a:ea typeface="Calibri" pitchFamily="34" charset="-122"/>
                <a:cs typeface="Calibri" pitchFamily="34" charset="-120"/>
              </a:rPr>
              <a:t>Optimize</a:t>
            </a:r>
            <a:r>
              <a:rPr lang="en-US" sz="1300" dirty="0">
                <a:solidFill>
                  <a:srgbClr val="94A3B8"/>
                </a:solidFill>
                <a:latin typeface="Calibri" pitchFamily="34" charset="0"/>
                <a:ea typeface="Calibri" pitchFamily="34" charset="-122"/>
                <a:cs typeface="Calibri" pitchFamily="34" charset="-120"/>
              </a:rPr>
              <a:t> Soul </a:t>
            </a:r>
            <a:r>
              <a:rPr lang="en-US" sz="1300" dirty="0" err="1">
                <a:solidFill>
                  <a:srgbClr val="94A3B8"/>
                </a:solidFill>
                <a:latin typeface="Calibri" pitchFamily="34" charset="0"/>
                <a:ea typeface="Calibri" pitchFamily="34" charset="-122"/>
                <a:cs typeface="Calibri" pitchFamily="34" charset="-120"/>
              </a:rPr>
              <a:t>files (Agent</a:t>
            </a:r>
            <a:r>
              <a:rPr lang="en-US" sz="1300" dirty="0">
                <a:solidFill>
                  <a:srgbClr val="94A3B8"/>
                </a:solidFill>
                <a:latin typeface="Calibri" pitchFamily="34" charset="0"/>
                <a:ea typeface="Calibri" pitchFamily="34" charset="-122"/>
                <a:cs typeface="Calibri" pitchFamily="34" charset="-120"/>
              </a:rPr>
              <a:t> </a:t>
            </a:r>
            <a:r>
              <a:rPr lang="en-US" sz="1300" dirty="0" err="1">
                <a:solidFill>
                  <a:srgbClr val="94A3B8"/>
                </a:solidFill>
                <a:latin typeface="Calibri" pitchFamily="34" charset="0"/>
                <a:ea typeface="Calibri" pitchFamily="34" charset="-122"/>
                <a:cs typeface="Calibri" pitchFamily="34" charset="-120"/>
              </a:rPr>
              <a:t>personality settings</a:t>
            </a:r>
            <a:r>
              <a:rPr lang="en-US" sz="1300" dirty="0">
                <a:solidFill>
                  <a:srgbClr val="94A3B8"/>
                </a:solidFill>
                <a:latin typeface="Calibri" pitchFamily="34" charset="0"/>
                <a:ea typeface="Calibri" pitchFamily="34" charset="-122"/>
                <a:cs typeface="Calibri" pitchFamily="34" charset="-120"/>
              </a:rPr>
              <a:t>), </a:t>
            </a:r>
            <a:r>
              <a:rPr lang="en-US" sz="1300" dirty="0" err="1">
                <a:solidFill>
                  <a:srgbClr val="94A3B8"/>
                </a:solidFill>
                <a:latin typeface="Calibri" pitchFamily="34" charset="0"/>
                <a:ea typeface="Calibri" pitchFamily="34" charset="-122"/>
                <a:cs typeface="Calibri" pitchFamily="34" charset="-120"/>
              </a:rPr>
              <a:t>observe impact on scores</a:t>
            </a:r>
            <a:endParaRPr lang="en-US" sz="1300" dirty="0"/>
          </a:p>
        </p:txBody>
      </p:sp>
      <p:sp>
        <p:nvSpPr>
          <p:cNvPr id="19" name="Text 17"/>
          <p:cNvSpPr/>
          <p:nvPr/>
        </p:nvSpPr>
        <p:spPr>
          <a:xfrm>
            <a:off x="320040" y="4352544"/>
            <a:ext cx="8503920" cy="246888"/>
          </a:xfrm>
          <a:prstGeom prst="rect">
            <a:avLst/>
          </a:prstGeom>
          <a:noFill/>
          <a:ln/>
        </p:spPr>
        <p:txBody>
          <a:bodyPr wrap="square" lIns="0" tIns="0" rIns="0" bIns="0" rtlCol="0" anchor="ctr"/>
          <a:lstStyle/>
          <a:p>
            <a:r>
              <a:rPr lang="en-US" sz="1300" dirty="0">
                <a:solidFill>
                  <a:srgbClr val="94A3B8"/>
                </a:solidFill>
                <a:latin typeface="Calibri" pitchFamily="34" charset="0"/>
                <a:ea typeface="Calibri" pitchFamily="34" charset="-122"/>
                <a:cs typeface="Calibri" pitchFamily="34" charset="-120"/>
              </a:rPr>
              <a:t>→</a:t>
            </a:r>
            <a:r>
              <a:rPr lang="zh-CN" altLang="en-US" sz="1300" dirty="0">
                <a:solidFill>
                  <a:srgbClr val="94A3B8"/>
                </a:solidFill>
                <a:latin typeface="Calibri" pitchFamily="34" charset="0"/>
                <a:ea typeface="Calibri" pitchFamily="34" charset="-122"/>
                <a:cs typeface="Calibri" pitchFamily="34" charset="-120"/>
              </a:rPr>
              <a:t>  Governance failure analysis: which systems fail on which tasks, and why</a:t>
            </a:r>
            <a:endParaRPr lang="en-US" sz="1300" dirty="0"/>
          </a:p>
        </p:txBody>
      </p:sp>
      <p:sp>
        <p:nvSpPr>
          <p:cNvPr id="20" name="Shape 18"/>
          <p:cNvSpPr/>
          <p:nvPr/>
        </p:nvSpPr>
        <p:spPr>
          <a:xfrm>
            <a:off x="1828800" y="4645152"/>
            <a:ext cx="5486400" cy="365760"/>
          </a:xfrm>
          <a:prstGeom prst="rect">
            <a:avLst/>
          </a:prstGeom>
          <a:solidFill>
            <a:srgbClr val="1E293B"/>
          </a:solidFill>
          <a:ln w="12700">
            <a:solidFill>
              <a:srgbClr val="C8973E"/>
            </a:solidFill>
            <a:prstDash val="solid"/>
          </a:ln>
        </p:spPr>
        <p:txBody>
          <a:bodyPr/>
          <a:lstStyle/>
          <a:p>
            <a:endParaRPr lang="en-SA"/>
          </a:p>
        </p:txBody>
      </p:sp>
      <p:sp>
        <p:nvSpPr>
          <p:cNvPr id="21" name="Text 19"/>
          <p:cNvSpPr/>
          <p:nvPr/>
        </p:nvSpPr>
        <p:spPr>
          <a:xfrm>
            <a:off x="1828800" y="4663440"/>
            <a:ext cx="5486400" cy="329184"/>
          </a:xfrm>
          <a:prstGeom prst="rect">
            <a:avLst/>
          </a:prstGeom>
          <a:noFill/>
          <a:ln/>
        </p:spPr>
        <p:txBody>
          <a:bodyPr wrap="square" lIns="0" tIns="0" rIns="0" bIns="0" rtlCol="0" anchor="ctr"/>
          <a:lstStyle/>
          <a:p>
            <a:pPr marL="0" indent="0" algn="ctr">
              <a:buNone/>
            </a:pPr>
            <a:r>
              <a:rPr lang="en-US" sz="1600" b="1" dirty="0">
                <a:solidFill>
                  <a:srgbClr val="C8973E"/>
                </a:solidFill>
                <a:latin typeface="Cambria" pitchFamily="34" charset="0"/>
                <a:ea typeface="Cambria" pitchFamily="34" charset="-122"/>
                <a:cs typeface="Cambria" pitchFamily="34" charset="-120"/>
              </a:rPr>
              <a:t>History is the best ablation study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610</TotalTime>
  <Words>2353</Words>
  <Application>Microsoft Macintosh PowerPoint</Application>
  <PresentationFormat>On-screen Show (16:9)</PresentationFormat>
  <Paragraphs>231</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SocialSystemArena</dc:title>
  <dc:subject>PptxGenJS Presentation</dc:subject>
  <dc:creator>PptxGenJS</dc:creator>
  <cp:lastModifiedBy>Chao Fei</cp:lastModifiedBy>
  <cp:revision>67</cp:revision>
  <dcterms:created xsi:type="dcterms:W3CDTF">2026-03-15T17:06:05Z</dcterms:created>
  <dcterms:modified xsi:type="dcterms:W3CDTF">2026-03-17T20:09:46Z</dcterms:modified>
</cp:coreProperties>
</file>